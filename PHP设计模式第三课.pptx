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310" r:id="rId8"/>
    <p:sldId id="278" r:id="rId9"/>
    <p:sldId id="279" r:id="rId10"/>
    <p:sldId id="280" r:id="rId11"/>
    <p:sldId id="282" r:id="rId12"/>
    <p:sldId id="281" r:id="rId13"/>
    <p:sldId id="283" r:id="rId14"/>
    <p:sldId id="284" r:id="rId15"/>
    <p:sldId id="285" r:id="rId16"/>
    <p:sldId id="286" r:id="rId17"/>
    <p:sldId id="288"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 id="311" r:id="rId32"/>
    <p:sldId id="302" r:id="rId33"/>
    <p:sldId id="303" r:id="rId34"/>
    <p:sldId id="304" r:id="rId35"/>
    <p:sldId id="305" r:id="rId36"/>
    <p:sldId id="307" r:id="rId37"/>
    <p:sldId id="306" r:id="rId38"/>
    <p:sldId id="308" r:id="rId39"/>
    <p:sldId id="309" r:id="rId40"/>
    <p:sldId id="275" r:id="rId41"/>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052"/>
        <p:guide pos="287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6.png"/><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8.png"/><Relationship Id="rId2" Type="http://schemas.openxmlformats.org/officeDocument/2006/relationships/image" Target="../media/image6.png"/><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2.png"/><Relationship Id="rId2" Type="http://schemas.openxmlformats.org/officeDocument/2006/relationships/image" Target="../media/image6.png"/><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6.png"/><Relationship Id="rId1"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6.png"/><Relationship Id="rId1"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pic>
        <p:nvPicPr>
          <p:cNvPr id="3" name="Picture 3"/>
          <p:cNvPicPr>
            <a:picLocks noChangeAspect="1"/>
          </p:cNvPicPr>
          <p:nvPr/>
        </p:nvPicPr>
        <p:blipFill>
          <a:blip r:embed="rId2"/>
          <a:stretch>
            <a:fillRect/>
          </a:stretch>
        </p:blipFill>
        <p:spPr>
          <a:xfrm>
            <a:off x="1130300" y="4711700"/>
            <a:ext cx="4343400" cy="584200"/>
          </a:xfrm>
          <a:prstGeom prst="rect">
            <a:avLst/>
          </a:prstGeom>
        </p:spPr>
      </p:pic>
      <p:sp>
        <p:nvSpPr>
          <p:cNvPr id="4" name="TextBox 4"/>
          <p:cNvSpPr txBox="1"/>
          <p:nvPr/>
        </p:nvSpPr>
        <p:spPr>
          <a:xfrm>
            <a:off x="1117600" y="3416300"/>
            <a:ext cx="8699500" cy="1143000"/>
          </a:xfrm>
          <a:prstGeom prst="rect">
            <a:avLst/>
          </a:prstGeom>
        </p:spPr>
        <p:txBody>
          <a:bodyPr lIns="0" tIns="0" rIns="0" bIns="0" rtlCol="0" anchor="t"/>
          <a:lstStyle/>
          <a:p>
            <a:pPr algn="l">
              <a:lnSpc>
                <a:spcPct val="94000"/>
              </a:lnSpc>
            </a:pPr>
            <a:r>
              <a:rPr lang="en-US" sz="7200" b="1" spc="468">
                <a:solidFill>
                  <a:srgbClr val="323232"/>
                </a:solidFill>
                <a:latin typeface="黑体" panose="02010609060101010101" charset="-122"/>
              </a:rPr>
              <a:t>PHP</a:t>
            </a:r>
            <a:r>
              <a:rPr lang="zh-CN" altLang="en-US" sz="7200" b="1" spc="468">
                <a:solidFill>
                  <a:srgbClr val="323232"/>
                </a:solidFill>
                <a:latin typeface="黑体" panose="02010609060101010101" charset="-122"/>
              </a:rPr>
              <a:t>设计模式</a:t>
            </a:r>
            <a:endParaRPr lang="en-US" sz="7200" b="1" spc="468">
              <a:solidFill>
                <a:srgbClr val="323232"/>
              </a:solidFill>
              <a:latin typeface="黑体" panose="02010609060101010101" charset="-122"/>
            </a:endParaRPr>
          </a:p>
          <a:p>
            <a:pPr algn="l">
              <a:lnSpc>
                <a:spcPct val="94000"/>
              </a:lnSpc>
            </a:pPr>
            <a:endParaRPr lang="en-US" sz="7200" b="1" spc="468">
              <a:solidFill>
                <a:srgbClr val="323232"/>
              </a:solidFill>
              <a:latin typeface="黑体" panose="02010609060101010101" charset="-122"/>
            </a:endParaRPr>
          </a:p>
        </p:txBody>
      </p:sp>
      <p:sp>
        <p:nvSpPr>
          <p:cNvPr id="5" name="TextBox 5"/>
          <p:cNvSpPr txBox="1"/>
          <p:nvPr/>
        </p:nvSpPr>
        <p:spPr>
          <a:xfrm>
            <a:off x="1282700" y="4800600"/>
            <a:ext cx="4076700" cy="419100"/>
          </a:xfrm>
          <a:prstGeom prst="rect">
            <a:avLst/>
          </a:prstGeom>
        </p:spPr>
        <p:txBody>
          <a:bodyPr lIns="0" tIns="0" rIns="0" bIns="0" rtlCol="0" anchor="t"/>
          <a:lstStyle/>
          <a:p>
            <a:pPr algn="l">
              <a:lnSpc>
                <a:spcPct val="105000"/>
              </a:lnSpc>
            </a:pPr>
            <a:r>
              <a:rPr lang="zh-CN" altLang="en-US" sz="2400">
                <a:solidFill>
                  <a:srgbClr val="FFFFFF"/>
                </a:solidFill>
                <a:latin typeface="黑体" panose="02010609060101010101" charset="-122"/>
              </a:rPr>
              <a:t>第三课 行为型模式</a:t>
            </a:r>
            <a:endParaRPr lang="en-US" sz="2400">
              <a:solidFill>
                <a:srgbClr val="FFFFFF"/>
              </a:solidFill>
              <a:latin typeface="黑体" panose="02010609060101010101" charset="-122"/>
            </a:endParaRPr>
          </a:p>
          <a:p>
            <a:pPr algn="l">
              <a:lnSpc>
                <a:spcPct val="105000"/>
              </a:lnSpc>
            </a:pPr>
            <a:endParaRPr lang="en-US" sz="2400">
              <a:solidFill>
                <a:srgbClr val="FFFFFF"/>
              </a:solidFill>
              <a:latin typeface="黑体" panose="02010609060101010101" charset="-122"/>
            </a:endParaRPr>
          </a:p>
        </p:txBody>
      </p:sp>
      <p:pic>
        <p:nvPicPr>
          <p:cNvPr id="6" name="Picture 6"/>
          <p:cNvPicPr>
            <a:picLocks noChangeAspect="1"/>
          </p:cNvPicPr>
          <p:nvPr/>
        </p:nvPicPr>
        <p:blipFill>
          <a:blip r:embed="rId3"/>
          <a:stretch>
            <a:fillRect/>
          </a:stretch>
        </p:blipFill>
        <p:spPr>
          <a:xfrm>
            <a:off x="1130300" y="5410200"/>
            <a:ext cx="2654300" cy="596900"/>
          </a:xfrm>
          <a:prstGeom prst="rect">
            <a:avLst/>
          </a:prstGeom>
        </p:spPr>
      </p:pic>
      <p:sp>
        <p:nvSpPr>
          <p:cNvPr id="7" name="TextBox 7"/>
          <p:cNvSpPr txBox="1"/>
          <p:nvPr/>
        </p:nvSpPr>
        <p:spPr>
          <a:xfrm>
            <a:off x="1282700" y="5486400"/>
            <a:ext cx="2565400" cy="419100"/>
          </a:xfrm>
          <a:prstGeom prst="rect">
            <a:avLst/>
          </a:prstGeom>
        </p:spPr>
        <p:txBody>
          <a:bodyPr lIns="0" tIns="0" rIns="0" bIns="0" rtlCol="0" anchor="t"/>
          <a:lstStyle/>
          <a:p>
            <a:pPr algn="l">
              <a:lnSpc>
                <a:spcPct val="105000"/>
              </a:lnSpc>
            </a:pPr>
            <a:r>
              <a:rPr lang="zh-CN" altLang="en-US" sz="2000">
                <a:solidFill>
                  <a:srgbClr val="FFFFFF"/>
                </a:solidFill>
                <a:latin typeface="黑体" panose="02010609060101010101" charset="-122"/>
              </a:rPr>
              <a:t>主讲人：张西航</a:t>
            </a:r>
            <a:endParaRPr lang="en-US" sz="2400">
              <a:solidFill>
                <a:srgbClr val="FFFFFF"/>
              </a:solidFill>
              <a:latin typeface="黑体" panose="02010609060101010101" charset="-122"/>
            </a:endParaRPr>
          </a:p>
          <a:p>
            <a:pPr algn="l">
              <a:lnSpc>
                <a:spcPct val="105000"/>
              </a:lnSpc>
            </a:pPr>
            <a:endParaRPr lang="en-US" sz="2400">
              <a:solidFill>
                <a:srgbClr val="FFFFFF"/>
              </a:solidFill>
              <a:latin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3" name="TextBox 3"/>
          <p:cNvSpPr txBox="1"/>
          <p:nvPr/>
        </p:nvSpPr>
        <p:spPr>
          <a:xfrm>
            <a:off x="520700" y="381000"/>
            <a:ext cx="3429000" cy="685800"/>
          </a:xfrm>
          <a:prstGeom prst="rect">
            <a:avLst/>
          </a:prstGeom>
        </p:spPr>
        <p:txBody>
          <a:bodyPr lIns="0" tIns="0" rIns="0" bIns="0" rtlCol="0" anchor="t"/>
          <a:lstStyle/>
          <a:p>
            <a:pPr algn="l">
              <a:lnSpc>
                <a:spcPct val="113000"/>
              </a:lnSpc>
            </a:pPr>
            <a:r>
              <a:rPr lang="en-US" sz="3600" b="1">
                <a:solidFill>
                  <a:srgbClr val="323232"/>
                </a:solidFill>
                <a:latin typeface="黑体" panose="02010609060101010101" charset="-122"/>
              </a:rPr>
              <a:t>课程</a:t>
            </a:r>
            <a:r>
              <a:rPr lang="zh-CN" altLang="en-US" sz="3600" b="1">
                <a:solidFill>
                  <a:srgbClr val="323232"/>
                </a:solidFill>
                <a:latin typeface="黑体" panose="02010609060101010101" charset="-122"/>
              </a:rPr>
              <a:t>介绍</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
        <p:nvSpPr>
          <p:cNvPr id="4" name="TextBox 4"/>
          <p:cNvSpPr txBox="1"/>
          <p:nvPr/>
        </p:nvSpPr>
        <p:spPr>
          <a:xfrm>
            <a:off x="1778000" y="3378200"/>
            <a:ext cx="2070100" cy="533400"/>
          </a:xfrm>
          <a:prstGeom prst="rect">
            <a:avLst/>
          </a:prstGeom>
        </p:spPr>
        <p:txBody>
          <a:bodyPr lIns="0" tIns="0" rIns="0" bIns="0" rtlCol="0" anchor="t"/>
          <a:lstStyle/>
          <a:p>
            <a:pPr algn="ctr">
              <a:lnSpc>
                <a:spcPct val="113000"/>
              </a:lnSpc>
            </a:pPr>
            <a:r>
              <a:rPr lang="zh-CN" altLang="en-US" sz="2800" b="1">
                <a:solidFill>
                  <a:srgbClr val="323232"/>
                </a:solidFill>
                <a:latin typeface="黑体" panose="02010609060101010101" charset="-122"/>
              </a:rPr>
              <a:t>简介</a:t>
            </a:r>
            <a:endParaRPr lang="en-US" sz="2800" b="1">
              <a:solidFill>
                <a:srgbClr val="323232"/>
              </a:solidFill>
              <a:latin typeface="黑体" panose="02010609060101010101" charset="-122"/>
            </a:endParaRPr>
          </a:p>
          <a:p>
            <a:pPr algn="ctr">
              <a:lnSpc>
                <a:spcPct val="113000"/>
              </a:lnSpc>
            </a:pPr>
            <a:endParaRPr lang="en-US" sz="2800" b="1">
              <a:solidFill>
                <a:srgbClr val="323232"/>
              </a:solidFill>
              <a:latin typeface="黑体" panose="02010609060101010101" charset="-122"/>
            </a:endParaRPr>
          </a:p>
        </p:txBody>
      </p:sp>
      <p:sp>
        <p:nvSpPr>
          <p:cNvPr id="5" name="TextBox 5"/>
          <p:cNvSpPr txBox="1"/>
          <p:nvPr/>
        </p:nvSpPr>
        <p:spPr>
          <a:xfrm>
            <a:off x="1600200" y="3937000"/>
            <a:ext cx="2438400" cy="419100"/>
          </a:xfrm>
          <a:prstGeom prst="rect">
            <a:avLst/>
          </a:prstGeom>
        </p:spPr>
        <p:txBody>
          <a:bodyPr lIns="0" tIns="0" rIns="0" bIns="0" rtlCol="0" anchor="t"/>
          <a:lstStyle/>
          <a:p>
            <a:pPr algn="ctr">
              <a:lnSpc>
                <a:spcPct val="113000"/>
              </a:lnSpc>
            </a:pPr>
            <a:r>
              <a:rPr lang="zh-CN" altLang="en-US" sz="2200">
                <a:solidFill>
                  <a:srgbClr val="323232"/>
                </a:solidFill>
                <a:latin typeface="黑体" panose="02010609060101010101" charset="-122"/>
              </a:rPr>
              <a:t>定义和分类</a:t>
            </a:r>
            <a:endParaRPr lang="en-US" sz="2200">
              <a:solidFill>
                <a:srgbClr val="323232"/>
              </a:solidFill>
              <a:latin typeface="黑体" panose="02010609060101010101" charset="-122"/>
            </a:endParaRPr>
          </a:p>
          <a:p>
            <a:pPr algn="ctr">
              <a:lnSpc>
                <a:spcPct val="113000"/>
              </a:lnSpc>
            </a:pPr>
            <a:endParaRPr lang="en-US" sz="2200">
              <a:solidFill>
                <a:srgbClr val="323232"/>
              </a:solidFill>
              <a:latin typeface="黑体" panose="02010609060101010101" charset="-122"/>
            </a:endParaRPr>
          </a:p>
        </p:txBody>
      </p:sp>
      <p:sp>
        <p:nvSpPr>
          <p:cNvPr id="6" name="TextBox 6"/>
          <p:cNvSpPr txBox="1"/>
          <p:nvPr/>
        </p:nvSpPr>
        <p:spPr>
          <a:xfrm>
            <a:off x="2489200" y="2489200"/>
            <a:ext cx="647700" cy="800100"/>
          </a:xfrm>
          <a:prstGeom prst="rect">
            <a:avLst/>
          </a:prstGeom>
        </p:spPr>
        <p:txBody>
          <a:bodyPr lIns="0" tIns="0" rIns="0" bIns="0" rtlCol="0" anchor="t"/>
          <a:lstStyle/>
          <a:p>
            <a:pPr algn="ctr">
              <a:lnSpc>
                <a:spcPct val="113000"/>
              </a:lnSpc>
            </a:pPr>
            <a:r>
              <a:rPr lang="en-US" sz="4200" b="1">
                <a:solidFill>
                  <a:srgbClr val="323232"/>
                </a:solidFill>
                <a:latin typeface="黑体" panose="02010609060101010101" charset="-122"/>
              </a:rPr>
              <a:t>01</a:t>
            </a:r>
            <a:endParaRPr lang="en-US" sz="4200" b="1">
              <a:solidFill>
                <a:srgbClr val="323232"/>
              </a:solidFill>
              <a:latin typeface="黑体" panose="02010609060101010101" charset="-122"/>
            </a:endParaRPr>
          </a:p>
          <a:p>
            <a:pPr algn="ctr">
              <a:lnSpc>
                <a:spcPct val="113000"/>
              </a:lnSpc>
            </a:pPr>
            <a:endParaRPr lang="en-US" sz="4200" b="1">
              <a:solidFill>
                <a:srgbClr val="323232"/>
              </a:solidFill>
              <a:latin typeface="黑体" panose="02010609060101010101" charset="-122"/>
            </a:endParaRPr>
          </a:p>
        </p:txBody>
      </p:sp>
      <p:sp>
        <p:nvSpPr>
          <p:cNvPr id="7" name="TextBox 7"/>
          <p:cNvSpPr txBox="1"/>
          <p:nvPr/>
        </p:nvSpPr>
        <p:spPr>
          <a:xfrm>
            <a:off x="5524500" y="3378200"/>
            <a:ext cx="2070100" cy="533400"/>
          </a:xfrm>
          <a:prstGeom prst="rect">
            <a:avLst/>
          </a:prstGeom>
        </p:spPr>
        <p:txBody>
          <a:bodyPr lIns="0" tIns="0" rIns="0" bIns="0" rtlCol="0" anchor="t"/>
          <a:lstStyle/>
          <a:p>
            <a:pPr algn="ctr">
              <a:lnSpc>
                <a:spcPct val="113000"/>
              </a:lnSpc>
            </a:pPr>
            <a:r>
              <a:rPr lang="zh-CN" altLang="en-US" sz="2800" b="1">
                <a:solidFill>
                  <a:srgbClr val="323232"/>
                </a:solidFill>
                <a:latin typeface="黑体" panose="02010609060101010101" charset="-122"/>
              </a:rPr>
              <a:t>实例</a:t>
            </a:r>
            <a:endParaRPr lang="en-US" sz="2800" b="1">
              <a:solidFill>
                <a:srgbClr val="323232"/>
              </a:solidFill>
              <a:latin typeface="黑体" panose="02010609060101010101" charset="-122"/>
            </a:endParaRPr>
          </a:p>
          <a:p>
            <a:pPr algn="ctr">
              <a:lnSpc>
                <a:spcPct val="113000"/>
              </a:lnSpc>
            </a:pPr>
            <a:endParaRPr lang="en-US" sz="2800" b="1">
              <a:solidFill>
                <a:srgbClr val="323232"/>
              </a:solidFill>
              <a:latin typeface="黑体" panose="02010609060101010101" charset="-122"/>
            </a:endParaRPr>
          </a:p>
        </p:txBody>
      </p:sp>
      <p:sp>
        <p:nvSpPr>
          <p:cNvPr id="8" name="TextBox 8"/>
          <p:cNvSpPr txBox="1"/>
          <p:nvPr/>
        </p:nvSpPr>
        <p:spPr>
          <a:xfrm>
            <a:off x="5334000" y="3937000"/>
            <a:ext cx="2438400" cy="419100"/>
          </a:xfrm>
          <a:prstGeom prst="rect">
            <a:avLst/>
          </a:prstGeom>
        </p:spPr>
        <p:txBody>
          <a:bodyPr lIns="0" tIns="0" rIns="0" bIns="0" rtlCol="0" anchor="t"/>
          <a:lstStyle/>
          <a:p>
            <a:pPr algn="ctr">
              <a:lnSpc>
                <a:spcPct val="113000"/>
              </a:lnSpc>
            </a:pPr>
            <a:r>
              <a:rPr lang="zh-CN" altLang="en-US" sz="2200">
                <a:solidFill>
                  <a:srgbClr val="323232"/>
                </a:solidFill>
                <a:latin typeface="黑体" panose="02010609060101010101" charset="-122"/>
              </a:rPr>
              <a:t>具体案例分析</a:t>
            </a:r>
            <a:endParaRPr lang="en-US" sz="2200">
              <a:solidFill>
                <a:srgbClr val="323232"/>
              </a:solidFill>
              <a:latin typeface="黑体" panose="02010609060101010101" charset="-122"/>
            </a:endParaRPr>
          </a:p>
          <a:p>
            <a:pPr algn="ctr">
              <a:lnSpc>
                <a:spcPct val="113000"/>
              </a:lnSpc>
            </a:pPr>
            <a:endParaRPr lang="en-US" sz="2200">
              <a:solidFill>
                <a:srgbClr val="323232"/>
              </a:solidFill>
              <a:latin typeface="黑体" panose="02010609060101010101" charset="-122"/>
            </a:endParaRPr>
          </a:p>
        </p:txBody>
      </p:sp>
      <p:sp>
        <p:nvSpPr>
          <p:cNvPr id="9" name="TextBox 9"/>
          <p:cNvSpPr txBox="1"/>
          <p:nvPr/>
        </p:nvSpPr>
        <p:spPr>
          <a:xfrm>
            <a:off x="6235700" y="2489200"/>
            <a:ext cx="647700" cy="800100"/>
          </a:xfrm>
          <a:prstGeom prst="rect">
            <a:avLst/>
          </a:prstGeom>
        </p:spPr>
        <p:txBody>
          <a:bodyPr lIns="0" tIns="0" rIns="0" bIns="0" rtlCol="0" anchor="t"/>
          <a:lstStyle/>
          <a:p>
            <a:pPr algn="ctr">
              <a:lnSpc>
                <a:spcPct val="113000"/>
              </a:lnSpc>
            </a:pPr>
            <a:r>
              <a:rPr lang="en-US" sz="4200" b="1">
                <a:solidFill>
                  <a:srgbClr val="323232"/>
                </a:solidFill>
                <a:latin typeface="黑体" panose="02010609060101010101" charset="-122"/>
              </a:rPr>
              <a:t>02</a:t>
            </a:r>
            <a:endParaRPr lang="en-US" sz="4200" b="1">
              <a:solidFill>
                <a:srgbClr val="323232"/>
              </a:solidFill>
              <a:latin typeface="黑体" panose="02010609060101010101" charset="-122"/>
            </a:endParaRPr>
          </a:p>
          <a:p>
            <a:pPr algn="ctr">
              <a:lnSpc>
                <a:spcPct val="113000"/>
              </a:lnSpc>
            </a:pPr>
            <a:endParaRPr lang="en-US" sz="4200" b="1">
              <a:solidFill>
                <a:srgbClr val="323232"/>
              </a:solidFill>
              <a:latin typeface="黑体" panose="02010609060101010101" charset="-122"/>
            </a:endParaRPr>
          </a:p>
        </p:txBody>
      </p:sp>
      <p:sp>
        <p:nvSpPr>
          <p:cNvPr id="10" name="TextBox 10"/>
          <p:cNvSpPr txBox="1"/>
          <p:nvPr/>
        </p:nvSpPr>
        <p:spPr>
          <a:xfrm>
            <a:off x="1778000" y="6096000"/>
            <a:ext cx="2070100" cy="533400"/>
          </a:xfrm>
          <a:prstGeom prst="rect">
            <a:avLst/>
          </a:prstGeom>
        </p:spPr>
        <p:txBody>
          <a:bodyPr lIns="0" tIns="0" rIns="0" bIns="0" rtlCol="0" anchor="t"/>
          <a:lstStyle/>
          <a:p>
            <a:pPr algn="ctr">
              <a:lnSpc>
                <a:spcPct val="113000"/>
              </a:lnSpc>
            </a:pPr>
            <a:r>
              <a:rPr lang="zh-CN" altLang="en-US" sz="2800" b="1">
                <a:solidFill>
                  <a:srgbClr val="323232"/>
                </a:solidFill>
                <a:latin typeface="黑体" panose="02010609060101010101" charset="-122"/>
              </a:rPr>
              <a:t>小结</a:t>
            </a:r>
            <a:endParaRPr lang="en-US" sz="2800" b="1">
              <a:solidFill>
                <a:srgbClr val="323232"/>
              </a:solidFill>
              <a:latin typeface="黑体" panose="02010609060101010101" charset="-122"/>
            </a:endParaRPr>
          </a:p>
          <a:p>
            <a:pPr algn="ctr">
              <a:lnSpc>
                <a:spcPct val="113000"/>
              </a:lnSpc>
            </a:pPr>
            <a:endParaRPr lang="en-US" sz="2800" b="1">
              <a:solidFill>
                <a:srgbClr val="323232"/>
              </a:solidFill>
              <a:latin typeface="黑体" panose="02010609060101010101" charset="-122"/>
            </a:endParaRPr>
          </a:p>
        </p:txBody>
      </p:sp>
      <p:sp>
        <p:nvSpPr>
          <p:cNvPr id="11" name="TextBox 11"/>
          <p:cNvSpPr txBox="1"/>
          <p:nvPr/>
        </p:nvSpPr>
        <p:spPr>
          <a:xfrm>
            <a:off x="1600200" y="6654800"/>
            <a:ext cx="2438400" cy="419100"/>
          </a:xfrm>
          <a:prstGeom prst="rect">
            <a:avLst/>
          </a:prstGeom>
        </p:spPr>
        <p:txBody>
          <a:bodyPr lIns="0" tIns="0" rIns="0" bIns="0" rtlCol="0" anchor="t"/>
          <a:lstStyle/>
          <a:p>
            <a:pPr algn="ctr">
              <a:lnSpc>
                <a:spcPct val="113000"/>
              </a:lnSpc>
            </a:pPr>
            <a:r>
              <a:rPr lang="zh-CN" altLang="en-US" sz="2200">
                <a:solidFill>
                  <a:srgbClr val="323232"/>
                </a:solidFill>
                <a:latin typeface="黑体" panose="02010609060101010101" charset="-122"/>
              </a:rPr>
              <a:t>行为型模式小结</a:t>
            </a:r>
            <a:endParaRPr lang="en-US" sz="2200">
              <a:solidFill>
                <a:srgbClr val="323232"/>
              </a:solidFill>
              <a:latin typeface="黑体" panose="02010609060101010101" charset="-122"/>
            </a:endParaRPr>
          </a:p>
          <a:p>
            <a:pPr algn="ctr">
              <a:lnSpc>
                <a:spcPct val="113000"/>
              </a:lnSpc>
            </a:pPr>
            <a:endParaRPr lang="en-US" sz="2200">
              <a:solidFill>
                <a:srgbClr val="323232"/>
              </a:solidFill>
              <a:latin typeface="黑体" panose="02010609060101010101" charset="-122"/>
            </a:endParaRPr>
          </a:p>
        </p:txBody>
      </p:sp>
      <p:sp>
        <p:nvSpPr>
          <p:cNvPr id="12" name="TextBox 12"/>
          <p:cNvSpPr txBox="1"/>
          <p:nvPr/>
        </p:nvSpPr>
        <p:spPr>
          <a:xfrm>
            <a:off x="2489200" y="5219700"/>
            <a:ext cx="647700" cy="800100"/>
          </a:xfrm>
          <a:prstGeom prst="rect">
            <a:avLst/>
          </a:prstGeom>
        </p:spPr>
        <p:txBody>
          <a:bodyPr lIns="0" tIns="0" rIns="0" bIns="0" rtlCol="0" anchor="t"/>
          <a:lstStyle/>
          <a:p>
            <a:pPr algn="ctr">
              <a:lnSpc>
                <a:spcPct val="113000"/>
              </a:lnSpc>
            </a:pPr>
            <a:r>
              <a:rPr lang="en-US" sz="4200" b="1">
                <a:solidFill>
                  <a:srgbClr val="323232"/>
                </a:solidFill>
                <a:latin typeface="黑体" panose="02010609060101010101" charset="-122"/>
              </a:rPr>
              <a:t>03</a:t>
            </a:r>
            <a:endParaRPr lang="en-US" sz="4200" b="1">
              <a:solidFill>
                <a:srgbClr val="323232"/>
              </a:solidFill>
              <a:latin typeface="黑体" panose="02010609060101010101" charset="-122"/>
            </a:endParaRPr>
          </a:p>
          <a:p>
            <a:pPr algn="ctr">
              <a:lnSpc>
                <a:spcPct val="113000"/>
              </a:lnSpc>
            </a:pPr>
            <a:endParaRPr lang="en-US" sz="4200" b="1">
              <a:solidFill>
                <a:srgbClr val="323232"/>
              </a:solidFill>
              <a:latin typeface="黑体" panose="02010609060101010101" charset="-122"/>
            </a:endParaRPr>
          </a:p>
        </p:txBody>
      </p:sp>
      <p:sp>
        <p:nvSpPr>
          <p:cNvPr id="13" name="TextBox 13"/>
          <p:cNvSpPr txBox="1"/>
          <p:nvPr/>
        </p:nvSpPr>
        <p:spPr>
          <a:xfrm>
            <a:off x="5524500" y="6096000"/>
            <a:ext cx="2070100" cy="533400"/>
          </a:xfrm>
          <a:prstGeom prst="rect">
            <a:avLst/>
          </a:prstGeom>
        </p:spPr>
        <p:txBody>
          <a:bodyPr lIns="0" tIns="0" rIns="0" bIns="0" rtlCol="0" anchor="t"/>
          <a:lstStyle/>
          <a:p>
            <a:pPr algn="ctr">
              <a:lnSpc>
                <a:spcPct val="113000"/>
              </a:lnSpc>
            </a:pPr>
            <a:r>
              <a:rPr lang="zh-CN" altLang="en-US" sz="2800" b="1">
                <a:solidFill>
                  <a:srgbClr val="323232"/>
                </a:solidFill>
                <a:latin typeface="黑体" panose="02010609060101010101" charset="-122"/>
              </a:rPr>
              <a:t>总结</a:t>
            </a:r>
            <a:endParaRPr lang="en-US" sz="2800" b="1">
              <a:solidFill>
                <a:srgbClr val="323232"/>
              </a:solidFill>
              <a:latin typeface="黑体" panose="02010609060101010101" charset="-122"/>
            </a:endParaRPr>
          </a:p>
          <a:p>
            <a:pPr algn="ctr">
              <a:lnSpc>
                <a:spcPct val="113000"/>
              </a:lnSpc>
            </a:pPr>
            <a:endParaRPr lang="en-US" sz="2800" b="1">
              <a:solidFill>
                <a:srgbClr val="323232"/>
              </a:solidFill>
              <a:latin typeface="黑体" panose="02010609060101010101" charset="-122"/>
            </a:endParaRPr>
          </a:p>
        </p:txBody>
      </p:sp>
      <p:sp>
        <p:nvSpPr>
          <p:cNvPr id="14" name="TextBox 14"/>
          <p:cNvSpPr txBox="1"/>
          <p:nvPr/>
        </p:nvSpPr>
        <p:spPr>
          <a:xfrm>
            <a:off x="5232400" y="6654800"/>
            <a:ext cx="2641600" cy="419100"/>
          </a:xfrm>
          <a:prstGeom prst="rect">
            <a:avLst/>
          </a:prstGeom>
        </p:spPr>
        <p:txBody>
          <a:bodyPr lIns="0" tIns="0" rIns="0" bIns="0" rtlCol="0" anchor="t"/>
          <a:lstStyle/>
          <a:p>
            <a:pPr algn="ctr">
              <a:lnSpc>
                <a:spcPct val="113000"/>
              </a:lnSpc>
            </a:pPr>
            <a:r>
              <a:rPr lang="zh-CN" altLang="en-US" sz="2200">
                <a:solidFill>
                  <a:srgbClr val="323232"/>
                </a:solidFill>
                <a:latin typeface="黑体" panose="02010609060101010101" charset="-122"/>
              </a:rPr>
              <a:t>设计模式总结</a:t>
            </a:r>
            <a:endParaRPr lang="en-US" sz="2200">
              <a:solidFill>
                <a:srgbClr val="323232"/>
              </a:solidFill>
              <a:latin typeface="黑体" panose="02010609060101010101" charset="-122"/>
            </a:endParaRPr>
          </a:p>
          <a:p>
            <a:pPr algn="ctr">
              <a:lnSpc>
                <a:spcPct val="113000"/>
              </a:lnSpc>
            </a:pPr>
            <a:endParaRPr lang="en-US" sz="2200">
              <a:solidFill>
                <a:srgbClr val="323232"/>
              </a:solidFill>
              <a:latin typeface="黑体" panose="02010609060101010101" charset="-122"/>
            </a:endParaRPr>
          </a:p>
        </p:txBody>
      </p:sp>
      <p:sp>
        <p:nvSpPr>
          <p:cNvPr id="15" name="TextBox 15"/>
          <p:cNvSpPr txBox="1"/>
          <p:nvPr/>
        </p:nvSpPr>
        <p:spPr>
          <a:xfrm>
            <a:off x="6235700" y="5207000"/>
            <a:ext cx="647700" cy="800100"/>
          </a:xfrm>
          <a:prstGeom prst="rect">
            <a:avLst/>
          </a:prstGeom>
        </p:spPr>
        <p:txBody>
          <a:bodyPr lIns="0" tIns="0" rIns="0" bIns="0" rtlCol="0" anchor="t"/>
          <a:lstStyle/>
          <a:p>
            <a:pPr algn="ctr">
              <a:lnSpc>
                <a:spcPct val="113000"/>
              </a:lnSpc>
            </a:pPr>
            <a:r>
              <a:rPr lang="en-US" sz="4200" b="1">
                <a:solidFill>
                  <a:srgbClr val="323232"/>
                </a:solidFill>
                <a:latin typeface="黑体" panose="02010609060101010101" charset="-122"/>
              </a:rPr>
              <a:t>04</a:t>
            </a:r>
            <a:endParaRPr lang="en-US" sz="4200" b="1">
              <a:solidFill>
                <a:srgbClr val="323232"/>
              </a:solidFill>
              <a:latin typeface="黑体" panose="02010609060101010101" charset="-122"/>
            </a:endParaRPr>
          </a:p>
          <a:p>
            <a:pPr algn="ctr">
              <a:lnSpc>
                <a:spcPct val="113000"/>
              </a:lnSpc>
            </a:pPr>
            <a:endParaRPr lang="en-US" sz="4200" b="1">
              <a:solidFill>
                <a:srgbClr val="323232"/>
              </a:solidFill>
              <a:latin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3" name="TextBox 3"/>
          <p:cNvSpPr txBox="1"/>
          <p:nvPr/>
        </p:nvSpPr>
        <p:spPr>
          <a:xfrm>
            <a:off x="520700" y="381000"/>
            <a:ext cx="115951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简介</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
        <p:nvSpPr>
          <p:cNvPr id="4" name="TextBox 4"/>
          <p:cNvSpPr txBox="1"/>
          <p:nvPr/>
        </p:nvSpPr>
        <p:spPr>
          <a:xfrm>
            <a:off x="1132205" y="1547495"/>
            <a:ext cx="13258165" cy="5735320"/>
          </a:xfrm>
          <a:prstGeom prst="rect">
            <a:avLst/>
          </a:prstGeom>
        </p:spPr>
        <p:txBody>
          <a:bodyPr lIns="0" tIns="0" rIns="0" bIns="0" rtlCol="0" anchor="t"/>
          <a:lstStyle/>
          <a:p>
            <a:pPr algn="l">
              <a:lnSpc>
                <a:spcPct val="113000"/>
              </a:lnSpc>
            </a:pPr>
            <a:r>
              <a:rPr lang="zh-CN" altLang="en-US" sz="4800">
                <a:solidFill>
                  <a:srgbClr val="323232"/>
                </a:solidFill>
                <a:latin typeface="黑体" panose="02010609060101010101" charset="-122"/>
              </a:rPr>
              <a:t>定义：</a:t>
            </a:r>
            <a:r>
              <a:rPr lang="en-US" sz="4800">
                <a:solidFill>
                  <a:srgbClr val="323232"/>
                </a:solidFill>
                <a:latin typeface="黑体" panose="02010609060101010101" charset="-122"/>
              </a:rPr>
              <a:t>关注对象之间的通信</a:t>
            </a:r>
            <a:r>
              <a:rPr lang="zh-CN" altLang="en-US" sz="4800">
                <a:solidFill>
                  <a:srgbClr val="323232"/>
                </a:solidFill>
                <a:latin typeface="黑体" panose="02010609060101010101" charset="-122"/>
              </a:rPr>
              <a:t>，用来识别对象之间的常用交流模式并加以实现。</a:t>
            </a:r>
            <a:endParaRPr lang="zh-CN" altLang="en-US" sz="4800">
              <a:solidFill>
                <a:srgbClr val="323232"/>
              </a:solidFill>
              <a:latin typeface="黑体" panose="02010609060101010101" charset="-122"/>
            </a:endParaRPr>
          </a:p>
          <a:p>
            <a:pPr algn="l">
              <a:lnSpc>
                <a:spcPct val="113000"/>
              </a:lnSpc>
            </a:pPr>
            <a:endParaRPr lang="zh-CN" altLang="en-US" sz="4800">
              <a:solidFill>
                <a:srgbClr val="323232"/>
              </a:solidFill>
              <a:latin typeface="黑体" panose="02010609060101010101" charset="-122"/>
            </a:endParaRPr>
          </a:p>
          <a:p>
            <a:pPr algn="l">
              <a:lnSpc>
                <a:spcPct val="113000"/>
              </a:lnSpc>
            </a:pPr>
            <a:r>
              <a:rPr lang="zh-CN" altLang="en-US" sz="4800">
                <a:solidFill>
                  <a:srgbClr val="323232"/>
                </a:solidFill>
                <a:latin typeface="黑体" panose="02010609060101010101" charset="-122"/>
              </a:rPr>
              <a:t>分类：策略模式、模板方法模式、观察者模式、迭代子模式、责任链模式、命令模式、备忘录模式、状态模式、访问者模式、中介者模式、解释器模式。</a:t>
            </a:r>
            <a:endParaRPr lang="zh-CN" altLang="en-US" sz="4800">
              <a:solidFill>
                <a:srgbClr val="323232"/>
              </a:solidFill>
              <a:latin typeface="黑体" panose="02010609060101010101" charset="-122"/>
            </a:endParaRPr>
          </a:p>
          <a:p>
            <a:pPr algn="l">
              <a:lnSpc>
                <a:spcPct val="113000"/>
              </a:lnSpc>
            </a:pPr>
            <a:endParaRPr lang="zh-CN" altLang="en-US" sz="2800" b="1">
              <a:solidFill>
                <a:srgbClr val="323232"/>
              </a:solidFill>
              <a:latin typeface="黑体" panose="02010609060101010101" charset="-122"/>
            </a:endParaRPr>
          </a:p>
          <a:p>
            <a:pPr algn="l">
              <a:lnSpc>
                <a:spcPct val="113000"/>
              </a:lnSpc>
            </a:pPr>
            <a:endParaRPr lang="en-US" sz="2800" b="1">
              <a:solidFill>
                <a:srgbClr val="323232"/>
              </a:solidFill>
              <a:latin typeface="黑体" panose="02010609060101010101" charset="-122"/>
            </a:endParaRPr>
          </a:p>
        </p:txBody>
      </p:sp>
      <p:pic>
        <p:nvPicPr>
          <p:cNvPr id="7" name="Picture 7"/>
          <p:cNvPicPr>
            <a:picLocks noChangeAspect="1"/>
          </p:cNvPicPr>
          <p:nvPr/>
        </p:nvPicPr>
        <p:blipFill>
          <a:blip r:embed="rId2"/>
          <a:stretch>
            <a:fillRect/>
          </a:stretch>
        </p:blipFill>
        <p:spPr>
          <a:xfrm rot="5400000">
            <a:off x="-254000" y="660400"/>
            <a:ext cx="673100" cy="1651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p:cNvPicPr>
            <a:picLocks noChangeAspect="1"/>
          </p:cNvPicPr>
          <p:nvPr/>
        </p:nvPicPr>
        <p:blipFill>
          <a:blip r:embed="rId1"/>
          <a:stretch>
            <a:fillRect/>
          </a:stretch>
        </p:blipFill>
        <p:spPr>
          <a:xfrm>
            <a:off x="0" y="0"/>
            <a:ext cx="16256000" cy="9144000"/>
          </a:xfrm>
          <a:prstGeom prst="rect">
            <a:avLst/>
          </a:prstGeom>
        </p:spPr>
      </p:pic>
      <p:sp>
        <p:nvSpPr>
          <p:cNvPr id="17" name="TextBox 4"/>
          <p:cNvSpPr txBox="1"/>
          <p:nvPr/>
        </p:nvSpPr>
        <p:spPr>
          <a:xfrm>
            <a:off x="520700" y="381000"/>
            <a:ext cx="3429000" cy="685800"/>
          </a:xfrm>
          <a:prstGeom prst="rect">
            <a:avLst/>
          </a:prstGeom>
        </p:spPr>
        <p:txBody>
          <a:bodyPr lIns="0" tIns="0" rIns="0" bIns="0" rtlCol="0" anchor="t"/>
          <a:p>
            <a:pPr algn="l">
              <a:lnSpc>
                <a:spcPct val="113000"/>
              </a:lnSpc>
            </a:pPr>
            <a:r>
              <a:rPr lang="zh-CN" altLang="en-US" sz="3600" b="1">
                <a:solidFill>
                  <a:srgbClr val="323232"/>
                </a:solidFill>
                <a:latin typeface="黑体" panose="02010609060101010101" charset="-122"/>
              </a:rPr>
              <a:t>行为型设计模式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20" name="Picture 7"/>
          <p:cNvPicPr>
            <a:picLocks noChangeAspect="1"/>
          </p:cNvPicPr>
          <p:nvPr/>
        </p:nvPicPr>
        <p:blipFill>
          <a:blip r:embed="rId2"/>
          <a:stretch>
            <a:fillRect/>
          </a:stretch>
        </p:blipFill>
        <p:spPr>
          <a:xfrm rot="5400000">
            <a:off x="-254000" y="660400"/>
            <a:ext cx="673100" cy="165100"/>
          </a:xfrm>
          <a:prstGeom prst="rect">
            <a:avLst/>
          </a:prstGeom>
        </p:spPr>
      </p:pic>
      <p:sp>
        <p:nvSpPr>
          <p:cNvPr id="24" name="TextBox 11"/>
          <p:cNvSpPr txBox="1"/>
          <p:nvPr/>
        </p:nvSpPr>
        <p:spPr>
          <a:xfrm>
            <a:off x="6667500" y="5257800"/>
            <a:ext cx="2159000" cy="419100"/>
          </a:xfrm>
          <a:prstGeom prst="rect">
            <a:avLst/>
          </a:prstGeom>
        </p:spPr>
        <p:txBody>
          <a:bodyPr lIns="0" tIns="0" rIns="0" bIns="0" rtlCol="0" anchor="t"/>
          <a:p>
            <a:pPr algn="r">
              <a:lnSpc>
                <a:spcPct val="113000"/>
              </a:lnSpc>
            </a:pPr>
            <a:endParaRPr lang="en-US" sz="2200">
              <a:solidFill>
                <a:srgbClr val="FFFFFF"/>
              </a:solidFill>
              <a:latin typeface="黑体" panose="02010609060101010101" charset="-122"/>
            </a:endParaRPr>
          </a:p>
          <a:p>
            <a:pPr algn="r">
              <a:lnSpc>
                <a:spcPct val="113000"/>
              </a:lnSpc>
            </a:pPr>
            <a:endParaRPr lang="en-US" sz="2200">
              <a:solidFill>
                <a:srgbClr val="FFFFFF"/>
              </a:solidFill>
              <a:latin typeface="黑体" panose="02010609060101010101" charset="-122"/>
            </a:endParaRPr>
          </a:p>
        </p:txBody>
      </p:sp>
      <p:sp>
        <p:nvSpPr>
          <p:cNvPr id="28" name="TextBox 15"/>
          <p:cNvSpPr txBox="1"/>
          <p:nvPr/>
        </p:nvSpPr>
        <p:spPr>
          <a:xfrm>
            <a:off x="8001000" y="7505700"/>
            <a:ext cx="2159000" cy="419100"/>
          </a:xfrm>
          <a:prstGeom prst="rect">
            <a:avLst/>
          </a:prstGeom>
        </p:spPr>
        <p:txBody>
          <a:bodyPr lIns="0" tIns="0" rIns="0" bIns="0" rtlCol="0" anchor="t"/>
          <a:p>
            <a:pPr algn="l">
              <a:lnSpc>
                <a:spcPct val="113000"/>
              </a:lnSpc>
            </a:pPr>
            <a:endParaRPr lang="en-US" sz="2200">
              <a:solidFill>
                <a:srgbClr val="FFFFFF"/>
              </a:solidFill>
              <a:latin typeface="黑体" panose="02010609060101010101" charset="-122"/>
            </a:endParaRPr>
          </a:p>
          <a:p>
            <a:pPr algn="l">
              <a:lnSpc>
                <a:spcPct val="113000"/>
              </a:lnSpc>
            </a:pPr>
            <a:endParaRPr lang="en-US" sz="2200">
              <a:solidFill>
                <a:srgbClr val="FFFFFF"/>
              </a:solidFill>
              <a:latin typeface="黑体" panose="02010609060101010101" charset="-122"/>
            </a:endParaRPr>
          </a:p>
        </p:txBody>
      </p:sp>
      <p:grpSp>
        <p:nvGrpSpPr>
          <p:cNvPr id="58" name="组合 57"/>
          <p:cNvGrpSpPr/>
          <p:nvPr/>
        </p:nvGrpSpPr>
        <p:grpSpPr>
          <a:xfrm>
            <a:off x="5147945" y="2714308"/>
            <a:ext cx="741363" cy="460375"/>
            <a:chOff x="4353620" y="864629"/>
            <a:chExt cx="742365" cy="460079"/>
          </a:xfrm>
        </p:grpSpPr>
        <p:sp>
          <p:nvSpPr>
            <p:cNvPr id="56" name="KSO_Shape"/>
            <p:cNvSpPr/>
            <p:nvPr/>
          </p:nvSpPr>
          <p:spPr bwMode="auto">
            <a:xfrm>
              <a:off x="4353620" y="866215"/>
              <a:ext cx="742365" cy="407726"/>
            </a:xfrm>
            <a:custGeom>
              <a:avLst/>
              <a:gdLst>
                <a:gd name="T0" fmla="*/ 2147483646 w 5345"/>
                <a:gd name="T1" fmla="*/ 2147483646 h 2936"/>
                <a:gd name="T2" fmla="*/ 2147483646 w 5345"/>
                <a:gd name="T3" fmla="*/ 2147483646 h 2936"/>
                <a:gd name="T4" fmla="*/ 2147483646 w 5345"/>
                <a:gd name="T5" fmla="*/ 2147483646 h 2936"/>
                <a:gd name="T6" fmla="*/ 2147483646 w 5345"/>
                <a:gd name="T7" fmla="*/ 2147483646 h 2936"/>
                <a:gd name="T8" fmla="*/ 2147483646 w 5345"/>
                <a:gd name="T9" fmla="*/ 2147483646 h 2936"/>
                <a:gd name="T10" fmla="*/ 2147483646 w 5345"/>
                <a:gd name="T11" fmla="*/ 2147483646 h 2936"/>
                <a:gd name="T12" fmla="*/ 2147483646 w 5345"/>
                <a:gd name="T13" fmla="*/ 2147483646 h 2936"/>
                <a:gd name="T14" fmla="*/ 2147483646 w 5345"/>
                <a:gd name="T15" fmla="*/ 2147483646 h 2936"/>
                <a:gd name="T16" fmla="*/ 2147483646 w 5345"/>
                <a:gd name="T17" fmla="*/ 2147483646 h 2936"/>
                <a:gd name="T18" fmla="*/ 2147483646 w 5345"/>
                <a:gd name="T19" fmla="*/ 2147483646 h 2936"/>
                <a:gd name="T20" fmla="*/ 2147483646 w 5345"/>
                <a:gd name="T21" fmla="*/ 2147483646 h 2936"/>
                <a:gd name="T22" fmla="*/ 2147483646 w 5345"/>
                <a:gd name="T23" fmla="*/ 2147483646 h 2936"/>
                <a:gd name="T24" fmla="*/ 2147483646 w 5345"/>
                <a:gd name="T25" fmla="*/ 2147483646 h 2936"/>
                <a:gd name="T26" fmla="*/ 2147483646 w 5345"/>
                <a:gd name="T27" fmla="*/ 2147483646 h 2936"/>
                <a:gd name="T28" fmla="*/ 2147483646 w 5345"/>
                <a:gd name="T29" fmla="*/ 2147483646 h 2936"/>
                <a:gd name="T30" fmla="*/ 2147483646 w 5345"/>
                <a:gd name="T31" fmla="*/ 772639970 h 2936"/>
                <a:gd name="T32" fmla="*/ 2147483646 w 5345"/>
                <a:gd name="T33" fmla="*/ 0 h 2936"/>
                <a:gd name="T34" fmla="*/ 2147483646 w 5345"/>
                <a:gd name="T35" fmla="*/ 363587807 h 2936"/>
                <a:gd name="T36" fmla="*/ 2147483646 w 5345"/>
                <a:gd name="T37" fmla="*/ 2147483646 h 2936"/>
                <a:gd name="T38" fmla="*/ 2147483646 w 5345"/>
                <a:gd name="T39" fmla="*/ 2147483646 h 2936"/>
                <a:gd name="T40" fmla="*/ 2147483646 w 5345"/>
                <a:gd name="T41" fmla="*/ 2147483646 h 2936"/>
                <a:gd name="T42" fmla="*/ 2147483646 w 5345"/>
                <a:gd name="T43" fmla="*/ 2147483646 h 2936"/>
                <a:gd name="T44" fmla="*/ 2147483646 w 5345"/>
                <a:gd name="T45" fmla="*/ 2147483646 h 2936"/>
                <a:gd name="T46" fmla="*/ 2147483646 w 5345"/>
                <a:gd name="T47" fmla="*/ 2147483646 h 2936"/>
                <a:gd name="T48" fmla="*/ 2147483646 w 5345"/>
                <a:gd name="T49" fmla="*/ 2147483646 h 2936"/>
                <a:gd name="T50" fmla="*/ 2147483646 w 5345"/>
                <a:gd name="T51" fmla="*/ 2147483646 h 2936"/>
                <a:gd name="T52" fmla="*/ 2147483646 w 5345"/>
                <a:gd name="T53" fmla="*/ 2147483646 h 2936"/>
                <a:gd name="T54" fmla="*/ 2147483646 w 5345"/>
                <a:gd name="T55" fmla="*/ 2147483646 h 2936"/>
                <a:gd name="T56" fmla="*/ 2147483646 w 5345"/>
                <a:gd name="T57" fmla="*/ 2147483646 h 2936"/>
                <a:gd name="T58" fmla="*/ 2147483646 w 5345"/>
                <a:gd name="T59" fmla="*/ 2147483646 h 2936"/>
                <a:gd name="T60" fmla="*/ 2147483646 w 5345"/>
                <a:gd name="T61" fmla="*/ 2147483646 h 2936"/>
                <a:gd name="T62" fmla="*/ 452722804 w 5345"/>
                <a:gd name="T63" fmla="*/ 2147483646 h 2936"/>
                <a:gd name="T64" fmla="*/ 90570008 w 5345"/>
                <a:gd name="T65" fmla="*/ 2147483646 h 2936"/>
                <a:gd name="T66" fmla="*/ 1629877726 w 5345"/>
                <a:gd name="T67" fmla="*/ 2147483646 h 2936"/>
                <a:gd name="T68" fmla="*/ 2147483646 w 5345"/>
                <a:gd name="T69" fmla="*/ 2147483646 h 2936"/>
                <a:gd name="T70" fmla="*/ 2147483646 w 5345"/>
                <a:gd name="T71" fmla="*/ 2147483646 h 2936"/>
                <a:gd name="T72" fmla="*/ 2147483646 w 5345"/>
                <a:gd name="T73" fmla="*/ 2147483646 h 2936"/>
                <a:gd name="T74" fmla="*/ 2147483646 w 5345"/>
                <a:gd name="T75" fmla="*/ 2147483646 h 2936"/>
                <a:gd name="T76" fmla="*/ 2147483646 w 5345"/>
                <a:gd name="T77" fmla="*/ 2147483646 h 2936"/>
                <a:gd name="T78" fmla="*/ 2147483646 w 5345"/>
                <a:gd name="T79" fmla="*/ 2147483646 h 2936"/>
                <a:gd name="T80" fmla="*/ 2147483646 w 5345"/>
                <a:gd name="T81" fmla="*/ 2147483646 h 2936"/>
                <a:gd name="T82" fmla="*/ 2147483646 w 5345"/>
                <a:gd name="T83" fmla="*/ 2147483646 h 2936"/>
                <a:gd name="T84" fmla="*/ 2147483646 w 5345"/>
                <a:gd name="T85" fmla="*/ 2147483646 h 2936"/>
                <a:gd name="T86" fmla="*/ 2147483646 w 5345"/>
                <a:gd name="T87" fmla="*/ 2147483646 h 2936"/>
                <a:gd name="T88" fmla="*/ 2147483646 w 5345"/>
                <a:gd name="T89" fmla="*/ 2147483646 h 2936"/>
                <a:gd name="T90" fmla="*/ 2147483646 w 5345"/>
                <a:gd name="T91" fmla="*/ 2147483646 h 2936"/>
                <a:gd name="T92" fmla="*/ 2147483646 w 5345"/>
                <a:gd name="T93" fmla="*/ 2147483646 h 2936"/>
                <a:gd name="T94" fmla="*/ 2147483646 w 5345"/>
                <a:gd name="T95" fmla="*/ 2147483646 h 2936"/>
                <a:gd name="T96" fmla="*/ 2147483646 w 5345"/>
                <a:gd name="T97" fmla="*/ 2147483646 h 2936"/>
                <a:gd name="T98" fmla="*/ 2147483646 w 5345"/>
                <a:gd name="T99" fmla="*/ 2147483646 h 2936"/>
                <a:gd name="T100" fmla="*/ 2147483646 w 5345"/>
                <a:gd name="T101" fmla="*/ 2147483646 h 2936"/>
                <a:gd name="T102" fmla="*/ 2147483646 w 5345"/>
                <a:gd name="T103" fmla="*/ 2147483646 h 2936"/>
                <a:gd name="T104" fmla="*/ 2147483646 w 5345"/>
                <a:gd name="T105" fmla="*/ 2147483646 h 29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345" h="2936">
                  <a:moveTo>
                    <a:pt x="4729" y="1661"/>
                  </a:moveTo>
                  <a:lnTo>
                    <a:pt x="4729" y="1661"/>
                  </a:lnTo>
                  <a:lnTo>
                    <a:pt x="4723" y="1609"/>
                  </a:lnTo>
                  <a:lnTo>
                    <a:pt x="4716" y="1558"/>
                  </a:lnTo>
                  <a:lnTo>
                    <a:pt x="4706" y="1507"/>
                  </a:lnTo>
                  <a:lnTo>
                    <a:pt x="4693" y="1458"/>
                  </a:lnTo>
                  <a:lnTo>
                    <a:pt x="4679" y="1409"/>
                  </a:lnTo>
                  <a:lnTo>
                    <a:pt x="4663" y="1361"/>
                  </a:lnTo>
                  <a:lnTo>
                    <a:pt x="4644" y="1314"/>
                  </a:lnTo>
                  <a:lnTo>
                    <a:pt x="4622" y="1268"/>
                  </a:lnTo>
                  <a:lnTo>
                    <a:pt x="4600" y="1223"/>
                  </a:lnTo>
                  <a:lnTo>
                    <a:pt x="4575" y="1181"/>
                  </a:lnTo>
                  <a:lnTo>
                    <a:pt x="4548" y="1138"/>
                  </a:lnTo>
                  <a:lnTo>
                    <a:pt x="4519" y="1098"/>
                  </a:lnTo>
                  <a:lnTo>
                    <a:pt x="4489" y="1059"/>
                  </a:lnTo>
                  <a:lnTo>
                    <a:pt x="4457" y="1021"/>
                  </a:lnTo>
                  <a:lnTo>
                    <a:pt x="4422" y="984"/>
                  </a:lnTo>
                  <a:lnTo>
                    <a:pt x="4387" y="950"/>
                  </a:lnTo>
                  <a:lnTo>
                    <a:pt x="4350" y="917"/>
                  </a:lnTo>
                  <a:lnTo>
                    <a:pt x="4312" y="886"/>
                  </a:lnTo>
                  <a:lnTo>
                    <a:pt x="4272" y="856"/>
                  </a:lnTo>
                  <a:lnTo>
                    <a:pt x="4230" y="828"/>
                  </a:lnTo>
                  <a:lnTo>
                    <a:pt x="4188" y="802"/>
                  </a:lnTo>
                  <a:lnTo>
                    <a:pt x="4144" y="778"/>
                  </a:lnTo>
                  <a:lnTo>
                    <a:pt x="4099" y="757"/>
                  </a:lnTo>
                  <a:lnTo>
                    <a:pt x="4053" y="737"/>
                  </a:lnTo>
                  <a:lnTo>
                    <a:pt x="4005" y="719"/>
                  </a:lnTo>
                  <a:lnTo>
                    <a:pt x="3957" y="703"/>
                  </a:lnTo>
                  <a:lnTo>
                    <a:pt x="3907" y="689"/>
                  </a:lnTo>
                  <a:lnTo>
                    <a:pt x="3857" y="679"/>
                  </a:lnTo>
                  <a:lnTo>
                    <a:pt x="3806" y="670"/>
                  </a:lnTo>
                  <a:lnTo>
                    <a:pt x="3754" y="663"/>
                  </a:lnTo>
                  <a:lnTo>
                    <a:pt x="3701" y="660"/>
                  </a:lnTo>
                  <a:lnTo>
                    <a:pt x="3648" y="658"/>
                  </a:lnTo>
                  <a:lnTo>
                    <a:pt x="3608" y="660"/>
                  </a:lnTo>
                  <a:lnTo>
                    <a:pt x="3566" y="661"/>
                  </a:lnTo>
                  <a:lnTo>
                    <a:pt x="3526" y="665"/>
                  </a:lnTo>
                  <a:lnTo>
                    <a:pt x="3486" y="670"/>
                  </a:lnTo>
                  <a:lnTo>
                    <a:pt x="3446" y="677"/>
                  </a:lnTo>
                  <a:lnTo>
                    <a:pt x="3407" y="686"/>
                  </a:lnTo>
                  <a:lnTo>
                    <a:pt x="3368" y="695"/>
                  </a:lnTo>
                  <a:lnTo>
                    <a:pt x="3330" y="706"/>
                  </a:lnTo>
                  <a:lnTo>
                    <a:pt x="3294" y="718"/>
                  </a:lnTo>
                  <a:lnTo>
                    <a:pt x="3257" y="732"/>
                  </a:lnTo>
                  <a:lnTo>
                    <a:pt x="3220" y="746"/>
                  </a:lnTo>
                  <a:lnTo>
                    <a:pt x="3185" y="763"/>
                  </a:lnTo>
                  <a:lnTo>
                    <a:pt x="3150" y="779"/>
                  </a:lnTo>
                  <a:lnTo>
                    <a:pt x="3116" y="798"/>
                  </a:lnTo>
                  <a:lnTo>
                    <a:pt x="3083" y="817"/>
                  </a:lnTo>
                  <a:lnTo>
                    <a:pt x="3050" y="838"/>
                  </a:lnTo>
                  <a:lnTo>
                    <a:pt x="3038" y="793"/>
                  </a:lnTo>
                  <a:lnTo>
                    <a:pt x="3024" y="750"/>
                  </a:lnTo>
                  <a:lnTo>
                    <a:pt x="3007" y="707"/>
                  </a:lnTo>
                  <a:lnTo>
                    <a:pt x="2989" y="664"/>
                  </a:lnTo>
                  <a:lnTo>
                    <a:pt x="2970" y="623"/>
                  </a:lnTo>
                  <a:lnTo>
                    <a:pt x="2949" y="583"/>
                  </a:lnTo>
                  <a:lnTo>
                    <a:pt x="2927" y="542"/>
                  </a:lnTo>
                  <a:lnTo>
                    <a:pt x="2903" y="504"/>
                  </a:lnTo>
                  <a:lnTo>
                    <a:pt x="2877" y="467"/>
                  </a:lnTo>
                  <a:lnTo>
                    <a:pt x="2850" y="430"/>
                  </a:lnTo>
                  <a:lnTo>
                    <a:pt x="2821" y="396"/>
                  </a:lnTo>
                  <a:lnTo>
                    <a:pt x="2792" y="361"/>
                  </a:lnTo>
                  <a:lnTo>
                    <a:pt x="2761" y="329"/>
                  </a:lnTo>
                  <a:lnTo>
                    <a:pt x="2728" y="297"/>
                  </a:lnTo>
                  <a:lnTo>
                    <a:pt x="2694" y="268"/>
                  </a:lnTo>
                  <a:lnTo>
                    <a:pt x="2659" y="238"/>
                  </a:lnTo>
                  <a:lnTo>
                    <a:pt x="2623" y="211"/>
                  </a:lnTo>
                  <a:lnTo>
                    <a:pt x="2586" y="185"/>
                  </a:lnTo>
                  <a:lnTo>
                    <a:pt x="2548" y="161"/>
                  </a:lnTo>
                  <a:lnTo>
                    <a:pt x="2509" y="139"/>
                  </a:lnTo>
                  <a:lnTo>
                    <a:pt x="2468" y="117"/>
                  </a:lnTo>
                  <a:lnTo>
                    <a:pt x="2427" y="97"/>
                  </a:lnTo>
                  <a:lnTo>
                    <a:pt x="2384" y="79"/>
                  </a:lnTo>
                  <a:lnTo>
                    <a:pt x="2342" y="63"/>
                  </a:lnTo>
                  <a:lnTo>
                    <a:pt x="2298" y="49"/>
                  </a:lnTo>
                  <a:lnTo>
                    <a:pt x="2253" y="36"/>
                  </a:lnTo>
                  <a:lnTo>
                    <a:pt x="2208" y="25"/>
                  </a:lnTo>
                  <a:lnTo>
                    <a:pt x="2162" y="17"/>
                  </a:lnTo>
                  <a:lnTo>
                    <a:pt x="2114" y="9"/>
                  </a:lnTo>
                  <a:lnTo>
                    <a:pt x="2067" y="4"/>
                  </a:lnTo>
                  <a:lnTo>
                    <a:pt x="2019" y="1"/>
                  </a:lnTo>
                  <a:lnTo>
                    <a:pt x="1971" y="0"/>
                  </a:lnTo>
                  <a:lnTo>
                    <a:pt x="1941" y="0"/>
                  </a:lnTo>
                  <a:lnTo>
                    <a:pt x="1913" y="1"/>
                  </a:lnTo>
                  <a:lnTo>
                    <a:pt x="1884" y="4"/>
                  </a:lnTo>
                  <a:lnTo>
                    <a:pt x="1856" y="6"/>
                  </a:lnTo>
                  <a:lnTo>
                    <a:pt x="1829" y="8"/>
                  </a:lnTo>
                  <a:lnTo>
                    <a:pt x="1800" y="13"/>
                  </a:lnTo>
                  <a:lnTo>
                    <a:pt x="1746" y="23"/>
                  </a:lnTo>
                  <a:lnTo>
                    <a:pt x="1691" y="34"/>
                  </a:lnTo>
                  <a:lnTo>
                    <a:pt x="1638" y="50"/>
                  </a:lnTo>
                  <a:lnTo>
                    <a:pt x="1587" y="68"/>
                  </a:lnTo>
                  <a:lnTo>
                    <a:pt x="1536" y="88"/>
                  </a:lnTo>
                  <a:lnTo>
                    <a:pt x="1487" y="110"/>
                  </a:lnTo>
                  <a:lnTo>
                    <a:pt x="1438" y="135"/>
                  </a:lnTo>
                  <a:lnTo>
                    <a:pt x="1392" y="161"/>
                  </a:lnTo>
                  <a:lnTo>
                    <a:pt x="1347" y="191"/>
                  </a:lnTo>
                  <a:lnTo>
                    <a:pt x="1303" y="221"/>
                  </a:lnTo>
                  <a:lnTo>
                    <a:pt x="1260" y="255"/>
                  </a:lnTo>
                  <a:lnTo>
                    <a:pt x="1220" y="290"/>
                  </a:lnTo>
                  <a:lnTo>
                    <a:pt x="1181" y="327"/>
                  </a:lnTo>
                  <a:lnTo>
                    <a:pt x="1144" y="366"/>
                  </a:lnTo>
                  <a:lnTo>
                    <a:pt x="1109" y="406"/>
                  </a:lnTo>
                  <a:lnTo>
                    <a:pt x="1076" y="448"/>
                  </a:lnTo>
                  <a:lnTo>
                    <a:pt x="1045" y="491"/>
                  </a:lnTo>
                  <a:lnTo>
                    <a:pt x="1016" y="538"/>
                  </a:lnTo>
                  <a:lnTo>
                    <a:pt x="989" y="584"/>
                  </a:lnTo>
                  <a:lnTo>
                    <a:pt x="964" y="632"/>
                  </a:lnTo>
                  <a:lnTo>
                    <a:pt x="942" y="681"/>
                  </a:lnTo>
                  <a:lnTo>
                    <a:pt x="922" y="732"/>
                  </a:lnTo>
                  <a:lnTo>
                    <a:pt x="905" y="784"/>
                  </a:lnTo>
                  <a:lnTo>
                    <a:pt x="890" y="837"/>
                  </a:lnTo>
                  <a:lnTo>
                    <a:pt x="877" y="890"/>
                  </a:lnTo>
                  <a:lnTo>
                    <a:pt x="867" y="946"/>
                  </a:lnTo>
                  <a:lnTo>
                    <a:pt x="864" y="973"/>
                  </a:lnTo>
                  <a:lnTo>
                    <a:pt x="860" y="1002"/>
                  </a:lnTo>
                  <a:lnTo>
                    <a:pt x="858" y="1030"/>
                  </a:lnTo>
                  <a:lnTo>
                    <a:pt x="855" y="1059"/>
                  </a:lnTo>
                  <a:lnTo>
                    <a:pt x="855" y="1087"/>
                  </a:lnTo>
                  <a:lnTo>
                    <a:pt x="854" y="1115"/>
                  </a:lnTo>
                  <a:lnTo>
                    <a:pt x="855" y="1150"/>
                  </a:lnTo>
                  <a:lnTo>
                    <a:pt x="857" y="1183"/>
                  </a:lnTo>
                  <a:lnTo>
                    <a:pt x="860" y="1216"/>
                  </a:lnTo>
                  <a:lnTo>
                    <a:pt x="864" y="1250"/>
                  </a:lnTo>
                  <a:lnTo>
                    <a:pt x="845" y="1249"/>
                  </a:lnTo>
                  <a:lnTo>
                    <a:pt x="801" y="1250"/>
                  </a:lnTo>
                  <a:lnTo>
                    <a:pt x="758" y="1253"/>
                  </a:lnTo>
                  <a:lnTo>
                    <a:pt x="716" y="1259"/>
                  </a:lnTo>
                  <a:lnTo>
                    <a:pt x="674" y="1266"/>
                  </a:lnTo>
                  <a:lnTo>
                    <a:pt x="633" y="1275"/>
                  </a:lnTo>
                  <a:lnTo>
                    <a:pt x="594" y="1287"/>
                  </a:lnTo>
                  <a:lnTo>
                    <a:pt x="555" y="1300"/>
                  </a:lnTo>
                  <a:lnTo>
                    <a:pt x="515" y="1316"/>
                  </a:lnTo>
                  <a:lnTo>
                    <a:pt x="479" y="1332"/>
                  </a:lnTo>
                  <a:lnTo>
                    <a:pt x="442" y="1351"/>
                  </a:lnTo>
                  <a:lnTo>
                    <a:pt x="407" y="1371"/>
                  </a:lnTo>
                  <a:lnTo>
                    <a:pt x="372" y="1393"/>
                  </a:lnTo>
                  <a:lnTo>
                    <a:pt x="339" y="1416"/>
                  </a:lnTo>
                  <a:lnTo>
                    <a:pt x="307" y="1441"/>
                  </a:lnTo>
                  <a:lnTo>
                    <a:pt x="277" y="1468"/>
                  </a:lnTo>
                  <a:lnTo>
                    <a:pt x="248" y="1496"/>
                  </a:lnTo>
                  <a:lnTo>
                    <a:pt x="219" y="1525"/>
                  </a:lnTo>
                  <a:lnTo>
                    <a:pt x="193" y="1556"/>
                  </a:lnTo>
                  <a:lnTo>
                    <a:pt x="169" y="1588"/>
                  </a:lnTo>
                  <a:lnTo>
                    <a:pt x="145" y="1621"/>
                  </a:lnTo>
                  <a:lnTo>
                    <a:pt x="122" y="1655"/>
                  </a:lnTo>
                  <a:lnTo>
                    <a:pt x="102" y="1690"/>
                  </a:lnTo>
                  <a:lnTo>
                    <a:pt x="83" y="1726"/>
                  </a:lnTo>
                  <a:lnTo>
                    <a:pt x="67" y="1764"/>
                  </a:lnTo>
                  <a:lnTo>
                    <a:pt x="51" y="1802"/>
                  </a:lnTo>
                  <a:lnTo>
                    <a:pt x="38" y="1841"/>
                  </a:lnTo>
                  <a:lnTo>
                    <a:pt x="28" y="1882"/>
                  </a:lnTo>
                  <a:lnTo>
                    <a:pt x="18" y="1923"/>
                  </a:lnTo>
                  <a:lnTo>
                    <a:pt x="10" y="1965"/>
                  </a:lnTo>
                  <a:lnTo>
                    <a:pt x="5" y="2006"/>
                  </a:lnTo>
                  <a:lnTo>
                    <a:pt x="2" y="2049"/>
                  </a:lnTo>
                  <a:lnTo>
                    <a:pt x="0" y="2092"/>
                  </a:lnTo>
                  <a:lnTo>
                    <a:pt x="2" y="2135"/>
                  </a:lnTo>
                  <a:lnTo>
                    <a:pt x="5" y="2176"/>
                  </a:lnTo>
                  <a:lnTo>
                    <a:pt x="10" y="2217"/>
                  </a:lnTo>
                  <a:lnTo>
                    <a:pt x="17" y="2257"/>
                  </a:lnTo>
                  <a:lnTo>
                    <a:pt x="25" y="2297"/>
                  </a:lnTo>
                  <a:lnTo>
                    <a:pt x="36" y="2336"/>
                  </a:lnTo>
                  <a:lnTo>
                    <a:pt x="49" y="2374"/>
                  </a:lnTo>
                  <a:lnTo>
                    <a:pt x="63" y="2411"/>
                  </a:lnTo>
                  <a:lnTo>
                    <a:pt x="79" y="2448"/>
                  </a:lnTo>
                  <a:lnTo>
                    <a:pt x="96" y="2483"/>
                  </a:lnTo>
                  <a:lnTo>
                    <a:pt x="115" y="2517"/>
                  </a:lnTo>
                  <a:lnTo>
                    <a:pt x="137" y="2552"/>
                  </a:lnTo>
                  <a:lnTo>
                    <a:pt x="159" y="2584"/>
                  </a:lnTo>
                  <a:lnTo>
                    <a:pt x="183" y="2615"/>
                  </a:lnTo>
                  <a:lnTo>
                    <a:pt x="208" y="2645"/>
                  </a:lnTo>
                  <a:lnTo>
                    <a:pt x="234" y="2674"/>
                  </a:lnTo>
                  <a:lnTo>
                    <a:pt x="262" y="2702"/>
                  </a:lnTo>
                  <a:lnTo>
                    <a:pt x="290" y="2728"/>
                  </a:lnTo>
                  <a:lnTo>
                    <a:pt x="321" y="2753"/>
                  </a:lnTo>
                  <a:lnTo>
                    <a:pt x="352" y="2777"/>
                  </a:lnTo>
                  <a:lnTo>
                    <a:pt x="385" y="2799"/>
                  </a:lnTo>
                  <a:lnTo>
                    <a:pt x="418" y="2819"/>
                  </a:lnTo>
                  <a:lnTo>
                    <a:pt x="453" y="2840"/>
                  </a:lnTo>
                  <a:lnTo>
                    <a:pt x="488" y="2856"/>
                  </a:lnTo>
                  <a:lnTo>
                    <a:pt x="525" y="2873"/>
                  </a:lnTo>
                  <a:lnTo>
                    <a:pt x="563" y="2887"/>
                  </a:lnTo>
                  <a:lnTo>
                    <a:pt x="601" y="2899"/>
                  </a:lnTo>
                  <a:lnTo>
                    <a:pt x="640" y="2909"/>
                  </a:lnTo>
                  <a:lnTo>
                    <a:pt x="679" y="2919"/>
                  </a:lnTo>
                  <a:lnTo>
                    <a:pt x="719" y="2926"/>
                  </a:lnTo>
                  <a:lnTo>
                    <a:pt x="761" y="2931"/>
                  </a:lnTo>
                  <a:lnTo>
                    <a:pt x="802" y="2934"/>
                  </a:lnTo>
                  <a:lnTo>
                    <a:pt x="802" y="2936"/>
                  </a:lnTo>
                  <a:lnTo>
                    <a:pt x="4682" y="2936"/>
                  </a:lnTo>
                  <a:lnTo>
                    <a:pt x="4682" y="2933"/>
                  </a:lnTo>
                  <a:lnTo>
                    <a:pt x="4693" y="2934"/>
                  </a:lnTo>
                  <a:lnTo>
                    <a:pt x="4706" y="2936"/>
                  </a:lnTo>
                  <a:lnTo>
                    <a:pt x="4740" y="2936"/>
                  </a:lnTo>
                  <a:lnTo>
                    <a:pt x="4772" y="2933"/>
                  </a:lnTo>
                  <a:lnTo>
                    <a:pt x="4804" y="2928"/>
                  </a:lnTo>
                  <a:lnTo>
                    <a:pt x="4836" y="2922"/>
                  </a:lnTo>
                  <a:lnTo>
                    <a:pt x="4866" y="2915"/>
                  </a:lnTo>
                  <a:lnTo>
                    <a:pt x="4896" y="2907"/>
                  </a:lnTo>
                  <a:lnTo>
                    <a:pt x="4926" y="2898"/>
                  </a:lnTo>
                  <a:lnTo>
                    <a:pt x="4955" y="2886"/>
                  </a:lnTo>
                  <a:lnTo>
                    <a:pt x="4984" y="2873"/>
                  </a:lnTo>
                  <a:lnTo>
                    <a:pt x="5011" y="2859"/>
                  </a:lnTo>
                  <a:lnTo>
                    <a:pt x="5038" y="2843"/>
                  </a:lnTo>
                  <a:lnTo>
                    <a:pt x="5063" y="2827"/>
                  </a:lnTo>
                  <a:lnTo>
                    <a:pt x="5089" y="2809"/>
                  </a:lnTo>
                  <a:lnTo>
                    <a:pt x="5113" y="2790"/>
                  </a:lnTo>
                  <a:lnTo>
                    <a:pt x="5135" y="2770"/>
                  </a:lnTo>
                  <a:lnTo>
                    <a:pt x="5158" y="2748"/>
                  </a:lnTo>
                  <a:lnTo>
                    <a:pt x="5179" y="2727"/>
                  </a:lnTo>
                  <a:lnTo>
                    <a:pt x="5199" y="2703"/>
                  </a:lnTo>
                  <a:lnTo>
                    <a:pt x="5218" y="2680"/>
                  </a:lnTo>
                  <a:lnTo>
                    <a:pt x="5236" y="2655"/>
                  </a:lnTo>
                  <a:lnTo>
                    <a:pt x="5252" y="2629"/>
                  </a:lnTo>
                  <a:lnTo>
                    <a:pt x="5268" y="2602"/>
                  </a:lnTo>
                  <a:lnTo>
                    <a:pt x="5282" y="2574"/>
                  </a:lnTo>
                  <a:lnTo>
                    <a:pt x="5295" y="2546"/>
                  </a:lnTo>
                  <a:lnTo>
                    <a:pt x="5306" y="2517"/>
                  </a:lnTo>
                  <a:lnTo>
                    <a:pt x="5316" y="2488"/>
                  </a:lnTo>
                  <a:lnTo>
                    <a:pt x="5325" y="2457"/>
                  </a:lnTo>
                  <a:lnTo>
                    <a:pt x="5332" y="2426"/>
                  </a:lnTo>
                  <a:lnTo>
                    <a:pt x="5338" y="2394"/>
                  </a:lnTo>
                  <a:lnTo>
                    <a:pt x="5341" y="2362"/>
                  </a:lnTo>
                  <a:lnTo>
                    <a:pt x="5344" y="2330"/>
                  </a:lnTo>
                  <a:lnTo>
                    <a:pt x="5345" y="2297"/>
                  </a:lnTo>
                  <a:lnTo>
                    <a:pt x="5344" y="2265"/>
                  </a:lnTo>
                  <a:lnTo>
                    <a:pt x="5341" y="2233"/>
                  </a:lnTo>
                  <a:lnTo>
                    <a:pt x="5338" y="2203"/>
                  </a:lnTo>
                  <a:lnTo>
                    <a:pt x="5333" y="2172"/>
                  </a:lnTo>
                  <a:lnTo>
                    <a:pt x="5326" y="2141"/>
                  </a:lnTo>
                  <a:lnTo>
                    <a:pt x="5318" y="2111"/>
                  </a:lnTo>
                  <a:lnTo>
                    <a:pt x="5308" y="2083"/>
                  </a:lnTo>
                  <a:lnTo>
                    <a:pt x="5296" y="2054"/>
                  </a:lnTo>
                  <a:lnTo>
                    <a:pt x="5284" y="2026"/>
                  </a:lnTo>
                  <a:lnTo>
                    <a:pt x="5271" y="2000"/>
                  </a:lnTo>
                  <a:lnTo>
                    <a:pt x="5256" y="1974"/>
                  </a:lnTo>
                  <a:lnTo>
                    <a:pt x="5241" y="1948"/>
                  </a:lnTo>
                  <a:lnTo>
                    <a:pt x="5223" y="1923"/>
                  </a:lnTo>
                  <a:lnTo>
                    <a:pt x="5205" y="1899"/>
                  </a:lnTo>
                  <a:lnTo>
                    <a:pt x="5185" y="1877"/>
                  </a:lnTo>
                  <a:lnTo>
                    <a:pt x="5165" y="1854"/>
                  </a:lnTo>
                  <a:lnTo>
                    <a:pt x="5143" y="1834"/>
                  </a:lnTo>
                  <a:lnTo>
                    <a:pt x="5121" y="1814"/>
                  </a:lnTo>
                  <a:lnTo>
                    <a:pt x="5098" y="1795"/>
                  </a:lnTo>
                  <a:lnTo>
                    <a:pt x="5074" y="1777"/>
                  </a:lnTo>
                  <a:lnTo>
                    <a:pt x="5049" y="1761"/>
                  </a:lnTo>
                  <a:lnTo>
                    <a:pt x="5023" y="1745"/>
                  </a:lnTo>
                  <a:lnTo>
                    <a:pt x="4997" y="1731"/>
                  </a:lnTo>
                  <a:lnTo>
                    <a:pt x="4969" y="1717"/>
                  </a:lnTo>
                  <a:lnTo>
                    <a:pt x="4941" y="1706"/>
                  </a:lnTo>
                  <a:lnTo>
                    <a:pt x="4913" y="1696"/>
                  </a:lnTo>
                  <a:lnTo>
                    <a:pt x="4883" y="1686"/>
                  </a:lnTo>
                  <a:lnTo>
                    <a:pt x="4853" y="1678"/>
                  </a:lnTo>
                  <a:lnTo>
                    <a:pt x="4823" y="1672"/>
                  </a:lnTo>
                  <a:lnTo>
                    <a:pt x="4792" y="1667"/>
                  </a:lnTo>
                  <a:lnTo>
                    <a:pt x="4761" y="1664"/>
                  </a:lnTo>
                  <a:lnTo>
                    <a:pt x="4729" y="1661"/>
                  </a:lnTo>
                  <a:close/>
                </a:path>
              </a:pathLst>
            </a:custGeom>
            <a:solidFill>
              <a:schemeClr val="bg1">
                <a:lumMod val="95000"/>
              </a:schemeClr>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a:contourClr>
                  <a:srgbClr val="FFFFFF"/>
                </a:contourClr>
              </a:sp3d>
            </a:bodyPr>
            <a:p>
              <a:pPr marL="0" marR="0" lvl="0" indent="0" algn="ctr" defTabSz="685165"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accent1">
                    <a:lumMod val="75000"/>
                  </a:schemeClr>
                </a:solidFill>
                <a:effectLst/>
                <a:uLnTx/>
                <a:uFillTx/>
                <a:latin typeface="+mn-lt"/>
                <a:ea typeface="+mn-ea"/>
                <a:cs typeface="+mn-cs"/>
              </a:endParaRPr>
            </a:p>
          </p:txBody>
        </p:sp>
        <p:sp>
          <p:nvSpPr>
            <p:cNvPr id="12298" name="文本框 56"/>
            <p:cNvSpPr txBox="1"/>
            <p:nvPr/>
          </p:nvSpPr>
          <p:spPr>
            <a:xfrm>
              <a:off x="4507816" y="864629"/>
              <a:ext cx="433973" cy="460079"/>
            </a:xfrm>
            <a:prstGeom prst="rect">
              <a:avLst/>
            </a:prstGeom>
            <a:noFill/>
            <a:ln w="9525">
              <a:noFill/>
            </a:ln>
          </p:spPr>
          <p:txBody>
            <a:bodyPr anchor="t">
              <a:spAutoFit/>
            </a:bodyPr>
            <a:p>
              <a:pPr defTabSz="685800"/>
              <a:r>
                <a:rPr lang="en-US" altLang="zh-CN" sz="2400" dirty="0">
                  <a:solidFill>
                    <a:srgbClr val="26323E"/>
                  </a:solidFill>
                  <a:latin typeface="Arial" panose="020B0604020202020204" pitchFamily="34" charset="0"/>
                  <a:ea typeface="微软雅黑" panose="020B0503020204020204" charset="-122"/>
                </a:rPr>
                <a:t>1</a:t>
              </a:r>
              <a:endParaRPr lang="en-US" altLang="zh-CN" sz="2400" dirty="0">
                <a:solidFill>
                  <a:srgbClr val="26323E"/>
                </a:solidFill>
                <a:latin typeface="Arial" panose="020B0604020202020204" pitchFamily="34" charset="0"/>
                <a:ea typeface="微软雅黑" panose="020B0503020204020204" charset="-122"/>
              </a:endParaRPr>
            </a:p>
          </p:txBody>
        </p:sp>
      </p:grpSp>
      <p:grpSp>
        <p:nvGrpSpPr>
          <p:cNvPr id="30" name="组合 29"/>
          <p:cNvGrpSpPr/>
          <p:nvPr/>
        </p:nvGrpSpPr>
        <p:grpSpPr>
          <a:xfrm>
            <a:off x="5147945" y="3599498"/>
            <a:ext cx="741363" cy="460375"/>
            <a:chOff x="4353620" y="864629"/>
            <a:chExt cx="742365" cy="460079"/>
          </a:xfrm>
        </p:grpSpPr>
        <p:sp>
          <p:nvSpPr>
            <p:cNvPr id="31" name="KSO_Shape"/>
            <p:cNvSpPr/>
            <p:nvPr/>
          </p:nvSpPr>
          <p:spPr bwMode="auto">
            <a:xfrm>
              <a:off x="4353620" y="866215"/>
              <a:ext cx="742365" cy="407726"/>
            </a:xfrm>
            <a:custGeom>
              <a:avLst/>
              <a:gdLst>
                <a:gd name="T0" fmla="*/ 2147483646 w 5345"/>
                <a:gd name="T1" fmla="*/ 2147483646 h 2936"/>
                <a:gd name="T2" fmla="*/ 2147483646 w 5345"/>
                <a:gd name="T3" fmla="*/ 2147483646 h 2936"/>
                <a:gd name="T4" fmla="*/ 2147483646 w 5345"/>
                <a:gd name="T5" fmla="*/ 2147483646 h 2936"/>
                <a:gd name="T6" fmla="*/ 2147483646 w 5345"/>
                <a:gd name="T7" fmla="*/ 2147483646 h 2936"/>
                <a:gd name="T8" fmla="*/ 2147483646 w 5345"/>
                <a:gd name="T9" fmla="*/ 2147483646 h 2936"/>
                <a:gd name="T10" fmla="*/ 2147483646 w 5345"/>
                <a:gd name="T11" fmla="*/ 2147483646 h 2936"/>
                <a:gd name="T12" fmla="*/ 2147483646 w 5345"/>
                <a:gd name="T13" fmla="*/ 2147483646 h 2936"/>
                <a:gd name="T14" fmla="*/ 2147483646 w 5345"/>
                <a:gd name="T15" fmla="*/ 2147483646 h 2936"/>
                <a:gd name="T16" fmla="*/ 2147483646 w 5345"/>
                <a:gd name="T17" fmla="*/ 2147483646 h 2936"/>
                <a:gd name="T18" fmla="*/ 2147483646 w 5345"/>
                <a:gd name="T19" fmla="*/ 2147483646 h 2936"/>
                <a:gd name="T20" fmla="*/ 2147483646 w 5345"/>
                <a:gd name="T21" fmla="*/ 2147483646 h 2936"/>
                <a:gd name="T22" fmla="*/ 2147483646 w 5345"/>
                <a:gd name="T23" fmla="*/ 2147483646 h 2936"/>
                <a:gd name="T24" fmla="*/ 2147483646 w 5345"/>
                <a:gd name="T25" fmla="*/ 2147483646 h 2936"/>
                <a:gd name="T26" fmla="*/ 2147483646 w 5345"/>
                <a:gd name="T27" fmla="*/ 2147483646 h 2936"/>
                <a:gd name="T28" fmla="*/ 2147483646 w 5345"/>
                <a:gd name="T29" fmla="*/ 2147483646 h 2936"/>
                <a:gd name="T30" fmla="*/ 2147483646 w 5345"/>
                <a:gd name="T31" fmla="*/ 772639970 h 2936"/>
                <a:gd name="T32" fmla="*/ 2147483646 w 5345"/>
                <a:gd name="T33" fmla="*/ 0 h 2936"/>
                <a:gd name="T34" fmla="*/ 2147483646 w 5345"/>
                <a:gd name="T35" fmla="*/ 363587807 h 2936"/>
                <a:gd name="T36" fmla="*/ 2147483646 w 5345"/>
                <a:gd name="T37" fmla="*/ 2147483646 h 2936"/>
                <a:gd name="T38" fmla="*/ 2147483646 w 5345"/>
                <a:gd name="T39" fmla="*/ 2147483646 h 2936"/>
                <a:gd name="T40" fmla="*/ 2147483646 w 5345"/>
                <a:gd name="T41" fmla="*/ 2147483646 h 2936"/>
                <a:gd name="T42" fmla="*/ 2147483646 w 5345"/>
                <a:gd name="T43" fmla="*/ 2147483646 h 2936"/>
                <a:gd name="T44" fmla="*/ 2147483646 w 5345"/>
                <a:gd name="T45" fmla="*/ 2147483646 h 2936"/>
                <a:gd name="T46" fmla="*/ 2147483646 w 5345"/>
                <a:gd name="T47" fmla="*/ 2147483646 h 2936"/>
                <a:gd name="T48" fmla="*/ 2147483646 w 5345"/>
                <a:gd name="T49" fmla="*/ 2147483646 h 2936"/>
                <a:gd name="T50" fmla="*/ 2147483646 w 5345"/>
                <a:gd name="T51" fmla="*/ 2147483646 h 2936"/>
                <a:gd name="T52" fmla="*/ 2147483646 w 5345"/>
                <a:gd name="T53" fmla="*/ 2147483646 h 2936"/>
                <a:gd name="T54" fmla="*/ 2147483646 w 5345"/>
                <a:gd name="T55" fmla="*/ 2147483646 h 2936"/>
                <a:gd name="T56" fmla="*/ 2147483646 w 5345"/>
                <a:gd name="T57" fmla="*/ 2147483646 h 2936"/>
                <a:gd name="T58" fmla="*/ 2147483646 w 5345"/>
                <a:gd name="T59" fmla="*/ 2147483646 h 2936"/>
                <a:gd name="T60" fmla="*/ 2147483646 w 5345"/>
                <a:gd name="T61" fmla="*/ 2147483646 h 2936"/>
                <a:gd name="T62" fmla="*/ 452722804 w 5345"/>
                <a:gd name="T63" fmla="*/ 2147483646 h 2936"/>
                <a:gd name="T64" fmla="*/ 90570008 w 5345"/>
                <a:gd name="T65" fmla="*/ 2147483646 h 2936"/>
                <a:gd name="T66" fmla="*/ 1629877726 w 5345"/>
                <a:gd name="T67" fmla="*/ 2147483646 h 2936"/>
                <a:gd name="T68" fmla="*/ 2147483646 w 5345"/>
                <a:gd name="T69" fmla="*/ 2147483646 h 2936"/>
                <a:gd name="T70" fmla="*/ 2147483646 w 5345"/>
                <a:gd name="T71" fmla="*/ 2147483646 h 2936"/>
                <a:gd name="T72" fmla="*/ 2147483646 w 5345"/>
                <a:gd name="T73" fmla="*/ 2147483646 h 2936"/>
                <a:gd name="T74" fmla="*/ 2147483646 w 5345"/>
                <a:gd name="T75" fmla="*/ 2147483646 h 2936"/>
                <a:gd name="T76" fmla="*/ 2147483646 w 5345"/>
                <a:gd name="T77" fmla="*/ 2147483646 h 2936"/>
                <a:gd name="T78" fmla="*/ 2147483646 w 5345"/>
                <a:gd name="T79" fmla="*/ 2147483646 h 2936"/>
                <a:gd name="T80" fmla="*/ 2147483646 w 5345"/>
                <a:gd name="T81" fmla="*/ 2147483646 h 2936"/>
                <a:gd name="T82" fmla="*/ 2147483646 w 5345"/>
                <a:gd name="T83" fmla="*/ 2147483646 h 2936"/>
                <a:gd name="T84" fmla="*/ 2147483646 w 5345"/>
                <a:gd name="T85" fmla="*/ 2147483646 h 2936"/>
                <a:gd name="T86" fmla="*/ 2147483646 w 5345"/>
                <a:gd name="T87" fmla="*/ 2147483646 h 2936"/>
                <a:gd name="T88" fmla="*/ 2147483646 w 5345"/>
                <a:gd name="T89" fmla="*/ 2147483646 h 2936"/>
                <a:gd name="T90" fmla="*/ 2147483646 w 5345"/>
                <a:gd name="T91" fmla="*/ 2147483646 h 2936"/>
                <a:gd name="T92" fmla="*/ 2147483646 w 5345"/>
                <a:gd name="T93" fmla="*/ 2147483646 h 2936"/>
                <a:gd name="T94" fmla="*/ 2147483646 w 5345"/>
                <a:gd name="T95" fmla="*/ 2147483646 h 2936"/>
                <a:gd name="T96" fmla="*/ 2147483646 w 5345"/>
                <a:gd name="T97" fmla="*/ 2147483646 h 2936"/>
                <a:gd name="T98" fmla="*/ 2147483646 w 5345"/>
                <a:gd name="T99" fmla="*/ 2147483646 h 2936"/>
                <a:gd name="T100" fmla="*/ 2147483646 w 5345"/>
                <a:gd name="T101" fmla="*/ 2147483646 h 2936"/>
                <a:gd name="T102" fmla="*/ 2147483646 w 5345"/>
                <a:gd name="T103" fmla="*/ 2147483646 h 2936"/>
                <a:gd name="T104" fmla="*/ 2147483646 w 5345"/>
                <a:gd name="T105" fmla="*/ 2147483646 h 29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345" h="2936">
                  <a:moveTo>
                    <a:pt x="4729" y="1661"/>
                  </a:moveTo>
                  <a:lnTo>
                    <a:pt x="4729" y="1661"/>
                  </a:lnTo>
                  <a:lnTo>
                    <a:pt x="4723" y="1609"/>
                  </a:lnTo>
                  <a:lnTo>
                    <a:pt x="4716" y="1558"/>
                  </a:lnTo>
                  <a:lnTo>
                    <a:pt x="4706" y="1507"/>
                  </a:lnTo>
                  <a:lnTo>
                    <a:pt x="4693" y="1458"/>
                  </a:lnTo>
                  <a:lnTo>
                    <a:pt x="4679" y="1409"/>
                  </a:lnTo>
                  <a:lnTo>
                    <a:pt x="4663" y="1361"/>
                  </a:lnTo>
                  <a:lnTo>
                    <a:pt x="4644" y="1314"/>
                  </a:lnTo>
                  <a:lnTo>
                    <a:pt x="4622" y="1268"/>
                  </a:lnTo>
                  <a:lnTo>
                    <a:pt x="4600" y="1223"/>
                  </a:lnTo>
                  <a:lnTo>
                    <a:pt x="4575" y="1181"/>
                  </a:lnTo>
                  <a:lnTo>
                    <a:pt x="4548" y="1138"/>
                  </a:lnTo>
                  <a:lnTo>
                    <a:pt x="4519" y="1098"/>
                  </a:lnTo>
                  <a:lnTo>
                    <a:pt x="4489" y="1059"/>
                  </a:lnTo>
                  <a:lnTo>
                    <a:pt x="4457" y="1021"/>
                  </a:lnTo>
                  <a:lnTo>
                    <a:pt x="4422" y="984"/>
                  </a:lnTo>
                  <a:lnTo>
                    <a:pt x="4387" y="950"/>
                  </a:lnTo>
                  <a:lnTo>
                    <a:pt x="4350" y="917"/>
                  </a:lnTo>
                  <a:lnTo>
                    <a:pt x="4312" y="886"/>
                  </a:lnTo>
                  <a:lnTo>
                    <a:pt x="4272" y="856"/>
                  </a:lnTo>
                  <a:lnTo>
                    <a:pt x="4230" y="828"/>
                  </a:lnTo>
                  <a:lnTo>
                    <a:pt x="4188" y="802"/>
                  </a:lnTo>
                  <a:lnTo>
                    <a:pt x="4144" y="778"/>
                  </a:lnTo>
                  <a:lnTo>
                    <a:pt x="4099" y="757"/>
                  </a:lnTo>
                  <a:lnTo>
                    <a:pt x="4053" y="737"/>
                  </a:lnTo>
                  <a:lnTo>
                    <a:pt x="4005" y="719"/>
                  </a:lnTo>
                  <a:lnTo>
                    <a:pt x="3957" y="703"/>
                  </a:lnTo>
                  <a:lnTo>
                    <a:pt x="3907" y="689"/>
                  </a:lnTo>
                  <a:lnTo>
                    <a:pt x="3857" y="679"/>
                  </a:lnTo>
                  <a:lnTo>
                    <a:pt x="3806" y="670"/>
                  </a:lnTo>
                  <a:lnTo>
                    <a:pt x="3754" y="663"/>
                  </a:lnTo>
                  <a:lnTo>
                    <a:pt x="3701" y="660"/>
                  </a:lnTo>
                  <a:lnTo>
                    <a:pt x="3648" y="658"/>
                  </a:lnTo>
                  <a:lnTo>
                    <a:pt x="3608" y="660"/>
                  </a:lnTo>
                  <a:lnTo>
                    <a:pt x="3566" y="661"/>
                  </a:lnTo>
                  <a:lnTo>
                    <a:pt x="3526" y="665"/>
                  </a:lnTo>
                  <a:lnTo>
                    <a:pt x="3486" y="670"/>
                  </a:lnTo>
                  <a:lnTo>
                    <a:pt x="3446" y="677"/>
                  </a:lnTo>
                  <a:lnTo>
                    <a:pt x="3407" y="686"/>
                  </a:lnTo>
                  <a:lnTo>
                    <a:pt x="3368" y="695"/>
                  </a:lnTo>
                  <a:lnTo>
                    <a:pt x="3330" y="706"/>
                  </a:lnTo>
                  <a:lnTo>
                    <a:pt x="3294" y="718"/>
                  </a:lnTo>
                  <a:lnTo>
                    <a:pt x="3257" y="732"/>
                  </a:lnTo>
                  <a:lnTo>
                    <a:pt x="3220" y="746"/>
                  </a:lnTo>
                  <a:lnTo>
                    <a:pt x="3185" y="763"/>
                  </a:lnTo>
                  <a:lnTo>
                    <a:pt x="3150" y="779"/>
                  </a:lnTo>
                  <a:lnTo>
                    <a:pt x="3116" y="798"/>
                  </a:lnTo>
                  <a:lnTo>
                    <a:pt x="3083" y="817"/>
                  </a:lnTo>
                  <a:lnTo>
                    <a:pt x="3050" y="838"/>
                  </a:lnTo>
                  <a:lnTo>
                    <a:pt x="3038" y="793"/>
                  </a:lnTo>
                  <a:lnTo>
                    <a:pt x="3024" y="750"/>
                  </a:lnTo>
                  <a:lnTo>
                    <a:pt x="3007" y="707"/>
                  </a:lnTo>
                  <a:lnTo>
                    <a:pt x="2989" y="664"/>
                  </a:lnTo>
                  <a:lnTo>
                    <a:pt x="2970" y="623"/>
                  </a:lnTo>
                  <a:lnTo>
                    <a:pt x="2949" y="583"/>
                  </a:lnTo>
                  <a:lnTo>
                    <a:pt x="2927" y="542"/>
                  </a:lnTo>
                  <a:lnTo>
                    <a:pt x="2903" y="504"/>
                  </a:lnTo>
                  <a:lnTo>
                    <a:pt x="2877" y="467"/>
                  </a:lnTo>
                  <a:lnTo>
                    <a:pt x="2850" y="430"/>
                  </a:lnTo>
                  <a:lnTo>
                    <a:pt x="2821" y="396"/>
                  </a:lnTo>
                  <a:lnTo>
                    <a:pt x="2792" y="361"/>
                  </a:lnTo>
                  <a:lnTo>
                    <a:pt x="2761" y="329"/>
                  </a:lnTo>
                  <a:lnTo>
                    <a:pt x="2728" y="297"/>
                  </a:lnTo>
                  <a:lnTo>
                    <a:pt x="2694" y="268"/>
                  </a:lnTo>
                  <a:lnTo>
                    <a:pt x="2659" y="238"/>
                  </a:lnTo>
                  <a:lnTo>
                    <a:pt x="2623" y="211"/>
                  </a:lnTo>
                  <a:lnTo>
                    <a:pt x="2586" y="185"/>
                  </a:lnTo>
                  <a:lnTo>
                    <a:pt x="2548" y="161"/>
                  </a:lnTo>
                  <a:lnTo>
                    <a:pt x="2509" y="139"/>
                  </a:lnTo>
                  <a:lnTo>
                    <a:pt x="2468" y="117"/>
                  </a:lnTo>
                  <a:lnTo>
                    <a:pt x="2427" y="97"/>
                  </a:lnTo>
                  <a:lnTo>
                    <a:pt x="2384" y="79"/>
                  </a:lnTo>
                  <a:lnTo>
                    <a:pt x="2342" y="63"/>
                  </a:lnTo>
                  <a:lnTo>
                    <a:pt x="2298" y="49"/>
                  </a:lnTo>
                  <a:lnTo>
                    <a:pt x="2253" y="36"/>
                  </a:lnTo>
                  <a:lnTo>
                    <a:pt x="2208" y="25"/>
                  </a:lnTo>
                  <a:lnTo>
                    <a:pt x="2162" y="17"/>
                  </a:lnTo>
                  <a:lnTo>
                    <a:pt x="2114" y="9"/>
                  </a:lnTo>
                  <a:lnTo>
                    <a:pt x="2067" y="4"/>
                  </a:lnTo>
                  <a:lnTo>
                    <a:pt x="2019" y="1"/>
                  </a:lnTo>
                  <a:lnTo>
                    <a:pt x="1971" y="0"/>
                  </a:lnTo>
                  <a:lnTo>
                    <a:pt x="1941" y="0"/>
                  </a:lnTo>
                  <a:lnTo>
                    <a:pt x="1913" y="1"/>
                  </a:lnTo>
                  <a:lnTo>
                    <a:pt x="1884" y="4"/>
                  </a:lnTo>
                  <a:lnTo>
                    <a:pt x="1856" y="6"/>
                  </a:lnTo>
                  <a:lnTo>
                    <a:pt x="1829" y="8"/>
                  </a:lnTo>
                  <a:lnTo>
                    <a:pt x="1800" y="13"/>
                  </a:lnTo>
                  <a:lnTo>
                    <a:pt x="1746" y="23"/>
                  </a:lnTo>
                  <a:lnTo>
                    <a:pt x="1691" y="34"/>
                  </a:lnTo>
                  <a:lnTo>
                    <a:pt x="1638" y="50"/>
                  </a:lnTo>
                  <a:lnTo>
                    <a:pt x="1587" y="68"/>
                  </a:lnTo>
                  <a:lnTo>
                    <a:pt x="1536" y="88"/>
                  </a:lnTo>
                  <a:lnTo>
                    <a:pt x="1487" y="110"/>
                  </a:lnTo>
                  <a:lnTo>
                    <a:pt x="1438" y="135"/>
                  </a:lnTo>
                  <a:lnTo>
                    <a:pt x="1392" y="161"/>
                  </a:lnTo>
                  <a:lnTo>
                    <a:pt x="1347" y="191"/>
                  </a:lnTo>
                  <a:lnTo>
                    <a:pt x="1303" y="221"/>
                  </a:lnTo>
                  <a:lnTo>
                    <a:pt x="1260" y="255"/>
                  </a:lnTo>
                  <a:lnTo>
                    <a:pt x="1220" y="290"/>
                  </a:lnTo>
                  <a:lnTo>
                    <a:pt x="1181" y="327"/>
                  </a:lnTo>
                  <a:lnTo>
                    <a:pt x="1144" y="366"/>
                  </a:lnTo>
                  <a:lnTo>
                    <a:pt x="1109" y="406"/>
                  </a:lnTo>
                  <a:lnTo>
                    <a:pt x="1076" y="448"/>
                  </a:lnTo>
                  <a:lnTo>
                    <a:pt x="1045" y="491"/>
                  </a:lnTo>
                  <a:lnTo>
                    <a:pt x="1016" y="538"/>
                  </a:lnTo>
                  <a:lnTo>
                    <a:pt x="989" y="584"/>
                  </a:lnTo>
                  <a:lnTo>
                    <a:pt x="964" y="632"/>
                  </a:lnTo>
                  <a:lnTo>
                    <a:pt x="942" y="681"/>
                  </a:lnTo>
                  <a:lnTo>
                    <a:pt x="922" y="732"/>
                  </a:lnTo>
                  <a:lnTo>
                    <a:pt x="905" y="784"/>
                  </a:lnTo>
                  <a:lnTo>
                    <a:pt x="890" y="837"/>
                  </a:lnTo>
                  <a:lnTo>
                    <a:pt x="877" y="890"/>
                  </a:lnTo>
                  <a:lnTo>
                    <a:pt x="867" y="946"/>
                  </a:lnTo>
                  <a:lnTo>
                    <a:pt x="864" y="973"/>
                  </a:lnTo>
                  <a:lnTo>
                    <a:pt x="860" y="1002"/>
                  </a:lnTo>
                  <a:lnTo>
                    <a:pt x="858" y="1030"/>
                  </a:lnTo>
                  <a:lnTo>
                    <a:pt x="855" y="1059"/>
                  </a:lnTo>
                  <a:lnTo>
                    <a:pt x="855" y="1087"/>
                  </a:lnTo>
                  <a:lnTo>
                    <a:pt x="854" y="1115"/>
                  </a:lnTo>
                  <a:lnTo>
                    <a:pt x="855" y="1150"/>
                  </a:lnTo>
                  <a:lnTo>
                    <a:pt x="857" y="1183"/>
                  </a:lnTo>
                  <a:lnTo>
                    <a:pt x="860" y="1216"/>
                  </a:lnTo>
                  <a:lnTo>
                    <a:pt x="864" y="1250"/>
                  </a:lnTo>
                  <a:lnTo>
                    <a:pt x="845" y="1249"/>
                  </a:lnTo>
                  <a:lnTo>
                    <a:pt x="801" y="1250"/>
                  </a:lnTo>
                  <a:lnTo>
                    <a:pt x="758" y="1253"/>
                  </a:lnTo>
                  <a:lnTo>
                    <a:pt x="716" y="1259"/>
                  </a:lnTo>
                  <a:lnTo>
                    <a:pt x="674" y="1266"/>
                  </a:lnTo>
                  <a:lnTo>
                    <a:pt x="633" y="1275"/>
                  </a:lnTo>
                  <a:lnTo>
                    <a:pt x="594" y="1287"/>
                  </a:lnTo>
                  <a:lnTo>
                    <a:pt x="555" y="1300"/>
                  </a:lnTo>
                  <a:lnTo>
                    <a:pt x="515" y="1316"/>
                  </a:lnTo>
                  <a:lnTo>
                    <a:pt x="479" y="1332"/>
                  </a:lnTo>
                  <a:lnTo>
                    <a:pt x="442" y="1351"/>
                  </a:lnTo>
                  <a:lnTo>
                    <a:pt x="407" y="1371"/>
                  </a:lnTo>
                  <a:lnTo>
                    <a:pt x="372" y="1393"/>
                  </a:lnTo>
                  <a:lnTo>
                    <a:pt x="339" y="1416"/>
                  </a:lnTo>
                  <a:lnTo>
                    <a:pt x="307" y="1441"/>
                  </a:lnTo>
                  <a:lnTo>
                    <a:pt x="277" y="1468"/>
                  </a:lnTo>
                  <a:lnTo>
                    <a:pt x="248" y="1496"/>
                  </a:lnTo>
                  <a:lnTo>
                    <a:pt x="219" y="1525"/>
                  </a:lnTo>
                  <a:lnTo>
                    <a:pt x="193" y="1556"/>
                  </a:lnTo>
                  <a:lnTo>
                    <a:pt x="169" y="1588"/>
                  </a:lnTo>
                  <a:lnTo>
                    <a:pt x="145" y="1621"/>
                  </a:lnTo>
                  <a:lnTo>
                    <a:pt x="122" y="1655"/>
                  </a:lnTo>
                  <a:lnTo>
                    <a:pt x="102" y="1690"/>
                  </a:lnTo>
                  <a:lnTo>
                    <a:pt x="83" y="1726"/>
                  </a:lnTo>
                  <a:lnTo>
                    <a:pt x="67" y="1764"/>
                  </a:lnTo>
                  <a:lnTo>
                    <a:pt x="51" y="1802"/>
                  </a:lnTo>
                  <a:lnTo>
                    <a:pt x="38" y="1841"/>
                  </a:lnTo>
                  <a:lnTo>
                    <a:pt x="28" y="1882"/>
                  </a:lnTo>
                  <a:lnTo>
                    <a:pt x="18" y="1923"/>
                  </a:lnTo>
                  <a:lnTo>
                    <a:pt x="10" y="1965"/>
                  </a:lnTo>
                  <a:lnTo>
                    <a:pt x="5" y="2006"/>
                  </a:lnTo>
                  <a:lnTo>
                    <a:pt x="2" y="2049"/>
                  </a:lnTo>
                  <a:lnTo>
                    <a:pt x="0" y="2092"/>
                  </a:lnTo>
                  <a:lnTo>
                    <a:pt x="2" y="2135"/>
                  </a:lnTo>
                  <a:lnTo>
                    <a:pt x="5" y="2176"/>
                  </a:lnTo>
                  <a:lnTo>
                    <a:pt x="10" y="2217"/>
                  </a:lnTo>
                  <a:lnTo>
                    <a:pt x="17" y="2257"/>
                  </a:lnTo>
                  <a:lnTo>
                    <a:pt x="25" y="2297"/>
                  </a:lnTo>
                  <a:lnTo>
                    <a:pt x="36" y="2336"/>
                  </a:lnTo>
                  <a:lnTo>
                    <a:pt x="49" y="2374"/>
                  </a:lnTo>
                  <a:lnTo>
                    <a:pt x="63" y="2411"/>
                  </a:lnTo>
                  <a:lnTo>
                    <a:pt x="79" y="2448"/>
                  </a:lnTo>
                  <a:lnTo>
                    <a:pt x="96" y="2483"/>
                  </a:lnTo>
                  <a:lnTo>
                    <a:pt x="115" y="2517"/>
                  </a:lnTo>
                  <a:lnTo>
                    <a:pt x="137" y="2552"/>
                  </a:lnTo>
                  <a:lnTo>
                    <a:pt x="159" y="2584"/>
                  </a:lnTo>
                  <a:lnTo>
                    <a:pt x="183" y="2615"/>
                  </a:lnTo>
                  <a:lnTo>
                    <a:pt x="208" y="2645"/>
                  </a:lnTo>
                  <a:lnTo>
                    <a:pt x="234" y="2674"/>
                  </a:lnTo>
                  <a:lnTo>
                    <a:pt x="262" y="2702"/>
                  </a:lnTo>
                  <a:lnTo>
                    <a:pt x="290" y="2728"/>
                  </a:lnTo>
                  <a:lnTo>
                    <a:pt x="321" y="2753"/>
                  </a:lnTo>
                  <a:lnTo>
                    <a:pt x="352" y="2777"/>
                  </a:lnTo>
                  <a:lnTo>
                    <a:pt x="385" y="2799"/>
                  </a:lnTo>
                  <a:lnTo>
                    <a:pt x="418" y="2819"/>
                  </a:lnTo>
                  <a:lnTo>
                    <a:pt x="453" y="2840"/>
                  </a:lnTo>
                  <a:lnTo>
                    <a:pt x="488" y="2856"/>
                  </a:lnTo>
                  <a:lnTo>
                    <a:pt x="525" y="2873"/>
                  </a:lnTo>
                  <a:lnTo>
                    <a:pt x="563" y="2887"/>
                  </a:lnTo>
                  <a:lnTo>
                    <a:pt x="601" y="2899"/>
                  </a:lnTo>
                  <a:lnTo>
                    <a:pt x="640" y="2909"/>
                  </a:lnTo>
                  <a:lnTo>
                    <a:pt x="679" y="2919"/>
                  </a:lnTo>
                  <a:lnTo>
                    <a:pt x="719" y="2926"/>
                  </a:lnTo>
                  <a:lnTo>
                    <a:pt x="761" y="2931"/>
                  </a:lnTo>
                  <a:lnTo>
                    <a:pt x="802" y="2934"/>
                  </a:lnTo>
                  <a:lnTo>
                    <a:pt x="802" y="2936"/>
                  </a:lnTo>
                  <a:lnTo>
                    <a:pt x="4682" y="2936"/>
                  </a:lnTo>
                  <a:lnTo>
                    <a:pt x="4682" y="2933"/>
                  </a:lnTo>
                  <a:lnTo>
                    <a:pt x="4693" y="2934"/>
                  </a:lnTo>
                  <a:lnTo>
                    <a:pt x="4706" y="2936"/>
                  </a:lnTo>
                  <a:lnTo>
                    <a:pt x="4740" y="2936"/>
                  </a:lnTo>
                  <a:lnTo>
                    <a:pt x="4772" y="2933"/>
                  </a:lnTo>
                  <a:lnTo>
                    <a:pt x="4804" y="2928"/>
                  </a:lnTo>
                  <a:lnTo>
                    <a:pt x="4836" y="2922"/>
                  </a:lnTo>
                  <a:lnTo>
                    <a:pt x="4866" y="2915"/>
                  </a:lnTo>
                  <a:lnTo>
                    <a:pt x="4896" y="2907"/>
                  </a:lnTo>
                  <a:lnTo>
                    <a:pt x="4926" y="2898"/>
                  </a:lnTo>
                  <a:lnTo>
                    <a:pt x="4955" y="2886"/>
                  </a:lnTo>
                  <a:lnTo>
                    <a:pt x="4984" y="2873"/>
                  </a:lnTo>
                  <a:lnTo>
                    <a:pt x="5011" y="2859"/>
                  </a:lnTo>
                  <a:lnTo>
                    <a:pt x="5038" y="2843"/>
                  </a:lnTo>
                  <a:lnTo>
                    <a:pt x="5063" y="2827"/>
                  </a:lnTo>
                  <a:lnTo>
                    <a:pt x="5089" y="2809"/>
                  </a:lnTo>
                  <a:lnTo>
                    <a:pt x="5113" y="2790"/>
                  </a:lnTo>
                  <a:lnTo>
                    <a:pt x="5135" y="2770"/>
                  </a:lnTo>
                  <a:lnTo>
                    <a:pt x="5158" y="2748"/>
                  </a:lnTo>
                  <a:lnTo>
                    <a:pt x="5179" y="2727"/>
                  </a:lnTo>
                  <a:lnTo>
                    <a:pt x="5199" y="2703"/>
                  </a:lnTo>
                  <a:lnTo>
                    <a:pt x="5218" y="2680"/>
                  </a:lnTo>
                  <a:lnTo>
                    <a:pt x="5236" y="2655"/>
                  </a:lnTo>
                  <a:lnTo>
                    <a:pt x="5252" y="2629"/>
                  </a:lnTo>
                  <a:lnTo>
                    <a:pt x="5268" y="2602"/>
                  </a:lnTo>
                  <a:lnTo>
                    <a:pt x="5282" y="2574"/>
                  </a:lnTo>
                  <a:lnTo>
                    <a:pt x="5295" y="2546"/>
                  </a:lnTo>
                  <a:lnTo>
                    <a:pt x="5306" y="2517"/>
                  </a:lnTo>
                  <a:lnTo>
                    <a:pt x="5316" y="2488"/>
                  </a:lnTo>
                  <a:lnTo>
                    <a:pt x="5325" y="2457"/>
                  </a:lnTo>
                  <a:lnTo>
                    <a:pt x="5332" y="2426"/>
                  </a:lnTo>
                  <a:lnTo>
                    <a:pt x="5338" y="2394"/>
                  </a:lnTo>
                  <a:lnTo>
                    <a:pt x="5341" y="2362"/>
                  </a:lnTo>
                  <a:lnTo>
                    <a:pt x="5344" y="2330"/>
                  </a:lnTo>
                  <a:lnTo>
                    <a:pt x="5345" y="2297"/>
                  </a:lnTo>
                  <a:lnTo>
                    <a:pt x="5344" y="2265"/>
                  </a:lnTo>
                  <a:lnTo>
                    <a:pt x="5341" y="2233"/>
                  </a:lnTo>
                  <a:lnTo>
                    <a:pt x="5338" y="2203"/>
                  </a:lnTo>
                  <a:lnTo>
                    <a:pt x="5333" y="2172"/>
                  </a:lnTo>
                  <a:lnTo>
                    <a:pt x="5326" y="2141"/>
                  </a:lnTo>
                  <a:lnTo>
                    <a:pt x="5318" y="2111"/>
                  </a:lnTo>
                  <a:lnTo>
                    <a:pt x="5308" y="2083"/>
                  </a:lnTo>
                  <a:lnTo>
                    <a:pt x="5296" y="2054"/>
                  </a:lnTo>
                  <a:lnTo>
                    <a:pt x="5284" y="2026"/>
                  </a:lnTo>
                  <a:lnTo>
                    <a:pt x="5271" y="2000"/>
                  </a:lnTo>
                  <a:lnTo>
                    <a:pt x="5256" y="1974"/>
                  </a:lnTo>
                  <a:lnTo>
                    <a:pt x="5241" y="1948"/>
                  </a:lnTo>
                  <a:lnTo>
                    <a:pt x="5223" y="1923"/>
                  </a:lnTo>
                  <a:lnTo>
                    <a:pt x="5205" y="1899"/>
                  </a:lnTo>
                  <a:lnTo>
                    <a:pt x="5185" y="1877"/>
                  </a:lnTo>
                  <a:lnTo>
                    <a:pt x="5165" y="1854"/>
                  </a:lnTo>
                  <a:lnTo>
                    <a:pt x="5143" y="1834"/>
                  </a:lnTo>
                  <a:lnTo>
                    <a:pt x="5121" y="1814"/>
                  </a:lnTo>
                  <a:lnTo>
                    <a:pt x="5098" y="1795"/>
                  </a:lnTo>
                  <a:lnTo>
                    <a:pt x="5074" y="1777"/>
                  </a:lnTo>
                  <a:lnTo>
                    <a:pt x="5049" y="1761"/>
                  </a:lnTo>
                  <a:lnTo>
                    <a:pt x="5023" y="1745"/>
                  </a:lnTo>
                  <a:lnTo>
                    <a:pt x="4997" y="1731"/>
                  </a:lnTo>
                  <a:lnTo>
                    <a:pt x="4969" y="1717"/>
                  </a:lnTo>
                  <a:lnTo>
                    <a:pt x="4941" y="1706"/>
                  </a:lnTo>
                  <a:lnTo>
                    <a:pt x="4913" y="1696"/>
                  </a:lnTo>
                  <a:lnTo>
                    <a:pt x="4883" y="1686"/>
                  </a:lnTo>
                  <a:lnTo>
                    <a:pt x="4853" y="1678"/>
                  </a:lnTo>
                  <a:lnTo>
                    <a:pt x="4823" y="1672"/>
                  </a:lnTo>
                  <a:lnTo>
                    <a:pt x="4792" y="1667"/>
                  </a:lnTo>
                  <a:lnTo>
                    <a:pt x="4761" y="1664"/>
                  </a:lnTo>
                  <a:lnTo>
                    <a:pt x="4729" y="1661"/>
                  </a:lnTo>
                  <a:close/>
                </a:path>
              </a:pathLst>
            </a:custGeom>
            <a:solidFill>
              <a:schemeClr val="bg1">
                <a:lumMod val="95000"/>
              </a:schemeClr>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a:contourClr>
                  <a:srgbClr val="FFFFFF"/>
                </a:contourClr>
              </a:sp3d>
            </a:bodyPr>
            <a:p>
              <a:pPr marL="0" marR="0" lvl="0" indent="0" algn="ctr" defTabSz="685165"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accent1">
                    <a:lumMod val="75000"/>
                  </a:schemeClr>
                </a:solidFill>
                <a:effectLst/>
                <a:uLnTx/>
                <a:uFillTx/>
                <a:latin typeface="+mn-lt"/>
                <a:ea typeface="+mn-ea"/>
                <a:cs typeface="+mn-cs"/>
              </a:endParaRPr>
            </a:p>
          </p:txBody>
        </p:sp>
        <p:sp>
          <p:nvSpPr>
            <p:cNvPr id="32" name="文本框 56"/>
            <p:cNvSpPr txBox="1"/>
            <p:nvPr/>
          </p:nvSpPr>
          <p:spPr>
            <a:xfrm>
              <a:off x="4507816" y="864629"/>
              <a:ext cx="433973" cy="460079"/>
            </a:xfrm>
            <a:prstGeom prst="rect">
              <a:avLst/>
            </a:prstGeom>
            <a:noFill/>
            <a:ln w="9525">
              <a:noFill/>
            </a:ln>
          </p:spPr>
          <p:txBody>
            <a:bodyPr anchor="t">
              <a:spAutoFit/>
            </a:bodyPr>
            <a:p>
              <a:pPr defTabSz="685800"/>
              <a:r>
                <a:rPr lang="en-US" altLang="zh-CN" sz="2400" dirty="0">
                  <a:solidFill>
                    <a:srgbClr val="26323E"/>
                  </a:solidFill>
                  <a:latin typeface="Arial" panose="020B0604020202020204" pitchFamily="34" charset="0"/>
                  <a:ea typeface="微软雅黑" panose="020B0503020204020204" charset="-122"/>
                </a:rPr>
                <a:t>2</a:t>
              </a:r>
              <a:endParaRPr lang="en-US" altLang="zh-CN" sz="2400" dirty="0">
                <a:solidFill>
                  <a:srgbClr val="26323E"/>
                </a:solidFill>
                <a:latin typeface="Arial" panose="020B0604020202020204" pitchFamily="34" charset="0"/>
                <a:ea typeface="微软雅黑" panose="020B0503020204020204" charset="-122"/>
              </a:endParaRPr>
            </a:p>
          </p:txBody>
        </p:sp>
      </p:grpSp>
      <p:grpSp>
        <p:nvGrpSpPr>
          <p:cNvPr id="36" name="组合 35"/>
          <p:cNvGrpSpPr/>
          <p:nvPr/>
        </p:nvGrpSpPr>
        <p:grpSpPr>
          <a:xfrm>
            <a:off x="5147945" y="4460558"/>
            <a:ext cx="741363" cy="460375"/>
            <a:chOff x="4353620" y="864629"/>
            <a:chExt cx="742365" cy="460079"/>
          </a:xfrm>
        </p:grpSpPr>
        <p:sp>
          <p:nvSpPr>
            <p:cNvPr id="37" name="KSO_Shape"/>
            <p:cNvSpPr/>
            <p:nvPr/>
          </p:nvSpPr>
          <p:spPr bwMode="auto">
            <a:xfrm>
              <a:off x="4353620" y="866215"/>
              <a:ext cx="742365" cy="407726"/>
            </a:xfrm>
            <a:custGeom>
              <a:avLst/>
              <a:gdLst>
                <a:gd name="T0" fmla="*/ 2147483646 w 5345"/>
                <a:gd name="T1" fmla="*/ 2147483646 h 2936"/>
                <a:gd name="T2" fmla="*/ 2147483646 w 5345"/>
                <a:gd name="T3" fmla="*/ 2147483646 h 2936"/>
                <a:gd name="T4" fmla="*/ 2147483646 w 5345"/>
                <a:gd name="T5" fmla="*/ 2147483646 h 2936"/>
                <a:gd name="T6" fmla="*/ 2147483646 w 5345"/>
                <a:gd name="T7" fmla="*/ 2147483646 h 2936"/>
                <a:gd name="T8" fmla="*/ 2147483646 w 5345"/>
                <a:gd name="T9" fmla="*/ 2147483646 h 2936"/>
                <a:gd name="T10" fmla="*/ 2147483646 w 5345"/>
                <a:gd name="T11" fmla="*/ 2147483646 h 2936"/>
                <a:gd name="T12" fmla="*/ 2147483646 w 5345"/>
                <a:gd name="T13" fmla="*/ 2147483646 h 2936"/>
                <a:gd name="T14" fmla="*/ 2147483646 w 5345"/>
                <a:gd name="T15" fmla="*/ 2147483646 h 2936"/>
                <a:gd name="T16" fmla="*/ 2147483646 w 5345"/>
                <a:gd name="T17" fmla="*/ 2147483646 h 2936"/>
                <a:gd name="T18" fmla="*/ 2147483646 w 5345"/>
                <a:gd name="T19" fmla="*/ 2147483646 h 2936"/>
                <a:gd name="T20" fmla="*/ 2147483646 w 5345"/>
                <a:gd name="T21" fmla="*/ 2147483646 h 2936"/>
                <a:gd name="T22" fmla="*/ 2147483646 w 5345"/>
                <a:gd name="T23" fmla="*/ 2147483646 h 2936"/>
                <a:gd name="T24" fmla="*/ 2147483646 w 5345"/>
                <a:gd name="T25" fmla="*/ 2147483646 h 2936"/>
                <a:gd name="T26" fmla="*/ 2147483646 w 5345"/>
                <a:gd name="T27" fmla="*/ 2147483646 h 2936"/>
                <a:gd name="T28" fmla="*/ 2147483646 w 5345"/>
                <a:gd name="T29" fmla="*/ 2147483646 h 2936"/>
                <a:gd name="T30" fmla="*/ 2147483646 w 5345"/>
                <a:gd name="T31" fmla="*/ 772639970 h 2936"/>
                <a:gd name="T32" fmla="*/ 2147483646 w 5345"/>
                <a:gd name="T33" fmla="*/ 0 h 2936"/>
                <a:gd name="T34" fmla="*/ 2147483646 w 5345"/>
                <a:gd name="T35" fmla="*/ 363587807 h 2936"/>
                <a:gd name="T36" fmla="*/ 2147483646 w 5345"/>
                <a:gd name="T37" fmla="*/ 2147483646 h 2936"/>
                <a:gd name="T38" fmla="*/ 2147483646 w 5345"/>
                <a:gd name="T39" fmla="*/ 2147483646 h 2936"/>
                <a:gd name="T40" fmla="*/ 2147483646 w 5345"/>
                <a:gd name="T41" fmla="*/ 2147483646 h 2936"/>
                <a:gd name="T42" fmla="*/ 2147483646 w 5345"/>
                <a:gd name="T43" fmla="*/ 2147483646 h 2936"/>
                <a:gd name="T44" fmla="*/ 2147483646 w 5345"/>
                <a:gd name="T45" fmla="*/ 2147483646 h 2936"/>
                <a:gd name="T46" fmla="*/ 2147483646 w 5345"/>
                <a:gd name="T47" fmla="*/ 2147483646 h 2936"/>
                <a:gd name="T48" fmla="*/ 2147483646 w 5345"/>
                <a:gd name="T49" fmla="*/ 2147483646 h 2936"/>
                <a:gd name="T50" fmla="*/ 2147483646 w 5345"/>
                <a:gd name="T51" fmla="*/ 2147483646 h 2936"/>
                <a:gd name="T52" fmla="*/ 2147483646 w 5345"/>
                <a:gd name="T53" fmla="*/ 2147483646 h 2936"/>
                <a:gd name="T54" fmla="*/ 2147483646 w 5345"/>
                <a:gd name="T55" fmla="*/ 2147483646 h 2936"/>
                <a:gd name="T56" fmla="*/ 2147483646 w 5345"/>
                <a:gd name="T57" fmla="*/ 2147483646 h 2936"/>
                <a:gd name="T58" fmla="*/ 2147483646 w 5345"/>
                <a:gd name="T59" fmla="*/ 2147483646 h 2936"/>
                <a:gd name="T60" fmla="*/ 2147483646 w 5345"/>
                <a:gd name="T61" fmla="*/ 2147483646 h 2936"/>
                <a:gd name="T62" fmla="*/ 452722804 w 5345"/>
                <a:gd name="T63" fmla="*/ 2147483646 h 2936"/>
                <a:gd name="T64" fmla="*/ 90570008 w 5345"/>
                <a:gd name="T65" fmla="*/ 2147483646 h 2936"/>
                <a:gd name="T66" fmla="*/ 1629877726 w 5345"/>
                <a:gd name="T67" fmla="*/ 2147483646 h 2936"/>
                <a:gd name="T68" fmla="*/ 2147483646 w 5345"/>
                <a:gd name="T69" fmla="*/ 2147483646 h 2936"/>
                <a:gd name="T70" fmla="*/ 2147483646 w 5345"/>
                <a:gd name="T71" fmla="*/ 2147483646 h 2936"/>
                <a:gd name="T72" fmla="*/ 2147483646 w 5345"/>
                <a:gd name="T73" fmla="*/ 2147483646 h 2936"/>
                <a:gd name="T74" fmla="*/ 2147483646 w 5345"/>
                <a:gd name="T75" fmla="*/ 2147483646 h 2936"/>
                <a:gd name="T76" fmla="*/ 2147483646 w 5345"/>
                <a:gd name="T77" fmla="*/ 2147483646 h 2936"/>
                <a:gd name="T78" fmla="*/ 2147483646 w 5345"/>
                <a:gd name="T79" fmla="*/ 2147483646 h 2936"/>
                <a:gd name="T80" fmla="*/ 2147483646 w 5345"/>
                <a:gd name="T81" fmla="*/ 2147483646 h 2936"/>
                <a:gd name="T82" fmla="*/ 2147483646 w 5345"/>
                <a:gd name="T83" fmla="*/ 2147483646 h 2936"/>
                <a:gd name="T84" fmla="*/ 2147483646 w 5345"/>
                <a:gd name="T85" fmla="*/ 2147483646 h 2936"/>
                <a:gd name="T86" fmla="*/ 2147483646 w 5345"/>
                <a:gd name="T87" fmla="*/ 2147483646 h 2936"/>
                <a:gd name="T88" fmla="*/ 2147483646 w 5345"/>
                <a:gd name="T89" fmla="*/ 2147483646 h 2936"/>
                <a:gd name="T90" fmla="*/ 2147483646 w 5345"/>
                <a:gd name="T91" fmla="*/ 2147483646 h 2936"/>
                <a:gd name="T92" fmla="*/ 2147483646 w 5345"/>
                <a:gd name="T93" fmla="*/ 2147483646 h 2936"/>
                <a:gd name="T94" fmla="*/ 2147483646 w 5345"/>
                <a:gd name="T95" fmla="*/ 2147483646 h 2936"/>
                <a:gd name="T96" fmla="*/ 2147483646 w 5345"/>
                <a:gd name="T97" fmla="*/ 2147483646 h 2936"/>
                <a:gd name="T98" fmla="*/ 2147483646 w 5345"/>
                <a:gd name="T99" fmla="*/ 2147483646 h 2936"/>
                <a:gd name="T100" fmla="*/ 2147483646 w 5345"/>
                <a:gd name="T101" fmla="*/ 2147483646 h 2936"/>
                <a:gd name="T102" fmla="*/ 2147483646 w 5345"/>
                <a:gd name="T103" fmla="*/ 2147483646 h 2936"/>
                <a:gd name="T104" fmla="*/ 2147483646 w 5345"/>
                <a:gd name="T105" fmla="*/ 2147483646 h 29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345" h="2936">
                  <a:moveTo>
                    <a:pt x="4729" y="1661"/>
                  </a:moveTo>
                  <a:lnTo>
                    <a:pt x="4729" y="1661"/>
                  </a:lnTo>
                  <a:lnTo>
                    <a:pt x="4723" y="1609"/>
                  </a:lnTo>
                  <a:lnTo>
                    <a:pt x="4716" y="1558"/>
                  </a:lnTo>
                  <a:lnTo>
                    <a:pt x="4706" y="1507"/>
                  </a:lnTo>
                  <a:lnTo>
                    <a:pt x="4693" y="1458"/>
                  </a:lnTo>
                  <a:lnTo>
                    <a:pt x="4679" y="1409"/>
                  </a:lnTo>
                  <a:lnTo>
                    <a:pt x="4663" y="1361"/>
                  </a:lnTo>
                  <a:lnTo>
                    <a:pt x="4644" y="1314"/>
                  </a:lnTo>
                  <a:lnTo>
                    <a:pt x="4622" y="1268"/>
                  </a:lnTo>
                  <a:lnTo>
                    <a:pt x="4600" y="1223"/>
                  </a:lnTo>
                  <a:lnTo>
                    <a:pt x="4575" y="1181"/>
                  </a:lnTo>
                  <a:lnTo>
                    <a:pt x="4548" y="1138"/>
                  </a:lnTo>
                  <a:lnTo>
                    <a:pt x="4519" y="1098"/>
                  </a:lnTo>
                  <a:lnTo>
                    <a:pt x="4489" y="1059"/>
                  </a:lnTo>
                  <a:lnTo>
                    <a:pt x="4457" y="1021"/>
                  </a:lnTo>
                  <a:lnTo>
                    <a:pt x="4422" y="984"/>
                  </a:lnTo>
                  <a:lnTo>
                    <a:pt x="4387" y="950"/>
                  </a:lnTo>
                  <a:lnTo>
                    <a:pt x="4350" y="917"/>
                  </a:lnTo>
                  <a:lnTo>
                    <a:pt x="4312" y="886"/>
                  </a:lnTo>
                  <a:lnTo>
                    <a:pt x="4272" y="856"/>
                  </a:lnTo>
                  <a:lnTo>
                    <a:pt x="4230" y="828"/>
                  </a:lnTo>
                  <a:lnTo>
                    <a:pt x="4188" y="802"/>
                  </a:lnTo>
                  <a:lnTo>
                    <a:pt x="4144" y="778"/>
                  </a:lnTo>
                  <a:lnTo>
                    <a:pt x="4099" y="757"/>
                  </a:lnTo>
                  <a:lnTo>
                    <a:pt x="4053" y="737"/>
                  </a:lnTo>
                  <a:lnTo>
                    <a:pt x="4005" y="719"/>
                  </a:lnTo>
                  <a:lnTo>
                    <a:pt x="3957" y="703"/>
                  </a:lnTo>
                  <a:lnTo>
                    <a:pt x="3907" y="689"/>
                  </a:lnTo>
                  <a:lnTo>
                    <a:pt x="3857" y="679"/>
                  </a:lnTo>
                  <a:lnTo>
                    <a:pt x="3806" y="670"/>
                  </a:lnTo>
                  <a:lnTo>
                    <a:pt x="3754" y="663"/>
                  </a:lnTo>
                  <a:lnTo>
                    <a:pt x="3701" y="660"/>
                  </a:lnTo>
                  <a:lnTo>
                    <a:pt x="3648" y="658"/>
                  </a:lnTo>
                  <a:lnTo>
                    <a:pt x="3608" y="660"/>
                  </a:lnTo>
                  <a:lnTo>
                    <a:pt x="3566" y="661"/>
                  </a:lnTo>
                  <a:lnTo>
                    <a:pt x="3526" y="665"/>
                  </a:lnTo>
                  <a:lnTo>
                    <a:pt x="3486" y="670"/>
                  </a:lnTo>
                  <a:lnTo>
                    <a:pt x="3446" y="677"/>
                  </a:lnTo>
                  <a:lnTo>
                    <a:pt x="3407" y="686"/>
                  </a:lnTo>
                  <a:lnTo>
                    <a:pt x="3368" y="695"/>
                  </a:lnTo>
                  <a:lnTo>
                    <a:pt x="3330" y="706"/>
                  </a:lnTo>
                  <a:lnTo>
                    <a:pt x="3294" y="718"/>
                  </a:lnTo>
                  <a:lnTo>
                    <a:pt x="3257" y="732"/>
                  </a:lnTo>
                  <a:lnTo>
                    <a:pt x="3220" y="746"/>
                  </a:lnTo>
                  <a:lnTo>
                    <a:pt x="3185" y="763"/>
                  </a:lnTo>
                  <a:lnTo>
                    <a:pt x="3150" y="779"/>
                  </a:lnTo>
                  <a:lnTo>
                    <a:pt x="3116" y="798"/>
                  </a:lnTo>
                  <a:lnTo>
                    <a:pt x="3083" y="817"/>
                  </a:lnTo>
                  <a:lnTo>
                    <a:pt x="3050" y="838"/>
                  </a:lnTo>
                  <a:lnTo>
                    <a:pt x="3038" y="793"/>
                  </a:lnTo>
                  <a:lnTo>
                    <a:pt x="3024" y="750"/>
                  </a:lnTo>
                  <a:lnTo>
                    <a:pt x="3007" y="707"/>
                  </a:lnTo>
                  <a:lnTo>
                    <a:pt x="2989" y="664"/>
                  </a:lnTo>
                  <a:lnTo>
                    <a:pt x="2970" y="623"/>
                  </a:lnTo>
                  <a:lnTo>
                    <a:pt x="2949" y="583"/>
                  </a:lnTo>
                  <a:lnTo>
                    <a:pt x="2927" y="542"/>
                  </a:lnTo>
                  <a:lnTo>
                    <a:pt x="2903" y="504"/>
                  </a:lnTo>
                  <a:lnTo>
                    <a:pt x="2877" y="467"/>
                  </a:lnTo>
                  <a:lnTo>
                    <a:pt x="2850" y="430"/>
                  </a:lnTo>
                  <a:lnTo>
                    <a:pt x="2821" y="396"/>
                  </a:lnTo>
                  <a:lnTo>
                    <a:pt x="2792" y="361"/>
                  </a:lnTo>
                  <a:lnTo>
                    <a:pt x="2761" y="329"/>
                  </a:lnTo>
                  <a:lnTo>
                    <a:pt x="2728" y="297"/>
                  </a:lnTo>
                  <a:lnTo>
                    <a:pt x="2694" y="268"/>
                  </a:lnTo>
                  <a:lnTo>
                    <a:pt x="2659" y="238"/>
                  </a:lnTo>
                  <a:lnTo>
                    <a:pt x="2623" y="211"/>
                  </a:lnTo>
                  <a:lnTo>
                    <a:pt x="2586" y="185"/>
                  </a:lnTo>
                  <a:lnTo>
                    <a:pt x="2548" y="161"/>
                  </a:lnTo>
                  <a:lnTo>
                    <a:pt x="2509" y="139"/>
                  </a:lnTo>
                  <a:lnTo>
                    <a:pt x="2468" y="117"/>
                  </a:lnTo>
                  <a:lnTo>
                    <a:pt x="2427" y="97"/>
                  </a:lnTo>
                  <a:lnTo>
                    <a:pt x="2384" y="79"/>
                  </a:lnTo>
                  <a:lnTo>
                    <a:pt x="2342" y="63"/>
                  </a:lnTo>
                  <a:lnTo>
                    <a:pt x="2298" y="49"/>
                  </a:lnTo>
                  <a:lnTo>
                    <a:pt x="2253" y="36"/>
                  </a:lnTo>
                  <a:lnTo>
                    <a:pt x="2208" y="25"/>
                  </a:lnTo>
                  <a:lnTo>
                    <a:pt x="2162" y="17"/>
                  </a:lnTo>
                  <a:lnTo>
                    <a:pt x="2114" y="9"/>
                  </a:lnTo>
                  <a:lnTo>
                    <a:pt x="2067" y="4"/>
                  </a:lnTo>
                  <a:lnTo>
                    <a:pt x="2019" y="1"/>
                  </a:lnTo>
                  <a:lnTo>
                    <a:pt x="1971" y="0"/>
                  </a:lnTo>
                  <a:lnTo>
                    <a:pt x="1941" y="0"/>
                  </a:lnTo>
                  <a:lnTo>
                    <a:pt x="1913" y="1"/>
                  </a:lnTo>
                  <a:lnTo>
                    <a:pt x="1884" y="4"/>
                  </a:lnTo>
                  <a:lnTo>
                    <a:pt x="1856" y="6"/>
                  </a:lnTo>
                  <a:lnTo>
                    <a:pt x="1829" y="8"/>
                  </a:lnTo>
                  <a:lnTo>
                    <a:pt x="1800" y="13"/>
                  </a:lnTo>
                  <a:lnTo>
                    <a:pt x="1746" y="23"/>
                  </a:lnTo>
                  <a:lnTo>
                    <a:pt x="1691" y="34"/>
                  </a:lnTo>
                  <a:lnTo>
                    <a:pt x="1638" y="50"/>
                  </a:lnTo>
                  <a:lnTo>
                    <a:pt x="1587" y="68"/>
                  </a:lnTo>
                  <a:lnTo>
                    <a:pt x="1536" y="88"/>
                  </a:lnTo>
                  <a:lnTo>
                    <a:pt x="1487" y="110"/>
                  </a:lnTo>
                  <a:lnTo>
                    <a:pt x="1438" y="135"/>
                  </a:lnTo>
                  <a:lnTo>
                    <a:pt x="1392" y="161"/>
                  </a:lnTo>
                  <a:lnTo>
                    <a:pt x="1347" y="191"/>
                  </a:lnTo>
                  <a:lnTo>
                    <a:pt x="1303" y="221"/>
                  </a:lnTo>
                  <a:lnTo>
                    <a:pt x="1260" y="255"/>
                  </a:lnTo>
                  <a:lnTo>
                    <a:pt x="1220" y="290"/>
                  </a:lnTo>
                  <a:lnTo>
                    <a:pt x="1181" y="327"/>
                  </a:lnTo>
                  <a:lnTo>
                    <a:pt x="1144" y="366"/>
                  </a:lnTo>
                  <a:lnTo>
                    <a:pt x="1109" y="406"/>
                  </a:lnTo>
                  <a:lnTo>
                    <a:pt x="1076" y="448"/>
                  </a:lnTo>
                  <a:lnTo>
                    <a:pt x="1045" y="491"/>
                  </a:lnTo>
                  <a:lnTo>
                    <a:pt x="1016" y="538"/>
                  </a:lnTo>
                  <a:lnTo>
                    <a:pt x="989" y="584"/>
                  </a:lnTo>
                  <a:lnTo>
                    <a:pt x="964" y="632"/>
                  </a:lnTo>
                  <a:lnTo>
                    <a:pt x="942" y="681"/>
                  </a:lnTo>
                  <a:lnTo>
                    <a:pt x="922" y="732"/>
                  </a:lnTo>
                  <a:lnTo>
                    <a:pt x="905" y="784"/>
                  </a:lnTo>
                  <a:lnTo>
                    <a:pt x="890" y="837"/>
                  </a:lnTo>
                  <a:lnTo>
                    <a:pt x="877" y="890"/>
                  </a:lnTo>
                  <a:lnTo>
                    <a:pt x="867" y="946"/>
                  </a:lnTo>
                  <a:lnTo>
                    <a:pt x="864" y="973"/>
                  </a:lnTo>
                  <a:lnTo>
                    <a:pt x="860" y="1002"/>
                  </a:lnTo>
                  <a:lnTo>
                    <a:pt x="858" y="1030"/>
                  </a:lnTo>
                  <a:lnTo>
                    <a:pt x="855" y="1059"/>
                  </a:lnTo>
                  <a:lnTo>
                    <a:pt x="855" y="1087"/>
                  </a:lnTo>
                  <a:lnTo>
                    <a:pt x="854" y="1115"/>
                  </a:lnTo>
                  <a:lnTo>
                    <a:pt x="855" y="1150"/>
                  </a:lnTo>
                  <a:lnTo>
                    <a:pt x="857" y="1183"/>
                  </a:lnTo>
                  <a:lnTo>
                    <a:pt x="860" y="1216"/>
                  </a:lnTo>
                  <a:lnTo>
                    <a:pt x="864" y="1250"/>
                  </a:lnTo>
                  <a:lnTo>
                    <a:pt x="845" y="1249"/>
                  </a:lnTo>
                  <a:lnTo>
                    <a:pt x="801" y="1250"/>
                  </a:lnTo>
                  <a:lnTo>
                    <a:pt x="758" y="1253"/>
                  </a:lnTo>
                  <a:lnTo>
                    <a:pt x="716" y="1259"/>
                  </a:lnTo>
                  <a:lnTo>
                    <a:pt x="674" y="1266"/>
                  </a:lnTo>
                  <a:lnTo>
                    <a:pt x="633" y="1275"/>
                  </a:lnTo>
                  <a:lnTo>
                    <a:pt x="594" y="1287"/>
                  </a:lnTo>
                  <a:lnTo>
                    <a:pt x="555" y="1300"/>
                  </a:lnTo>
                  <a:lnTo>
                    <a:pt x="515" y="1316"/>
                  </a:lnTo>
                  <a:lnTo>
                    <a:pt x="479" y="1332"/>
                  </a:lnTo>
                  <a:lnTo>
                    <a:pt x="442" y="1351"/>
                  </a:lnTo>
                  <a:lnTo>
                    <a:pt x="407" y="1371"/>
                  </a:lnTo>
                  <a:lnTo>
                    <a:pt x="372" y="1393"/>
                  </a:lnTo>
                  <a:lnTo>
                    <a:pt x="339" y="1416"/>
                  </a:lnTo>
                  <a:lnTo>
                    <a:pt x="307" y="1441"/>
                  </a:lnTo>
                  <a:lnTo>
                    <a:pt x="277" y="1468"/>
                  </a:lnTo>
                  <a:lnTo>
                    <a:pt x="248" y="1496"/>
                  </a:lnTo>
                  <a:lnTo>
                    <a:pt x="219" y="1525"/>
                  </a:lnTo>
                  <a:lnTo>
                    <a:pt x="193" y="1556"/>
                  </a:lnTo>
                  <a:lnTo>
                    <a:pt x="169" y="1588"/>
                  </a:lnTo>
                  <a:lnTo>
                    <a:pt x="145" y="1621"/>
                  </a:lnTo>
                  <a:lnTo>
                    <a:pt x="122" y="1655"/>
                  </a:lnTo>
                  <a:lnTo>
                    <a:pt x="102" y="1690"/>
                  </a:lnTo>
                  <a:lnTo>
                    <a:pt x="83" y="1726"/>
                  </a:lnTo>
                  <a:lnTo>
                    <a:pt x="67" y="1764"/>
                  </a:lnTo>
                  <a:lnTo>
                    <a:pt x="51" y="1802"/>
                  </a:lnTo>
                  <a:lnTo>
                    <a:pt x="38" y="1841"/>
                  </a:lnTo>
                  <a:lnTo>
                    <a:pt x="28" y="1882"/>
                  </a:lnTo>
                  <a:lnTo>
                    <a:pt x="18" y="1923"/>
                  </a:lnTo>
                  <a:lnTo>
                    <a:pt x="10" y="1965"/>
                  </a:lnTo>
                  <a:lnTo>
                    <a:pt x="5" y="2006"/>
                  </a:lnTo>
                  <a:lnTo>
                    <a:pt x="2" y="2049"/>
                  </a:lnTo>
                  <a:lnTo>
                    <a:pt x="0" y="2092"/>
                  </a:lnTo>
                  <a:lnTo>
                    <a:pt x="2" y="2135"/>
                  </a:lnTo>
                  <a:lnTo>
                    <a:pt x="5" y="2176"/>
                  </a:lnTo>
                  <a:lnTo>
                    <a:pt x="10" y="2217"/>
                  </a:lnTo>
                  <a:lnTo>
                    <a:pt x="17" y="2257"/>
                  </a:lnTo>
                  <a:lnTo>
                    <a:pt x="25" y="2297"/>
                  </a:lnTo>
                  <a:lnTo>
                    <a:pt x="36" y="2336"/>
                  </a:lnTo>
                  <a:lnTo>
                    <a:pt x="49" y="2374"/>
                  </a:lnTo>
                  <a:lnTo>
                    <a:pt x="63" y="2411"/>
                  </a:lnTo>
                  <a:lnTo>
                    <a:pt x="79" y="2448"/>
                  </a:lnTo>
                  <a:lnTo>
                    <a:pt x="96" y="2483"/>
                  </a:lnTo>
                  <a:lnTo>
                    <a:pt x="115" y="2517"/>
                  </a:lnTo>
                  <a:lnTo>
                    <a:pt x="137" y="2552"/>
                  </a:lnTo>
                  <a:lnTo>
                    <a:pt x="159" y="2584"/>
                  </a:lnTo>
                  <a:lnTo>
                    <a:pt x="183" y="2615"/>
                  </a:lnTo>
                  <a:lnTo>
                    <a:pt x="208" y="2645"/>
                  </a:lnTo>
                  <a:lnTo>
                    <a:pt x="234" y="2674"/>
                  </a:lnTo>
                  <a:lnTo>
                    <a:pt x="262" y="2702"/>
                  </a:lnTo>
                  <a:lnTo>
                    <a:pt x="290" y="2728"/>
                  </a:lnTo>
                  <a:lnTo>
                    <a:pt x="321" y="2753"/>
                  </a:lnTo>
                  <a:lnTo>
                    <a:pt x="352" y="2777"/>
                  </a:lnTo>
                  <a:lnTo>
                    <a:pt x="385" y="2799"/>
                  </a:lnTo>
                  <a:lnTo>
                    <a:pt x="418" y="2819"/>
                  </a:lnTo>
                  <a:lnTo>
                    <a:pt x="453" y="2840"/>
                  </a:lnTo>
                  <a:lnTo>
                    <a:pt x="488" y="2856"/>
                  </a:lnTo>
                  <a:lnTo>
                    <a:pt x="525" y="2873"/>
                  </a:lnTo>
                  <a:lnTo>
                    <a:pt x="563" y="2887"/>
                  </a:lnTo>
                  <a:lnTo>
                    <a:pt x="601" y="2899"/>
                  </a:lnTo>
                  <a:lnTo>
                    <a:pt x="640" y="2909"/>
                  </a:lnTo>
                  <a:lnTo>
                    <a:pt x="679" y="2919"/>
                  </a:lnTo>
                  <a:lnTo>
                    <a:pt x="719" y="2926"/>
                  </a:lnTo>
                  <a:lnTo>
                    <a:pt x="761" y="2931"/>
                  </a:lnTo>
                  <a:lnTo>
                    <a:pt x="802" y="2934"/>
                  </a:lnTo>
                  <a:lnTo>
                    <a:pt x="802" y="2936"/>
                  </a:lnTo>
                  <a:lnTo>
                    <a:pt x="4682" y="2936"/>
                  </a:lnTo>
                  <a:lnTo>
                    <a:pt x="4682" y="2933"/>
                  </a:lnTo>
                  <a:lnTo>
                    <a:pt x="4693" y="2934"/>
                  </a:lnTo>
                  <a:lnTo>
                    <a:pt x="4706" y="2936"/>
                  </a:lnTo>
                  <a:lnTo>
                    <a:pt x="4740" y="2936"/>
                  </a:lnTo>
                  <a:lnTo>
                    <a:pt x="4772" y="2933"/>
                  </a:lnTo>
                  <a:lnTo>
                    <a:pt x="4804" y="2928"/>
                  </a:lnTo>
                  <a:lnTo>
                    <a:pt x="4836" y="2922"/>
                  </a:lnTo>
                  <a:lnTo>
                    <a:pt x="4866" y="2915"/>
                  </a:lnTo>
                  <a:lnTo>
                    <a:pt x="4896" y="2907"/>
                  </a:lnTo>
                  <a:lnTo>
                    <a:pt x="4926" y="2898"/>
                  </a:lnTo>
                  <a:lnTo>
                    <a:pt x="4955" y="2886"/>
                  </a:lnTo>
                  <a:lnTo>
                    <a:pt x="4984" y="2873"/>
                  </a:lnTo>
                  <a:lnTo>
                    <a:pt x="5011" y="2859"/>
                  </a:lnTo>
                  <a:lnTo>
                    <a:pt x="5038" y="2843"/>
                  </a:lnTo>
                  <a:lnTo>
                    <a:pt x="5063" y="2827"/>
                  </a:lnTo>
                  <a:lnTo>
                    <a:pt x="5089" y="2809"/>
                  </a:lnTo>
                  <a:lnTo>
                    <a:pt x="5113" y="2790"/>
                  </a:lnTo>
                  <a:lnTo>
                    <a:pt x="5135" y="2770"/>
                  </a:lnTo>
                  <a:lnTo>
                    <a:pt x="5158" y="2748"/>
                  </a:lnTo>
                  <a:lnTo>
                    <a:pt x="5179" y="2727"/>
                  </a:lnTo>
                  <a:lnTo>
                    <a:pt x="5199" y="2703"/>
                  </a:lnTo>
                  <a:lnTo>
                    <a:pt x="5218" y="2680"/>
                  </a:lnTo>
                  <a:lnTo>
                    <a:pt x="5236" y="2655"/>
                  </a:lnTo>
                  <a:lnTo>
                    <a:pt x="5252" y="2629"/>
                  </a:lnTo>
                  <a:lnTo>
                    <a:pt x="5268" y="2602"/>
                  </a:lnTo>
                  <a:lnTo>
                    <a:pt x="5282" y="2574"/>
                  </a:lnTo>
                  <a:lnTo>
                    <a:pt x="5295" y="2546"/>
                  </a:lnTo>
                  <a:lnTo>
                    <a:pt x="5306" y="2517"/>
                  </a:lnTo>
                  <a:lnTo>
                    <a:pt x="5316" y="2488"/>
                  </a:lnTo>
                  <a:lnTo>
                    <a:pt x="5325" y="2457"/>
                  </a:lnTo>
                  <a:lnTo>
                    <a:pt x="5332" y="2426"/>
                  </a:lnTo>
                  <a:lnTo>
                    <a:pt x="5338" y="2394"/>
                  </a:lnTo>
                  <a:lnTo>
                    <a:pt x="5341" y="2362"/>
                  </a:lnTo>
                  <a:lnTo>
                    <a:pt x="5344" y="2330"/>
                  </a:lnTo>
                  <a:lnTo>
                    <a:pt x="5345" y="2297"/>
                  </a:lnTo>
                  <a:lnTo>
                    <a:pt x="5344" y="2265"/>
                  </a:lnTo>
                  <a:lnTo>
                    <a:pt x="5341" y="2233"/>
                  </a:lnTo>
                  <a:lnTo>
                    <a:pt x="5338" y="2203"/>
                  </a:lnTo>
                  <a:lnTo>
                    <a:pt x="5333" y="2172"/>
                  </a:lnTo>
                  <a:lnTo>
                    <a:pt x="5326" y="2141"/>
                  </a:lnTo>
                  <a:lnTo>
                    <a:pt x="5318" y="2111"/>
                  </a:lnTo>
                  <a:lnTo>
                    <a:pt x="5308" y="2083"/>
                  </a:lnTo>
                  <a:lnTo>
                    <a:pt x="5296" y="2054"/>
                  </a:lnTo>
                  <a:lnTo>
                    <a:pt x="5284" y="2026"/>
                  </a:lnTo>
                  <a:lnTo>
                    <a:pt x="5271" y="2000"/>
                  </a:lnTo>
                  <a:lnTo>
                    <a:pt x="5256" y="1974"/>
                  </a:lnTo>
                  <a:lnTo>
                    <a:pt x="5241" y="1948"/>
                  </a:lnTo>
                  <a:lnTo>
                    <a:pt x="5223" y="1923"/>
                  </a:lnTo>
                  <a:lnTo>
                    <a:pt x="5205" y="1899"/>
                  </a:lnTo>
                  <a:lnTo>
                    <a:pt x="5185" y="1877"/>
                  </a:lnTo>
                  <a:lnTo>
                    <a:pt x="5165" y="1854"/>
                  </a:lnTo>
                  <a:lnTo>
                    <a:pt x="5143" y="1834"/>
                  </a:lnTo>
                  <a:lnTo>
                    <a:pt x="5121" y="1814"/>
                  </a:lnTo>
                  <a:lnTo>
                    <a:pt x="5098" y="1795"/>
                  </a:lnTo>
                  <a:lnTo>
                    <a:pt x="5074" y="1777"/>
                  </a:lnTo>
                  <a:lnTo>
                    <a:pt x="5049" y="1761"/>
                  </a:lnTo>
                  <a:lnTo>
                    <a:pt x="5023" y="1745"/>
                  </a:lnTo>
                  <a:lnTo>
                    <a:pt x="4997" y="1731"/>
                  </a:lnTo>
                  <a:lnTo>
                    <a:pt x="4969" y="1717"/>
                  </a:lnTo>
                  <a:lnTo>
                    <a:pt x="4941" y="1706"/>
                  </a:lnTo>
                  <a:lnTo>
                    <a:pt x="4913" y="1696"/>
                  </a:lnTo>
                  <a:lnTo>
                    <a:pt x="4883" y="1686"/>
                  </a:lnTo>
                  <a:lnTo>
                    <a:pt x="4853" y="1678"/>
                  </a:lnTo>
                  <a:lnTo>
                    <a:pt x="4823" y="1672"/>
                  </a:lnTo>
                  <a:lnTo>
                    <a:pt x="4792" y="1667"/>
                  </a:lnTo>
                  <a:lnTo>
                    <a:pt x="4761" y="1664"/>
                  </a:lnTo>
                  <a:lnTo>
                    <a:pt x="4729" y="1661"/>
                  </a:lnTo>
                  <a:close/>
                </a:path>
              </a:pathLst>
            </a:custGeom>
            <a:solidFill>
              <a:schemeClr val="bg1">
                <a:lumMod val="95000"/>
              </a:schemeClr>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a:contourClr>
                  <a:srgbClr val="FFFFFF"/>
                </a:contourClr>
              </a:sp3d>
            </a:bodyPr>
            <a:p>
              <a:pPr marL="0" marR="0" lvl="0" indent="0" algn="ctr" defTabSz="685165"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accent1">
                    <a:lumMod val="75000"/>
                  </a:schemeClr>
                </a:solidFill>
                <a:effectLst/>
                <a:uLnTx/>
                <a:uFillTx/>
                <a:latin typeface="+mn-lt"/>
                <a:ea typeface="+mn-ea"/>
                <a:cs typeface="+mn-cs"/>
              </a:endParaRPr>
            </a:p>
          </p:txBody>
        </p:sp>
        <p:sp>
          <p:nvSpPr>
            <p:cNvPr id="38" name="文本框 56"/>
            <p:cNvSpPr txBox="1"/>
            <p:nvPr/>
          </p:nvSpPr>
          <p:spPr>
            <a:xfrm>
              <a:off x="4507816" y="864629"/>
              <a:ext cx="433973" cy="460079"/>
            </a:xfrm>
            <a:prstGeom prst="rect">
              <a:avLst/>
            </a:prstGeom>
            <a:noFill/>
            <a:ln w="9525">
              <a:noFill/>
            </a:ln>
          </p:spPr>
          <p:txBody>
            <a:bodyPr anchor="t">
              <a:spAutoFit/>
            </a:bodyPr>
            <a:p>
              <a:pPr defTabSz="685800"/>
              <a:r>
                <a:rPr lang="en-US" altLang="zh-CN" sz="2400" dirty="0">
                  <a:solidFill>
                    <a:srgbClr val="26323E"/>
                  </a:solidFill>
                  <a:latin typeface="Arial" panose="020B0604020202020204" pitchFamily="34" charset="0"/>
                  <a:ea typeface="微软雅黑" panose="020B0503020204020204" charset="-122"/>
                </a:rPr>
                <a:t>3</a:t>
              </a:r>
              <a:endParaRPr lang="en-US" altLang="zh-CN" sz="2400" dirty="0">
                <a:solidFill>
                  <a:srgbClr val="26323E"/>
                </a:solidFill>
                <a:latin typeface="Arial" panose="020B0604020202020204" pitchFamily="34" charset="0"/>
                <a:ea typeface="微软雅黑" panose="020B0503020204020204" charset="-122"/>
              </a:endParaRPr>
            </a:p>
          </p:txBody>
        </p:sp>
      </p:grpSp>
      <p:sp>
        <p:nvSpPr>
          <p:cNvPr id="39" name="TextBox 4"/>
          <p:cNvSpPr txBox="1"/>
          <p:nvPr/>
        </p:nvSpPr>
        <p:spPr>
          <a:xfrm>
            <a:off x="6546215" y="2600960"/>
            <a:ext cx="3429000" cy="574040"/>
          </a:xfrm>
          <a:prstGeom prst="rect">
            <a:avLst/>
          </a:prstGeom>
        </p:spPr>
        <p:txBody>
          <a:bodyPr lIns="0" tIns="0" rIns="0" bIns="0" rtlCol="0" anchor="t"/>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
        <p:nvSpPr>
          <p:cNvPr id="40" name="TextBox 4"/>
          <p:cNvSpPr txBox="1"/>
          <p:nvPr/>
        </p:nvSpPr>
        <p:spPr>
          <a:xfrm>
            <a:off x="6546215" y="3486150"/>
            <a:ext cx="3429000" cy="574040"/>
          </a:xfrm>
          <a:prstGeom prst="rect">
            <a:avLst/>
          </a:prstGeom>
        </p:spPr>
        <p:txBody>
          <a:bodyPr lIns="0" tIns="0" rIns="0" bIns="0" rtlCol="0" anchor="t"/>
          <a:p>
            <a:pPr algn="l">
              <a:lnSpc>
                <a:spcPct val="113000"/>
              </a:lnSpc>
            </a:pPr>
            <a:r>
              <a:rPr lang="zh-CN" altLang="en-US" sz="3600" b="1">
                <a:solidFill>
                  <a:srgbClr val="323232"/>
                </a:solidFill>
                <a:latin typeface="黑体" panose="02010609060101010101" charset="-122"/>
              </a:rPr>
              <a:t>状态模式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
        <p:nvSpPr>
          <p:cNvPr id="41" name="TextBox 4"/>
          <p:cNvSpPr txBox="1"/>
          <p:nvPr/>
        </p:nvSpPr>
        <p:spPr>
          <a:xfrm>
            <a:off x="6546215" y="4347210"/>
            <a:ext cx="3429000" cy="574040"/>
          </a:xfrm>
          <a:prstGeom prst="rect">
            <a:avLst/>
          </a:prstGeom>
        </p:spPr>
        <p:txBody>
          <a:bodyPr lIns="0" tIns="0" rIns="0" bIns="0" rtlCol="0" anchor="t"/>
          <a:p>
            <a:pPr algn="l">
              <a:lnSpc>
                <a:spcPct val="113000"/>
              </a:lnSpc>
            </a:pPr>
            <a:r>
              <a:rPr lang="zh-CN" altLang="en-US" sz="3600" b="1">
                <a:solidFill>
                  <a:srgbClr val="323232"/>
                </a:solidFill>
                <a:latin typeface="黑体" panose="02010609060101010101" charset="-122"/>
              </a:rPr>
              <a:t>命令模式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600"/>
                                        <p:tgtEl>
                                          <p:spTgt spid="58"/>
                                        </p:tgtEl>
                                      </p:cBhvr>
                                    </p:animEffect>
                                  </p:childTnLst>
                                </p:cTn>
                              </p:par>
                              <p:par>
                                <p:cTn id="8" presetID="35" presetClass="path" presetSubtype="0" decel="100000" fill="hold" nodeType="withEffect">
                                  <p:stCondLst>
                                    <p:cond delay="0"/>
                                  </p:stCondLst>
                                  <p:childTnLst>
                                    <p:animMotion origin="layout" path="M -0.05552 0.00023 L -3.51034E-6 0.00023 " pathEditMode="relative" rAng="0" ptsTypes="AA">
                                      <p:cBhvr>
                                        <p:cTn id="9" dur="800" fill="hold"/>
                                        <p:tgtEl>
                                          <p:spTgt spid="58"/>
                                        </p:tgtEl>
                                        <p:attrNameLst>
                                          <p:attrName>ppt_x</p:attrName>
                                          <p:attrName>ppt_y</p:attrName>
                                        </p:attrNameLst>
                                      </p:cBhvr>
                                      <p:rCtr x="2800" y="0"/>
                                    </p:animMotion>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600"/>
                                        <p:tgtEl>
                                          <p:spTgt spid="30"/>
                                        </p:tgtEl>
                                      </p:cBhvr>
                                    </p:animEffect>
                                  </p:childTnLst>
                                </p:cTn>
                              </p:par>
                              <p:par>
                                <p:cTn id="14" presetID="35" presetClass="path" presetSubtype="0" decel="100000" fill="hold" nodeType="withEffect">
                                  <p:stCondLst>
                                    <p:cond delay="0"/>
                                  </p:stCondLst>
                                  <p:childTnLst>
                                    <p:animMotion origin="layout" path="M -0.05552 0.00023 L -3.51034E-6 0.00023 " pathEditMode="relative" rAng="0" ptsTypes="AA">
                                      <p:cBhvr>
                                        <p:cTn id="15" dur="800" fill="hold"/>
                                        <p:tgtEl>
                                          <p:spTgt spid="30"/>
                                        </p:tgtEl>
                                        <p:attrNameLst>
                                          <p:attrName>ppt_x</p:attrName>
                                          <p:attrName>ppt_y</p:attrName>
                                        </p:attrNameLst>
                                      </p:cBhvr>
                                      <p:rCtr x="2800" y="0"/>
                                    </p:animMotion>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600"/>
                                        <p:tgtEl>
                                          <p:spTgt spid="36"/>
                                        </p:tgtEl>
                                      </p:cBhvr>
                                    </p:animEffect>
                                  </p:childTnLst>
                                </p:cTn>
                              </p:par>
                              <p:par>
                                <p:cTn id="20" presetID="35" presetClass="path" presetSubtype="0" decel="100000" fill="hold" nodeType="withEffect">
                                  <p:stCondLst>
                                    <p:cond delay="0"/>
                                  </p:stCondLst>
                                  <p:childTnLst>
                                    <p:animMotion origin="layout" path="M -0.05552 0.00023 L -3.51034E-6 0.00023 " pathEditMode="relative" rAng="0" ptsTypes="AA">
                                      <p:cBhvr>
                                        <p:cTn id="21" dur="800" fill="hold"/>
                                        <p:tgtEl>
                                          <p:spTgt spid="36"/>
                                        </p:tgtEl>
                                        <p:attrNameLst>
                                          <p:attrName>ppt_x</p:attrName>
                                          <p:attrName>ppt_y</p:attrName>
                                        </p:attrNameLst>
                                      </p:cBhvr>
                                      <p:rCtr x="28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18" name="TextBox 4"/>
          <p:cNvSpPr txBox="1"/>
          <p:nvPr/>
        </p:nvSpPr>
        <p:spPr>
          <a:xfrm>
            <a:off x="3383915" y="3392170"/>
            <a:ext cx="9487535" cy="1554480"/>
          </a:xfrm>
          <a:prstGeom prst="rect">
            <a:avLst/>
          </a:prstGeom>
        </p:spPr>
        <p:txBody>
          <a:bodyPr lIns="0" tIns="0" rIns="0" bIns="0" rtlCol="0" anchor="t"/>
          <a:p>
            <a:pPr algn="l">
              <a:lnSpc>
                <a:spcPct val="113000"/>
              </a:lnSpc>
            </a:pPr>
            <a:r>
              <a:rPr lang="en-US" sz="2800" b="1">
                <a:solidFill>
                  <a:srgbClr val="323232"/>
                </a:solidFill>
                <a:latin typeface="黑体" panose="02010609060101010101" charset="-122"/>
              </a:rPr>
              <a:t>  </a:t>
            </a:r>
            <a:r>
              <a:rPr lang="en-US" sz="4000" b="1">
                <a:solidFill>
                  <a:srgbClr val="323232"/>
                </a:solidFill>
                <a:latin typeface="黑体" panose="02010609060101010101" charset="-122"/>
              </a:rPr>
              <a:t>   </a:t>
            </a:r>
            <a:r>
              <a:rPr lang="zh-CN" altLang="en-US" sz="4000" b="1">
                <a:solidFill>
                  <a:srgbClr val="323232"/>
                </a:solidFill>
                <a:latin typeface="黑体" panose="02010609060101010101" charset="-122"/>
              </a:rPr>
              <a:t>需求</a:t>
            </a:r>
            <a:r>
              <a:rPr lang="en-US" altLang="zh-CN" sz="4000" b="1">
                <a:solidFill>
                  <a:srgbClr val="323232"/>
                </a:solidFill>
                <a:latin typeface="黑体" panose="02010609060101010101" charset="-122"/>
              </a:rPr>
              <a:t>1</a:t>
            </a:r>
            <a:r>
              <a:rPr lang="zh-CN" altLang="en-US" sz="4000" b="1">
                <a:solidFill>
                  <a:srgbClr val="323232"/>
                </a:solidFill>
                <a:latin typeface="黑体" panose="02010609060101010101" charset="-122"/>
              </a:rPr>
              <a:t>：相似句支持批量导入，设计导入流程，上传</a:t>
            </a:r>
            <a:r>
              <a:rPr lang="en-US" altLang="zh-CN" sz="4000" b="1">
                <a:solidFill>
                  <a:srgbClr val="323232"/>
                </a:solidFill>
                <a:latin typeface="黑体" panose="02010609060101010101" charset="-122"/>
              </a:rPr>
              <a:t>-&gt;</a:t>
            </a:r>
            <a:r>
              <a:rPr lang="zh-CN" altLang="en-US" sz="4000" b="1">
                <a:solidFill>
                  <a:srgbClr val="323232"/>
                </a:solidFill>
                <a:latin typeface="黑体" panose="02010609060101010101" charset="-122"/>
              </a:rPr>
              <a:t>校验</a:t>
            </a:r>
            <a:r>
              <a:rPr lang="en-US" altLang="zh-CN" sz="4000" b="1">
                <a:solidFill>
                  <a:srgbClr val="323232"/>
                </a:solidFill>
                <a:latin typeface="黑体" panose="02010609060101010101" charset="-122"/>
              </a:rPr>
              <a:t>-&gt;</a:t>
            </a:r>
            <a:r>
              <a:rPr lang="zh-CN" altLang="en-US" sz="4000" b="1">
                <a:solidFill>
                  <a:srgbClr val="323232"/>
                </a:solidFill>
                <a:latin typeface="黑体" panose="02010609060101010101" charset="-122"/>
              </a:rPr>
              <a:t>保存</a:t>
            </a:r>
            <a:endParaRPr lang="zh-CN" altLang="en-US" sz="4000" b="1">
              <a:solidFill>
                <a:srgbClr val="323232"/>
              </a:solidFill>
              <a:latin typeface="黑体" panose="02010609060101010101" charset="-122"/>
            </a:endParaRPr>
          </a:p>
          <a:p>
            <a:pPr algn="l">
              <a:lnSpc>
                <a:spcPct val="113000"/>
              </a:lnSpc>
            </a:pPr>
            <a:endParaRPr lang="en-US" sz="4000" b="1">
              <a:solidFill>
                <a:srgbClr val="323232"/>
              </a:solidFill>
              <a:latin typeface="黑体"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18" name="TextBox 4"/>
          <p:cNvSpPr txBox="1"/>
          <p:nvPr/>
        </p:nvSpPr>
        <p:spPr>
          <a:xfrm>
            <a:off x="9154160" y="1196340"/>
            <a:ext cx="2936875" cy="598170"/>
          </a:xfrm>
          <a:prstGeom prst="rect">
            <a:avLst/>
          </a:prstGeom>
        </p:spPr>
        <p:txBody>
          <a:bodyPr lIns="0" tIns="0" rIns="0" bIns="0" rtlCol="0" anchor="t"/>
          <a:p>
            <a:pPr algn="l">
              <a:lnSpc>
                <a:spcPct val="113000"/>
              </a:lnSpc>
            </a:pPr>
            <a:r>
              <a:rPr lang="en-US" sz="2800" b="1">
                <a:solidFill>
                  <a:srgbClr val="323232"/>
                </a:solidFill>
                <a:latin typeface="黑体" panose="02010609060101010101" charset="-122"/>
              </a:rPr>
              <a:t> </a:t>
            </a:r>
            <a:r>
              <a:rPr lang="zh-CN" altLang="en-US" sz="2800">
                <a:solidFill>
                  <a:srgbClr val="323232"/>
                </a:solidFill>
                <a:latin typeface="黑体" panose="02010609060101010101" charset="-122"/>
              </a:rPr>
              <a:t>客户端调用</a:t>
            </a:r>
            <a:endParaRPr lang="zh-CN" altLang="en-US" sz="2800" b="1">
              <a:solidFill>
                <a:srgbClr val="323232"/>
              </a:solidFill>
              <a:latin typeface="黑体" panose="02010609060101010101" charset="-122"/>
            </a:endParaRPr>
          </a:p>
          <a:p>
            <a:pPr algn="l">
              <a:lnSpc>
                <a:spcPct val="113000"/>
              </a:lnSpc>
            </a:pPr>
            <a:endParaRPr lang="en-US" sz="2800" b="1">
              <a:solidFill>
                <a:srgbClr val="323232"/>
              </a:solidFill>
              <a:latin typeface="黑体" panose="02010609060101010101" charset="-122"/>
            </a:endParaRPr>
          </a:p>
        </p:txBody>
      </p:sp>
      <p:pic>
        <p:nvPicPr>
          <p:cNvPr id="4" name="图片 3"/>
          <p:cNvPicPr>
            <a:picLocks noChangeAspect="1"/>
          </p:cNvPicPr>
          <p:nvPr/>
        </p:nvPicPr>
        <p:blipFill>
          <a:blip r:embed="rId3"/>
          <a:stretch>
            <a:fillRect/>
          </a:stretch>
        </p:blipFill>
        <p:spPr>
          <a:xfrm>
            <a:off x="9154160" y="1901825"/>
            <a:ext cx="4867275" cy="1714500"/>
          </a:xfrm>
          <a:prstGeom prst="rect">
            <a:avLst/>
          </a:prstGeom>
        </p:spPr>
      </p:pic>
      <p:pic>
        <p:nvPicPr>
          <p:cNvPr id="5" name="图片 4"/>
          <p:cNvPicPr>
            <a:picLocks noChangeAspect="1"/>
          </p:cNvPicPr>
          <p:nvPr/>
        </p:nvPicPr>
        <p:blipFill>
          <a:blip r:embed="rId4"/>
          <a:stretch>
            <a:fillRect/>
          </a:stretch>
        </p:blipFill>
        <p:spPr>
          <a:xfrm>
            <a:off x="520700" y="1079500"/>
            <a:ext cx="6126480" cy="74993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18" name="TextBox 4"/>
          <p:cNvSpPr txBox="1"/>
          <p:nvPr/>
        </p:nvSpPr>
        <p:spPr>
          <a:xfrm>
            <a:off x="3385185" y="3486150"/>
            <a:ext cx="9451975" cy="1449705"/>
          </a:xfrm>
          <a:prstGeom prst="rect">
            <a:avLst/>
          </a:prstGeom>
        </p:spPr>
        <p:txBody>
          <a:bodyPr lIns="0" tIns="0" rIns="0" bIns="0" rtlCol="0" anchor="t"/>
          <a:p>
            <a:pPr algn="l">
              <a:lnSpc>
                <a:spcPct val="113000"/>
              </a:lnSpc>
            </a:pPr>
            <a:r>
              <a:rPr lang="en-US" sz="2800" b="1">
                <a:solidFill>
                  <a:srgbClr val="323232"/>
                </a:solidFill>
                <a:latin typeface="黑体" panose="02010609060101010101" charset="-122"/>
              </a:rPr>
              <a:t>      </a:t>
            </a:r>
            <a:r>
              <a:rPr lang="zh-CN" altLang="en-US" sz="4000" b="1">
                <a:solidFill>
                  <a:srgbClr val="323232"/>
                </a:solidFill>
                <a:latin typeface="黑体" panose="02010609060101010101" charset="-122"/>
              </a:rPr>
              <a:t>需求</a:t>
            </a:r>
            <a:r>
              <a:rPr lang="en-US" altLang="zh-CN" sz="4000" b="1">
                <a:solidFill>
                  <a:srgbClr val="323232"/>
                </a:solidFill>
                <a:latin typeface="黑体" panose="02010609060101010101" charset="-122"/>
              </a:rPr>
              <a:t>2</a:t>
            </a:r>
            <a:r>
              <a:rPr lang="zh-CN" altLang="en-US" sz="4000" b="1">
                <a:solidFill>
                  <a:srgbClr val="323232"/>
                </a:solidFill>
                <a:latin typeface="黑体" panose="02010609060101010101" charset="-122"/>
              </a:rPr>
              <a:t>：问句答案支持批量导入，设计导入流程，上传</a:t>
            </a:r>
            <a:r>
              <a:rPr lang="en-US" altLang="zh-CN" sz="4000" b="1">
                <a:solidFill>
                  <a:srgbClr val="323232"/>
                </a:solidFill>
                <a:latin typeface="黑体" panose="02010609060101010101" charset="-122"/>
              </a:rPr>
              <a:t>-&gt;</a:t>
            </a:r>
            <a:r>
              <a:rPr lang="zh-CN" altLang="en-US" sz="4000" b="1">
                <a:solidFill>
                  <a:srgbClr val="323232"/>
                </a:solidFill>
                <a:latin typeface="黑体" panose="02010609060101010101" charset="-122"/>
              </a:rPr>
              <a:t>校验</a:t>
            </a:r>
            <a:r>
              <a:rPr lang="en-US" altLang="zh-CN" sz="4000" b="1">
                <a:solidFill>
                  <a:srgbClr val="323232"/>
                </a:solidFill>
                <a:latin typeface="黑体" panose="02010609060101010101" charset="-122"/>
              </a:rPr>
              <a:t>-&gt;</a:t>
            </a:r>
            <a:r>
              <a:rPr lang="zh-CN" altLang="en-US" sz="4000" b="1">
                <a:solidFill>
                  <a:srgbClr val="323232"/>
                </a:solidFill>
                <a:latin typeface="黑体" panose="02010609060101010101" charset="-122"/>
              </a:rPr>
              <a:t>保存</a:t>
            </a:r>
            <a:endParaRPr lang="zh-CN" altLang="en-US" sz="2800" b="1">
              <a:solidFill>
                <a:srgbClr val="323232"/>
              </a:solidFill>
              <a:latin typeface="黑体" panose="02010609060101010101" charset="-122"/>
            </a:endParaRPr>
          </a:p>
          <a:p>
            <a:pPr algn="l">
              <a:lnSpc>
                <a:spcPct val="113000"/>
              </a:lnSpc>
            </a:pPr>
            <a:endParaRPr lang="en-US" sz="2800" b="1">
              <a:solidFill>
                <a:srgbClr val="323232"/>
              </a:solidFill>
              <a:latin typeface="黑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4" name="TextBox 4"/>
          <p:cNvSpPr txBox="1"/>
          <p:nvPr/>
        </p:nvSpPr>
        <p:spPr>
          <a:xfrm>
            <a:off x="9154160" y="1079500"/>
            <a:ext cx="2936875" cy="598170"/>
          </a:xfrm>
          <a:prstGeom prst="rect">
            <a:avLst/>
          </a:prstGeom>
        </p:spPr>
        <p:txBody>
          <a:bodyPr lIns="0" tIns="0" rIns="0" bIns="0" rtlCol="0" anchor="t"/>
          <a:p>
            <a:pPr algn="l">
              <a:lnSpc>
                <a:spcPct val="113000"/>
              </a:lnSpc>
            </a:pPr>
            <a:r>
              <a:rPr lang="en-US" sz="2800" b="1">
                <a:solidFill>
                  <a:srgbClr val="323232"/>
                </a:solidFill>
                <a:latin typeface="黑体" panose="02010609060101010101" charset="-122"/>
              </a:rPr>
              <a:t> </a:t>
            </a:r>
            <a:r>
              <a:rPr lang="zh-CN" altLang="en-US" sz="2800">
                <a:solidFill>
                  <a:srgbClr val="323232"/>
                </a:solidFill>
                <a:latin typeface="黑体" panose="02010609060101010101" charset="-122"/>
              </a:rPr>
              <a:t>客户端调用</a:t>
            </a:r>
            <a:endParaRPr lang="zh-CN" altLang="en-US" sz="2800" b="1">
              <a:solidFill>
                <a:srgbClr val="323232"/>
              </a:solidFill>
              <a:latin typeface="黑体" panose="02010609060101010101" charset="-122"/>
            </a:endParaRPr>
          </a:p>
          <a:p>
            <a:pPr algn="l">
              <a:lnSpc>
                <a:spcPct val="113000"/>
              </a:lnSpc>
            </a:pPr>
            <a:endParaRPr lang="en-US" sz="2800" b="1">
              <a:solidFill>
                <a:srgbClr val="323232"/>
              </a:solidFill>
              <a:latin typeface="黑体" panose="02010609060101010101" charset="-122"/>
            </a:endParaRPr>
          </a:p>
        </p:txBody>
      </p:sp>
      <p:pic>
        <p:nvPicPr>
          <p:cNvPr id="5" name="图片 4"/>
          <p:cNvPicPr>
            <a:picLocks noChangeAspect="1"/>
          </p:cNvPicPr>
          <p:nvPr/>
        </p:nvPicPr>
        <p:blipFill>
          <a:blip r:embed="rId3"/>
          <a:stretch>
            <a:fillRect/>
          </a:stretch>
        </p:blipFill>
        <p:spPr>
          <a:xfrm>
            <a:off x="9368155" y="1677670"/>
            <a:ext cx="4667250" cy="1781175"/>
          </a:xfrm>
          <a:prstGeom prst="rect">
            <a:avLst/>
          </a:prstGeom>
        </p:spPr>
      </p:pic>
      <p:pic>
        <p:nvPicPr>
          <p:cNvPr id="7" name="图片 6"/>
          <p:cNvPicPr>
            <a:picLocks noChangeAspect="1"/>
          </p:cNvPicPr>
          <p:nvPr/>
        </p:nvPicPr>
        <p:blipFill>
          <a:blip r:embed="rId4"/>
          <a:stretch>
            <a:fillRect/>
          </a:stretch>
        </p:blipFill>
        <p:spPr>
          <a:xfrm>
            <a:off x="520700" y="1066800"/>
            <a:ext cx="6571615" cy="79222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18" name="TextBox 4"/>
          <p:cNvSpPr txBox="1"/>
          <p:nvPr/>
        </p:nvSpPr>
        <p:spPr>
          <a:xfrm>
            <a:off x="3385185" y="3486150"/>
            <a:ext cx="9990455" cy="2044700"/>
          </a:xfrm>
          <a:prstGeom prst="rect">
            <a:avLst/>
          </a:prstGeom>
        </p:spPr>
        <p:txBody>
          <a:bodyPr lIns="0" tIns="0" rIns="0" bIns="0" rtlCol="0" anchor="t"/>
          <a:p>
            <a:pPr algn="l">
              <a:lnSpc>
                <a:spcPct val="113000"/>
              </a:lnSpc>
            </a:pPr>
            <a:endParaRPr lang="zh-CN" altLang="en-US" sz="2800" b="1">
              <a:solidFill>
                <a:srgbClr val="323232"/>
              </a:solidFill>
              <a:latin typeface="黑体" panose="02010609060101010101" charset="-122"/>
              <a:sym typeface="+mn-ea"/>
            </a:endParaRPr>
          </a:p>
          <a:p>
            <a:pPr algn="l">
              <a:lnSpc>
                <a:spcPct val="113000"/>
              </a:lnSpc>
            </a:pPr>
            <a:r>
              <a:rPr lang="zh-CN" altLang="en-US" sz="2800" b="1">
                <a:solidFill>
                  <a:srgbClr val="323232"/>
                </a:solidFill>
                <a:latin typeface="黑体" panose="02010609060101010101" charset="-122"/>
                <a:sym typeface="+mn-ea"/>
              </a:rPr>
              <a:t>  </a:t>
            </a:r>
            <a:r>
              <a:rPr lang="zh-CN" altLang="en-US" sz="4000" b="1">
                <a:solidFill>
                  <a:srgbClr val="323232"/>
                </a:solidFill>
                <a:latin typeface="黑体" panose="02010609060101010101" charset="-122"/>
                <a:sym typeface="+mn-ea"/>
              </a:rPr>
              <a:t>  需求</a:t>
            </a:r>
            <a:r>
              <a:rPr lang="en-US" altLang="zh-CN" sz="4000" b="1">
                <a:solidFill>
                  <a:srgbClr val="323232"/>
                </a:solidFill>
                <a:latin typeface="黑体" panose="02010609060101010101" charset="-122"/>
                <a:sym typeface="+mn-ea"/>
              </a:rPr>
              <a:t>3</a:t>
            </a:r>
            <a:r>
              <a:rPr lang="zh-CN" altLang="en-US" sz="4000" b="1">
                <a:solidFill>
                  <a:srgbClr val="323232"/>
                </a:solidFill>
                <a:latin typeface="黑体" panose="02010609060101010101" charset="-122"/>
                <a:sym typeface="+mn-ea"/>
              </a:rPr>
              <a:t>：增加消息通知机制，流程变更为，</a:t>
            </a:r>
            <a:endParaRPr lang="zh-CN" altLang="en-US" sz="4000" b="1">
              <a:solidFill>
                <a:srgbClr val="323232"/>
              </a:solidFill>
              <a:latin typeface="黑体" panose="02010609060101010101" charset="-122"/>
              <a:sym typeface="+mn-ea"/>
            </a:endParaRPr>
          </a:p>
          <a:p>
            <a:pPr algn="l">
              <a:lnSpc>
                <a:spcPct val="113000"/>
              </a:lnSpc>
            </a:pPr>
            <a:r>
              <a:rPr lang="zh-CN" altLang="en-US" sz="4000" b="1">
                <a:solidFill>
                  <a:srgbClr val="323232"/>
                </a:solidFill>
                <a:latin typeface="黑体" panose="02010609060101010101" charset="-122"/>
                <a:sym typeface="+mn-ea"/>
              </a:rPr>
              <a:t>上传</a:t>
            </a:r>
            <a:r>
              <a:rPr lang="en-US" altLang="zh-CN" sz="4000" b="1">
                <a:solidFill>
                  <a:srgbClr val="323232"/>
                </a:solidFill>
                <a:latin typeface="黑体" panose="02010609060101010101" charset="-122"/>
                <a:sym typeface="+mn-ea"/>
              </a:rPr>
              <a:t>-&gt;</a:t>
            </a:r>
            <a:r>
              <a:rPr lang="zh-CN" altLang="en-US" sz="4000" b="1">
                <a:solidFill>
                  <a:srgbClr val="323232"/>
                </a:solidFill>
                <a:latin typeface="黑体" panose="02010609060101010101" charset="-122"/>
                <a:sym typeface="+mn-ea"/>
              </a:rPr>
              <a:t>校验</a:t>
            </a:r>
            <a:r>
              <a:rPr lang="en-US" altLang="zh-CN" sz="4000" b="1">
                <a:solidFill>
                  <a:srgbClr val="323232"/>
                </a:solidFill>
                <a:latin typeface="黑体" panose="02010609060101010101" charset="-122"/>
                <a:sym typeface="+mn-ea"/>
              </a:rPr>
              <a:t>-&gt;</a:t>
            </a:r>
            <a:r>
              <a:rPr lang="zh-CN" altLang="en-US" sz="4000" b="1">
                <a:solidFill>
                  <a:srgbClr val="323232"/>
                </a:solidFill>
                <a:latin typeface="黑体" panose="02010609060101010101" charset="-122"/>
                <a:sym typeface="+mn-ea"/>
              </a:rPr>
              <a:t>保存</a:t>
            </a:r>
            <a:r>
              <a:rPr lang="en-US" altLang="zh-CN" sz="4000" b="1">
                <a:solidFill>
                  <a:srgbClr val="323232"/>
                </a:solidFill>
                <a:latin typeface="黑体" panose="02010609060101010101" charset="-122"/>
                <a:sym typeface="+mn-ea"/>
              </a:rPr>
              <a:t>-&gt;</a:t>
            </a:r>
            <a:r>
              <a:rPr lang="zh-CN" altLang="en-US" sz="4000" b="1">
                <a:solidFill>
                  <a:srgbClr val="323232"/>
                </a:solidFill>
                <a:latin typeface="黑体" panose="02010609060101010101" charset="-122"/>
                <a:sym typeface="+mn-ea"/>
              </a:rPr>
              <a:t>通知</a:t>
            </a:r>
            <a:endParaRPr lang="zh-CN" altLang="en-US" sz="4000" b="1">
              <a:solidFill>
                <a:srgbClr val="323232"/>
              </a:solidFill>
              <a:latin typeface="黑体" panose="02010609060101010101" charset="-122"/>
            </a:endParaRPr>
          </a:p>
          <a:p>
            <a:pPr algn="l">
              <a:lnSpc>
                <a:spcPct val="113000"/>
              </a:lnSpc>
            </a:pPr>
            <a:endParaRPr lang="en-US" sz="4000" b="1">
              <a:solidFill>
                <a:srgbClr val="323232"/>
              </a:solidFill>
              <a:latin typeface="黑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7" name="图片 6"/>
          <p:cNvPicPr>
            <a:picLocks noChangeAspect="1"/>
          </p:cNvPicPr>
          <p:nvPr/>
        </p:nvPicPr>
        <p:blipFill>
          <a:blip r:embed="rId3"/>
          <a:stretch>
            <a:fillRect/>
          </a:stretch>
        </p:blipFill>
        <p:spPr>
          <a:xfrm>
            <a:off x="520700" y="1066800"/>
            <a:ext cx="5016500" cy="7708265"/>
          </a:xfrm>
          <a:prstGeom prst="rect">
            <a:avLst/>
          </a:prstGeom>
        </p:spPr>
      </p:pic>
      <p:pic>
        <p:nvPicPr>
          <p:cNvPr id="8" name="图片 7"/>
          <p:cNvPicPr>
            <a:picLocks noChangeAspect="1"/>
          </p:cNvPicPr>
          <p:nvPr/>
        </p:nvPicPr>
        <p:blipFill>
          <a:blip r:embed="rId4"/>
          <a:stretch>
            <a:fillRect/>
          </a:stretch>
        </p:blipFill>
        <p:spPr>
          <a:xfrm>
            <a:off x="6066155" y="2808605"/>
            <a:ext cx="4124325" cy="2228850"/>
          </a:xfrm>
          <a:prstGeom prst="rect">
            <a:avLst/>
          </a:prstGeom>
        </p:spPr>
      </p:pic>
      <p:pic>
        <p:nvPicPr>
          <p:cNvPr id="10" name="图片 9"/>
          <p:cNvPicPr>
            <a:picLocks noChangeAspect="1"/>
          </p:cNvPicPr>
          <p:nvPr/>
        </p:nvPicPr>
        <p:blipFill>
          <a:blip r:embed="rId5"/>
          <a:stretch>
            <a:fillRect/>
          </a:stretch>
        </p:blipFill>
        <p:spPr>
          <a:xfrm>
            <a:off x="10558780" y="1079500"/>
            <a:ext cx="5028565" cy="7708900"/>
          </a:xfrm>
          <a:prstGeom prst="rect">
            <a:avLst/>
          </a:prstGeom>
        </p:spPr>
      </p:pic>
      <p:pic>
        <p:nvPicPr>
          <p:cNvPr id="13" name="图片 12"/>
          <p:cNvPicPr>
            <a:picLocks noChangeAspect="1"/>
          </p:cNvPicPr>
          <p:nvPr/>
        </p:nvPicPr>
        <p:blipFill>
          <a:blip r:embed="rId6"/>
          <a:stretch>
            <a:fillRect/>
          </a:stretch>
        </p:blipFill>
        <p:spPr>
          <a:xfrm>
            <a:off x="5942330" y="5666105"/>
            <a:ext cx="4371975" cy="2085975"/>
          </a:xfrm>
          <a:prstGeom prst="rect">
            <a:avLst/>
          </a:prstGeom>
        </p:spPr>
      </p:pic>
      <p:sp>
        <p:nvSpPr>
          <p:cNvPr id="14" name="TextBox 6"/>
          <p:cNvSpPr txBox="1"/>
          <p:nvPr/>
        </p:nvSpPr>
        <p:spPr>
          <a:xfrm>
            <a:off x="6790055" y="1780540"/>
            <a:ext cx="2355215" cy="685800"/>
          </a:xfrm>
          <a:prstGeom prst="rect">
            <a:avLst/>
          </a:prstGeom>
        </p:spPr>
        <p:txBody>
          <a:bodyPr lIns="0" tIns="0" rIns="0" bIns="0" rtlCol="0" anchor="t"/>
          <a:p>
            <a:pPr algn="l">
              <a:lnSpc>
                <a:spcPct val="113000"/>
              </a:lnSpc>
            </a:pPr>
            <a:r>
              <a:rPr lang="zh-CN" altLang="en-US" sz="3600">
                <a:solidFill>
                  <a:srgbClr val="323232"/>
                </a:solidFill>
                <a:latin typeface="黑体" panose="02010609060101010101" charset="-122"/>
              </a:rPr>
              <a:t>客户端调用</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18" name="TextBox 4"/>
          <p:cNvSpPr txBox="1"/>
          <p:nvPr/>
        </p:nvSpPr>
        <p:spPr>
          <a:xfrm>
            <a:off x="3676650" y="2657475"/>
            <a:ext cx="7969885" cy="748665"/>
          </a:xfrm>
          <a:prstGeom prst="rect">
            <a:avLst/>
          </a:prstGeom>
        </p:spPr>
        <p:txBody>
          <a:bodyPr lIns="0" tIns="0" rIns="0" bIns="0" rtlCol="0" anchor="t"/>
          <a:p>
            <a:pPr algn="ctr">
              <a:lnSpc>
                <a:spcPct val="113000"/>
              </a:lnSpc>
            </a:pPr>
            <a:r>
              <a:rPr lang="zh-CN" altLang="en-US" sz="4000" b="1">
                <a:solidFill>
                  <a:srgbClr val="323232"/>
                </a:solidFill>
                <a:latin typeface="黑体" panose="02010609060101010101" charset="-122"/>
                <a:sym typeface="+mn-ea"/>
              </a:rPr>
              <a:t>    </a:t>
            </a:r>
            <a:r>
              <a:rPr lang="zh-CN" altLang="en-US" sz="4400" b="1">
                <a:solidFill>
                  <a:srgbClr val="323232"/>
                </a:solidFill>
                <a:latin typeface="黑体" panose="02010609060101010101" charset="-122"/>
                <a:sym typeface="+mn-ea"/>
              </a:rPr>
              <a:t>分析</a:t>
            </a:r>
            <a:endParaRPr lang="zh-CN" altLang="en-US" sz="4400" b="1">
              <a:solidFill>
                <a:srgbClr val="323232"/>
              </a:solidFill>
              <a:latin typeface="黑体" panose="02010609060101010101" charset="-122"/>
              <a:sym typeface="+mn-ea"/>
            </a:endParaRPr>
          </a:p>
          <a:p>
            <a:pPr algn="l">
              <a:lnSpc>
                <a:spcPct val="113000"/>
              </a:lnSpc>
            </a:pPr>
            <a:r>
              <a:rPr lang="en-US" sz="2800" b="1">
                <a:solidFill>
                  <a:srgbClr val="323232"/>
                </a:solidFill>
                <a:latin typeface="黑体" panose="02010609060101010101" charset="-122"/>
              </a:rPr>
              <a:t>   </a:t>
            </a:r>
            <a:endParaRPr lang="zh-CN" altLang="en-US" sz="2800" b="1">
              <a:solidFill>
                <a:srgbClr val="323232"/>
              </a:solidFill>
              <a:latin typeface="黑体" panose="02010609060101010101" charset="-122"/>
            </a:endParaRPr>
          </a:p>
          <a:p>
            <a:pPr algn="l">
              <a:lnSpc>
                <a:spcPct val="113000"/>
              </a:lnSpc>
            </a:pPr>
            <a:endParaRPr lang="zh-CN" altLang="en-US" sz="2800" b="1">
              <a:solidFill>
                <a:srgbClr val="323232"/>
              </a:solidFill>
              <a:latin typeface="黑体" panose="02010609060101010101" charset="-122"/>
            </a:endParaRPr>
          </a:p>
        </p:txBody>
      </p:sp>
      <p:sp>
        <p:nvSpPr>
          <p:cNvPr id="3" name="TextBox 4"/>
          <p:cNvSpPr txBox="1"/>
          <p:nvPr/>
        </p:nvSpPr>
        <p:spPr>
          <a:xfrm>
            <a:off x="3676650" y="3601720"/>
            <a:ext cx="9557385" cy="1600200"/>
          </a:xfrm>
          <a:prstGeom prst="rect">
            <a:avLst/>
          </a:prstGeom>
        </p:spPr>
        <p:txBody>
          <a:bodyPr lIns="0" tIns="0" rIns="0" bIns="0" rtlCol="0" anchor="t"/>
          <a:p>
            <a:pPr algn="l">
              <a:lnSpc>
                <a:spcPct val="113000"/>
              </a:lnSpc>
            </a:pPr>
            <a:r>
              <a:rPr lang="en-US" altLang="zh-CN" sz="4000">
                <a:solidFill>
                  <a:srgbClr val="323232"/>
                </a:solidFill>
                <a:latin typeface="黑体" panose="02010609060101010101" charset="-122"/>
                <a:sym typeface="+mn-ea"/>
              </a:rPr>
              <a:t>1</a:t>
            </a:r>
            <a:r>
              <a:rPr lang="zh-CN" altLang="en-US" sz="4000">
                <a:solidFill>
                  <a:srgbClr val="323232"/>
                </a:solidFill>
                <a:latin typeface="黑体" panose="02010609060101010101" charset="-122"/>
                <a:sym typeface="+mn-ea"/>
              </a:rPr>
              <a:t>、该业务流程固定</a:t>
            </a:r>
            <a:endParaRPr lang="zh-CN" altLang="en-US" sz="4000">
              <a:solidFill>
                <a:srgbClr val="323232"/>
              </a:solidFill>
              <a:latin typeface="黑体" panose="02010609060101010101" charset="-122"/>
              <a:sym typeface="+mn-ea"/>
            </a:endParaRPr>
          </a:p>
          <a:p>
            <a:pPr algn="l">
              <a:lnSpc>
                <a:spcPct val="113000"/>
              </a:lnSpc>
            </a:pPr>
            <a:r>
              <a:rPr lang="en-US" altLang="zh-CN" sz="4000">
                <a:solidFill>
                  <a:srgbClr val="323232"/>
                </a:solidFill>
                <a:latin typeface="黑体" panose="02010609060101010101" charset="-122"/>
                <a:sym typeface="+mn-ea"/>
              </a:rPr>
              <a:t>2</a:t>
            </a:r>
            <a:r>
              <a:rPr lang="zh-CN" altLang="en-US" sz="4000">
                <a:solidFill>
                  <a:srgbClr val="323232"/>
                </a:solidFill>
                <a:latin typeface="黑体" panose="02010609060101010101" charset="-122"/>
                <a:sym typeface="+mn-ea"/>
              </a:rPr>
              <a:t>、存在通用实现（</a:t>
            </a:r>
            <a:r>
              <a:rPr lang="en-US" altLang="zh-CN" sz="4000">
                <a:solidFill>
                  <a:srgbClr val="323232"/>
                </a:solidFill>
                <a:latin typeface="黑体" panose="02010609060101010101" charset="-122"/>
                <a:sym typeface="+mn-ea"/>
              </a:rPr>
              <a:t>uploadFile</a:t>
            </a:r>
            <a:r>
              <a:rPr lang="zh-CN" altLang="en-US" sz="4000">
                <a:solidFill>
                  <a:srgbClr val="323232"/>
                </a:solidFill>
                <a:latin typeface="黑体" panose="02010609060101010101" charset="-122"/>
                <a:sym typeface="+mn-ea"/>
              </a:rPr>
              <a:t>、</a:t>
            </a:r>
            <a:r>
              <a:rPr lang="en-US" altLang="zh-CN" sz="4000">
                <a:solidFill>
                  <a:srgbClr val="323232"/>
                </a:solidFill>
                <a:latin typeface="黑体" panose="02010609060101010101" charset="-122"/>
                <a:sym typeface="+mn-ea"/>
              </a:rPr>
              <a:t>notify</a:t>
            </a:r>
            <a:r>
              <a:rPr lang="zh-CN" altLang="en-US" sz="4000">
                <a:solidFill>
                  <a:srgbClr val="323232"/>
                </a:solidFill>
                <a:latin typeface="黑体" panose="02010609060101010101" charset="-122"/>
                <a:sym typeface="+mn-ea"/>
              </a:rPr>
              <a:t>）</a:t>
            </a:r>
            <a:endParaRPr lang="zh-CN" altLang="en-US" sz="2800">
              <a:solidFill>
                <a:srgbClr val="323232"/>
              </a:solidFill>
              <a:latin typeface="黑体" panose="02010609060101010101" charset="-122"/>
              <a:sym typeface="+mn-ea"/>
            </a:endParaRPr>
          </a:p>
          <a:p>
            <a:pPr algn="l">
              <a:lnSpc>
                <a:spcPct val="113000"/>
              </a:lnSpc>
            </a:pPr>
            <a:endParaRPr lang="en-US" altLang="zh-CN" sz="2800" b="1">
              <a:solidFill>
                <a:srgbClr val="323232"/>
              </a:solidFill>
              <a:latin typeface="黑体" panose="02010609060101010101" charset="-122"/>
              <a:sym typeface="+mn-ea"/>
            </a:endParaRPr>
          </a:p>
          <a:p>
            <a:pPr algn="l">
              <a:lnSpc>
                <a:spcPct val="113000"/>
              </a:lnSpc>
            </a:pPr>
            <a:endParaRPr lang="zh-CN" altLang="en-US" sz="2800" b="1">
              <a:solidFill>
                <a:srgbClr val="323232"/>
              </a:solidFill>
              <a:latin typeface="黑体" panose="02010609060101010101" charset="-122"/>
              <a:sym typeface="+mn-ea"/>
            </a:endParaRPr>
          </a:p>
          <a:p>
            <a:pPr algn="l">
              <a:lnSpc>
                <a:spcPct val="113000"/>
              </a:lnSpc>
            </a:pPr>
            <a:r>
              <a:rPr lang="en-US" sz="2800" b="1">
                <a:solidFill>
                  <a:srgbClr val="323232"/>
                </a:solidFill>
                <a:latin typeface="黑体" panose="02010609060101010101" charset="-122"/>
              </a:rPr>
              <a:t>   </a:t>
            </a:r>
            <a:endParaRPr lang="zh-CN" altLang="en-US" sz="2800" b="1">
              <a:solidFill>
                <a:srgbClr val="323232"/>
              </a:solidFill>
              <a:latin typeface="黑体" panose="02010609060101010101" charset="-122"/>
            </a:endParaRPr>
          </a:p>
          <a:p>
            <a:pPr algn="l">
              <a:lnSpc>
                <a:spcPct val="113000"/>
              </a:lnSpc>
            </a:pPr>
            <a:endParaRPr lang="zh-CN" altLang="en-US" sz="2800" b="1">
              <a:solidFill>
                <a:srgbClr val="323232"/>
              </a:solidFill>
              <a:latin typeface="黑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18" name="TextBox 4"/>
          <p:cNvSpPr txBox="1"/>
          <p:nvPr/>
        </p:nvSpPr>
        <p:spPr>
          <a:xfrm>
            <a:off x="3594735" y="1066800"/>
            <a:ext cx="7969885" cy="678815"/>
          </a:xfrm>
          <a:prstGeom prst="rect">
            <a:avLst/>
          </a:prstGeom>
        </p:spPr>
        <p:txBody>
          <a:bodyPr lIns="0" tIns="0" rIns="0" bIns="0" rtlCol="0" anchor="t"/>
          <a:p>
            <a:pPr algn="ctr">
              <a:lnSpc>
                <a:spcPct val="113000"/>
              </a:lnSpc>
            </a:pPr>
            <a:r>
              <a:rPr lang="zh-CN" altLang="en-US" sz="2800" b="1">
                <a:solidFill>
                  <a:srgbClr val="323232"/>
                </a:solidFill>
                <a:latin typeface="黑体" panose="02010609060101010101" charset="-122"/>
                <a:sym typeface="+mn-ea"/>
              </a:rPr>
              <a:t>    </a:t>
            </a:r>
            <a:r>
              <a:rPr lang="zh-CN" altLang="en-US" sz="4000" b="1">
                <a:solidFill>
                  <a:srgbClr val="323232"/>
                </a:solidFill>
                <a:latin typeface="黑体" panose="02010609060101010101" charset="-122"/>
                <a:sym typeface="+mn-ea"/>
              </a:rPr>
              <a:t>模板模式</a:t>
            </a:r>
            <a:endParaRPr lang="zh-CN" altLang="en-US" sz="4000" b="1">
              <a:solidFill>
                <a:srgbClr val="323232"/>
              </a:solidFill>
              <a:latin typeface="黑体" panose="02010609060101010101" charset="-122"/>
              <a:sym typeface="+mn-ea"/>
            </a:endParaRPr>
          </a:p>
          <a:p>
            <a:pPr algn="l">
              <a:lnSpc>
                <a:spcPct val="113000"/>
              </a:lnSpc>
            </a:pPr>
            <a:r>
              <a:rPr lang="en-US" sz="2800" b="1">
                <a:solidFill>
                  <a:srgbClr val="323232"/>
                </a:solidFill>
                <a:latin typeface="黑体" panose="02010609060101010101" charset="-122"/>
              </a:rPr>
              <a:t>   </a:t>
            </a:r>
            <a:endParaRPr lang="zh-CN" altLang="en-US" sz="2800" b="1">
              <a:solidFill>
                <a:srgbClr val="323232"/>
              </a:solidFill>
              <a:latin typeface="黑体" panose="02010609060101010101" charset="-122"/>
            </a:endParaRPr>
          </a:p>
          <a:p>
            <a:pPr algn="l">
              <a:lnSpc>
                <a:spcPct val="113000"/>
              </a:lnSpc>
            </a:pPr>
            <a:endParaRPr lang="zh-CN" altLang="en-US" sz="2800" b="1">
              <a:solidFill>
                <a:srgbClr val="323232"/>
              </a:solidFill>
              <a:latin typeface="黑体" panose="02010609060101010101" charset="-122"/>
            </a:endParaRPr>
          </a:p>
        </p:txBody>
      </p:sp>
      <p:sp>
        <p:nvSpPr>
          <p:cNvPr id="3" name="TextBox 4"/>
          <p:cNvSpPr txBox="1"/>
          <p:nvPr/>
        </p:nvSpPr>
        <p:spPr>
          <a:xfrm>
            <a:off x="920115" y="1978025"/>
            <a:ext cx="14847570" cy="6399530"/>
          </a:xfrm>
          <a:prstGeom prst="rect">
            <a:avLst/>
          </a:prstGeom>
        </p:spPr>
        <p:txBody>
          <a:bodyPr lIns="0" tIns="0" rIns="0" bIns="0" rtlCol="0" anchor="t"/>
          <a:p>
            <a:pPr algn="l">
              <a:lnSpc>
                <a:spcPct val="113000"/>
              </a:lnSpc>
            </a:pPr>
            <a:r>
              <a:rPr sz="3200">
                <a:solidFill>
                  <a:srgbClr val="323232"/>
                </a:solidFill>
                <a:latin typeface="黑体" panose="02010609060101010101" charset="-122"/>
                <a:sym typeface="+mn-ea"/>
              </a:rPr>
              <a:t>意图：定义一个操作中的算法的骨架，而将一些步骤延迟到子类中。模板方法使得子类可以不改变一个算法的结构即可重定义该算法的某些特定步骤。</a:t>
            </a:r>
            <a:endParaRPr sz="3200">
              <a:solidFill>
                <a:srgbClr val="323232"/>
              </a:solidFill>
              <a:latin typeface="黑体" panose="02010609060101010101" charset="-122"/>
              <a:sym typeface="+mn-ea"/>
            </a:endParaRPr>
          </a:p>
          <a:p>
            <a:pPr algn="l">
              <a:lnSpc>
                <a:spcPct val="113000"/>
              </a:lnSpc>
            </a:pPr>
            <a:endParaRPr sz="3200">
              <a:solidFill>
                <a:srgbClr val="323232"/>
              </a:solidFill>
              <a:latin typeface="黑体" panose="02010609060101010101" charset="-122"/>
              <a:sym typeface="+mn-ea"/>
            </a:endParaRPr>
          </a:p>
          <a:p>
            <a:pPr algn="l">
              <a:lnSpc>
                <a:spcPct val="113000"/>
              </a:lnSpc>
            </a:pPr>
            <a:r>
              <a:rPr sz="3200">
                <a:solidFill>
                  <a:srgbClr val="323232"/>
                </a:solidFill>
                <a:latin typeface="黑体" panose="02010609060101010101" charset="-122"/>
                <a:sym typeface="+mn-ea"/>
              </a:rPr>
              <a:t>主要解决：一些方法通用，却在每一个子类都重新写了这一方法。</a:t>
            </a:r>
            <a:endParaRPr sz="3200">
              <a:solidFill>
                <a:srgbClr val="323232"/>
              </a:solidFill>
              <a:latin typeface="黑体" panose="02010609060101010101" charset="-122"/>
              <a:sym typeface="+mn-ea"/>
            </a:endParaRPr>
          </a:p>
          <a:p>
            <a:pPr algn="l">
              <a:lnSpc>
                <a:spcPct val="113000"/>
              </a:lnSpc>
            </a:pPr>
            <a:endParaRPr sz="3200">
              <a:solidFill>
                <a:srgbClr val="323232"/>
              </a:solidFill>
              <a:latin typeface="黑体" panose="02010609060101010101" charset="-122"/>
              <a:sym typeface="+mn-ea"/>
            </a:endParaRPr>
          </a:p>
          <a:p>
            <a:pPr algn="l">
              <a:lnSpc>
                <a:spcPct val="113000"/>
              </a:lnSpc>
            </a:pPr>
            <a:r>
              <a:rPr sz="3200">
                <a:solidFill>
                  <a:srgbClr val="323232"/>
                </a:solidFill>
                <a:latin typeface="黑体" panose="02010609060101010101" charset="-122"/>
                <a:sym typeface="+mn-ea"/>
              </a:rPr>
              <a:t>何时使用：有一些通用的方法。</a:t>
            </a:r>
            <a:endParaRPr sz="3200">
              <a:solidFill>
                <a:srgbClr val="323232"/>
              </a:solidFill>
              <a:latin typeface="黑体" panose="02010609060101010101" charset="-122"/>
              <a:sym typeface="+mn-ea"/>
            </a:endParaRPr>
          </a:p>
          <a:p>
            <a:pPr algn="l">
              <a:lnSpc>
                <a:spcPct val="113000"/>
              </a:lnSpc>
            </a:pPr>
            <a:endParaRPr sz="3200">
              <a:solidFill>
                <a:srgbClr val="323232"/>
              </a:solidFill>
              <a:latin typeface="黑体" panose="02010609060101010101" charset="-122"/>
              <a:sym typeface="+mn-ea"/>
            </a:endParaRPr>
          </a:p>
          <a:p>
            <a:pPr algn="l">
              <a:lnSpc>
                <a:spcPct val="113000"/>
              </a:lnSpc>
            </a:pPr>
            <a:r>
              <a:rPr sz="3200">
                <a:solidFill>
                  <a:srgbClr val="323232"/>
                </a:solidFill>
                <a:latin typeface="黑体" panose="02010609060101010101" charset="-122"/>
                <a:sym typeface="+mn-ea"/>
              </a:rPr>
              <a:t>如何解决：将这些通用算法抽象出来。</a:t>
            </a:r>
            <a:endParaRPr sz="3200">
              <a:solidFill>
                <a:srgbClr val="323232"/>
              </a:solidFill>
              <a:latin typeface="黑体" panose="02010609060101010101" charset="-122"/>
              <a:sym typeface="+mn-ea"/>
            </a:endParaRPr>
          </a:p>
          <a:p>
            <a:pPr algn="l">
              <a:lnSpc>
                <a:spcPct val="113000"/>
              </a:lnSpc>
            </a:pPr>
            <a:endParaRPr sz="3200">
              <a:solidFill>
                <a:srgbClr val="323232"/>
              </a:solidFill>
              <a:latin typeface="黑体" panose="02010609060101010101" charset="-122"/>
              <a:sym typeface="+mn-ea"/>
            </a:endParaRPr>
          </a:p>
          <a:p>
            <a:pPr algn="l">
              <a:lnSpc>
                <a:spcPct val="113000"/>
              </a:lnSpc>
            </a:pPr>
            <a:r>
              <a:rPr sz="3200">
                <a:solidFill>
                  <a:srgbClr val="323232"/>
                </a:solidFill>
                <a:latin typeface="黑体" panose="02010609060101010101" charset="-122"/>
                <a:sym typeface="+mn-ea"/>
              </a:rPr>
              <a:t>关键代码：在抽象类实现，其他步骤在子类实现。</a:t>
            </a:r>
            <a:endParaRPr sz="2800">
              <a:solidFill>
                <a:srgbClr val="323232"/>
              </a:solidFill>
              <a:latin typeface="黑体" panose="02010609060101010101" charset="-122"/>
              <a:sym typeface="+mn-ea"/>
            </a:endParaRPr>
          </a:p>
          <a:p>
            <a:pPr algn="l">
              <a:lnSpc>
                <a:spcPct val="113000"/>
              </a:lnSpc>
            </a:pPr>
            <a:endParaRPr sz="2800">
              <a:solidFill>
                <a:srgbClr val="323232"/>
              </a:solidFill>
              <a:latin typeface="黑体" panose="02010609060101010101" charset="-122"/>
              <a:sym typeface="+mn-ea"/>
            </a:endParaRPr>
          </a:p>
          <a:p>
            <a:pPr algn="l">
              <a:lnSpc>
                <a:spcPct val="113000"/>
              </a:lnSpc>
            </a:pPr>
            <a:endParaRPr sz="2400">
              <a:solidFill>
                <a:srgbClr val="323232"/>
              </a:solidFill>
              <a:latin typeface="黑体" panose="02010609060101010101" charset="-122"/>
              <a:sym typeface="+mn-ea"/>
            </a:endParaRPr>
          </a:p>
          <a:p>
            <a:pPr algn="l">
              <a:lnSpc>
                <a:spcPct val="113000"/>
              </a:lnSpc>
            </a:pPr>
            <a:r>
              <a:rPr lang="en-US" sz="2800" b="1">
                <a:solidFill>
                  <a:srgbClr val="323232"/>
                </a:solidFill>
                <a:latin typeface="黑体" panose="02010609060101010101" charset="-122"/>
              </a:rPr>
              <a:t>   </a:t>
            </a:r>
            <a:endParaRPr lang="zh-CN" altLang="en-US" sz="2800" b="1">
              <a:solidFill>
                <a:srgbClr val="323232"/>
              </a:solidFill>
              <a:latin typeface="黑体" panose="02010609060101010101" charset="-122"/>
            </a:endParaRPr>
          </a:p>
          <a:p>
            <a:pPr algn="l">
              <a:lnSpc>
                <a:spcPct val="113000"/>
              </a:lnSpc>
            </a:pPr>
            <a:endParaRPr lang="zh-CN" altLang="en-US" sz="2800" b="1">
              <a:solidFill>
                <a:srgbClr val="323232"/>
              </a:solidFill>
              <a:latin typeface="黑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5" name="图片 4"/>
          <p:cNvPicPr>
            <a:picLocks noChangeAspect="1"/>
          </p:cNvPicPr>
          <p:nvPr/>
        </p:nvPicPr>
        <p:blipFill>
          <a:blip r:embed="rId3"/>
          <a:stretch>
            <a:fillRect/>
          </a:stretch>
        </p:blipFill>
        <p:spPr>
          <a:xfrm>
            <a:off x="1734185" y="1170940"/>
            <a:ext cx="12482195" cy="71983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3" name="图片 2"/>
          <p:cNvPicPr>
            <a:picLocks noChangeAspect="1"/>
          </p:cNvPicPr>
          <p:nvPr/>
        </p:nvPicPr>
        <p:blipFill>
          <a:blip r:embed="rId3"/>
          <a:stretch>
            <a:fillRect/>
          </a:stretch>
        </p:blipFill>
        <p:spPr>
          <a:xfrm>
            <a:off x="520700" y="1046480"/>
            <a:ext cx="5586095" cy="7945755"/>
          </a:xfrm>
          <a:prstGeom prst="rect">
            <a:avLst/>
          </a:prstGeom>
        </p:spPr>
      </p:pic>
      <p:pic>
        <p:nvPicPr>
          <p:cNvPr id="7" name="图片 6"/>
          <p:cNvPicPr>
            <a:picLocks noChangeAspect="1"/>
          </p:cNvPicPr>
          <p:nvPr/>
        </p:nvPicPr>
        <p:blipFill>
          <a:blip r:embed="rId4"/>
          <a:stretch>
            <a:fillRect/>
          </a:stretch>
        </p:blipFill>
        <p:spPr>
          <a:xfrm>
            <a:off x="6461760" y="1079500"/>
            <a:ext cx="6076315" cy="5373370"/>
          </a:xfrm>
          <a:prstGeom prst="rect">
            <a:avLst/>
          </a:prstGeom>
        </p:spPr>
      </p:pic>
      <p:pic>
        <p:nvPicPr>
          <p:cNvPr id="10" name="图片 9"/>
          <p:cNvPicPr>
            <a:picLocks noChangeAspect="1"/>
          </p:cNvPicPr>
          <p:nvPr/>
        </p:nvPicPr>
        <p:blipFill>
          <a:blip r:embed="rId5"/>
          <a:stretch>
            <a:fillRect/>
          </a:stretch>
        </p:blipFill>
        <p:spPr>
          <a:xfrm>
            <a:off x="6461760" y="6777990"/>
            <a:ext cx="6076950" cy="22142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模板模式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18" name="TextBox 4"/>
          <p:cNvSpPr txBox="1"/>
          <p:nvPr/>
        </p:nvSpPr>
        <p:spPr>
          <a:xfrm>
            <a:off x="3630295" y="1066800"/>
            <a:ext cx="7969885" cy="631825"/>
          </a:xfrm>
          <a:prstGeom prst="rect">
            <a:avLst/>
          </a:prstGeom>
        </p:spPr>
        <p:txBody>
          <a:bodyPr lIns="0" tIns="0" rIns="0" bIns="0" rtlCol="0" anchor="t"/>
          <a:p>
            <a:pPr algn="ctr">
              <a:lnSpc>
                <a:spcPct val="113000"/>
              </a:lnSpc>
            </a:pPr>
            <a:r>
              <a:rPr lang="zh-CN" altLang="en-US" sz="2800" b="1">
                <a:solidFill>
                  <a:srgbClr val="323232"/>
                </a:solidFill>
                <a:latin typeface="黑体" panose="02010609060101010101" charset="-122"/>
                <a:sym typeface="+mn-ea"/>
              </a:rPr>
              <a:t>    </a:t>
            </a:r>
            <a:r>
              <a:rPr lang="zh-CN" altLang="en-US" sz="4000" b="1">
                <a:solidFill>
                  <a:srgbClr val="323232"/>
                </a:solidFill>
                <a:latin typeface="黑体" panose="02010609060101010101" charset="-122"/>
                <a:sym typeface="+mn-ea"/>
              </a:rPr>
              <a:t>小结</a:t>
            </a:r>
            <a:endParaRPr lang="zh-CN" altLang="en-US" sz="4000" b="1">
              <a:solidFill>
                <a:srgbClr val="323232"/>
              </a:solidFill>
              <a:latin typeface="黑体" panose="02010609060101010101" charset="-122"/>
              <a:sym typeface="+mn-ea"/>
            </a:endParaRPr>
          </a:p>
          <a:p>
            <a:pPr algn="l">
              <a:lnSpc>
                <a:spcPct val="113000"/>
              </a:lnSpc>
            </a:pPr>
            <a:r>
              <a:rPr lang="en-US" sz="2800" b="1">
                <a:solidFill>
                  <a:srgbClr val="323232"/>
                </a:solidFill>
                <a:latin typeface="黑体" panose="02010609060101010101" charset="-122"/>
              </a:rPr>
              <a:t>   </a:t>
            </a:r>
            <a:endParaRPr lang="zh-CN" altLang="en-US" sz="2800" b="1">
              <a:solidFill>
                <a:srgbClr val="323232"/>
              </a:solidFill>
              <a:latin typeface="黑体" panose="02010609060101010101" charset="-122"/>
            </a:endParaRPr>
          </a:p>
          <a:p>
            <a:pPr algn="l">
              <a:lnSpc>
                <a:spcPct val="113000"/>
              </a:lnSpc>
            </a:pPr>
            <a:endParaRPr lang="zh-CN" altLang="en-US" sz="2800" b="1">
              <a:solidFill>
                <a:srgbClr val="323232"/>
              </a:solidFill>
              <a:latin typeface="黑体" panose="02010609060101010101" charset="-122"/>
            </a:endParaRPr>
          </a:p>
        </p:txBody>
      </p:sp>
      <p:sp>
        <p:nvSpPr>
          <p:cNvPr id="3" name="TextBox 4"/>
          <p:cNvSpPr txBox="1"/>
          <p:nvPr/>
        </p:nvSpPr>
        <p:spPr>
          <a:xfrm>
            <a:off x="520700" y="1849755"/>
            <a:ext cx="15609570" cy="6272530"/>
          </a:xfrm>
          <a:prstGeom prst="rect">
            <a:avLst/>
          </a:prstGeom>
        </p:spPr>
        <p:txBody>
          <a:bodyPr lIns="0" tIns="0" rIns="0" bIns="0" rtlCol="0" anchor="t"/>
          <a:p>
            <a:pPr algn="l">
              <a:lnSpc>
                <a:spcPct val="113000"/>
              </a:lnSpc>
            </a:pPr>
            <a:r>
              <a:rPr sz="3600">
                <a:solidFill>
                  <a:srgbClr val="323232"/>
                </a:solidFill>
                <a:latin typeface="黑体" panose="02010609060101010101" charset="-122"/>
                <a:sym typeface="+mn-ea"/>
              </a:rPr>
              <a:t>优点：封装不变部分，扩展可变部分</a:t>
            </a:r>
            <a:r>
              <a:rPr lang="zh-CN" sz="3600">
                <a:solidFill>
                  <a:srgbClr val="323232"/>
                </a:solidFill>
                <a:latin typeface="黑体" panose="02010609060101010101" charset="-122"/>
                <a:sym typeface="+mn-ea"/>
              </a:rPr>
              <a:t>；</a:t>
            </a:r>
            <a:r>
              <a:rPr sz="3600">
                <a:solidFill>
                  <a:srgbClr val="323232"/>
                </a:solidFill>
                <a:latin typeface="黑体" panose="02010609060101010101" charset="-122"/>
                <a:sym typeface="+mn-ea"/>
              </a:rPr>
              <a:t>提取公共代码，便于维护</a:t>
            </a:r>
            <a:r>
              <a:rPr lang="zh-CN" sz="3600">
                <a:solidFill>
                  <a:srgbClr val="323232"/>
                </a:solidFill>
                <a:latin typeface="黑体" panose="02010609060101010101" charset="-122"/>
                <a:sym typeface="+mn-ea"/>
              </a:rPr>
              <a:t>；</a:t>
            </a:r>
            <a:r>
              <a:rPr sz="3600">
                <a:solidFill>
                  <a:srgbClr val="323232"/>
                </a:solidFill>
                <a:latin typeface="黑体" panose="02010609060101010101" charset="-122"/>
                <a:sym typeface="+mn-ea"/>
              </a:rPr>
              <a:t>行为由父类控制，子类实现</a:t>
            </a:r>
            <a:r>
              <a:rPr lang="zh-CN" sz="3600">
                <a:solidFill>
                  <a:srgbClr val="323232"/>
                </a:solidFill>
                <a:latin typeface="黑体" panose="02010609060101010101" charset="-122"/>
                <a:sym typeface="+mn-ea"/>
              </a:rPr>
              <a:t>。</a:t>
            </a:r>
            <a:endParaRPr sz="3600">
              <a:solidFill>
                <a:srgbClr val="323232"/>
              </a:solidFill>
              <a:latin typeface="黑体" panose="02010609060101010101" charset="-122"/>
              <a:sym typeface="+mn-ea"/>
            </a:endParaRPr>
          </a:p>
          <a:p>
            <a:pPr algn="l">
              <a:lnSpc>
                <a:spcPct val="113000"/>
              </a:lnSpc>
            </a:pPr>
            <a:endParaRPr sz="3600">
              <a:solidFill>
                <a:srgbClr val="323232"/>
              </a:solidFill>
              <a:latin typeface="黑体" panose="02010609060101010101" charset="-122"/>
              <a:sym typeface="+mn-ea"/>
            </a:endParaRPr>
          </a:p>
          <a:p>
            <a:pPr algn="l">
              <a:lnSpc>
                <a:spcPct val="113000"/>
              </a:lnSpc>
            </a:pPr>
            <a:r>
              <a:rPr sz="3600">
                <a:solidFill>
                  <a:srgbClr val="323232"/>
                </a:solidFill>
                <a:latin typeface="黑体" panose="02010609060101010101" charset="-122"/>
                <a:sym typeface="+mn-ea"/>
              </a:rPr>
              <a:t>缺点：每一个不同的实现都需要一个子类来实现，导致类的个数增加，使得系统更加庞大。</a:t>
            </a:r>
            <a:endParaRPr sz="3600">
              <a:solidFill>
                <a:srgbClr val="323232"/>
              </a:solidFill>
              <a:latin typeface="黑体" panose="02010609060101010101" charset="-122"/>
              <a:sym typeface="+mn-ea"/>
            </a:endParaRPr>
          </a:p>
          <a:p>
            <a:pPr algn="l">
              <a:lnSpc>
                <a:spcPct val="113000"/>
              </a:lnSpc>
            </a:pPr>
            <a:endParaRPr sz="3600">
              <a:solidFill>
                <a:srgbClr val="323232"/>
              </a:solidFill>
              <a:latin typeface="黑体" panose="02010609060101010101" charset="-122"/>
              <a:sym typeface="+mn-ea"/>
            </a:endParaRPr>
          </a:p>
          <a:p>
            <a:pPr algn="l">
              <a:lnSpc>
                <a:spcPct val="113000"/>
              </a:lnSpc>
            </a:pPr>
            <a:r>
              <a:rPr sz="3600">
                <a:solidFill>
                  <a:srgbClr val="323232"/>
                </a:solidFill>
                <a:latin typeface="黑体" panose="02010609060101010101" charset="-122"/>
                <a:sym typeface="+mn-ea"/>
              </a:rPr>
              <a:t>使用场景： 有多个子类共有的方法，且逻辑相同</a:t>
            </a:r>
            <a:r>
              <a:rPr lang="zh-CN" sz="3600">
                <a:solidFill>
                  <a:srgbClr val="323232"/>
                </a:solidFill>
                <a:latin typeface="黑体" panose="02010609060101010101" charset="-122"/>
                <a:sym typeface="+mn-ea"/>
              </a:rPr>
              <a:t>；</a:t>
            </a:r>
            <a:r>
              <a:rPr sz="3600">
                <a:solidFill>
                  <a:srgbClr val="323232"/>
                </a:solidFill>
                <a:latin typeface="黑体" panose="02010609060101010101" charset="-122"/>
                <a:sym typeface="+mn-ea"/>
              </a:rPr>
              <a:t> 重要的、复杂的方法，可以考虑作为模板方法。</a:t>
            </a:r>
            <a:endParaRPr sz="3600">
              <a:solidFill>
                <a:srgbClr val="323232"/>
              </a:solidFill>
              <a:latin typeface="黑体" panose="02010609060101010101" charset="-122"/>
              <a:sym typeface="+mn-ea"/>
            </a:endParaRPr>
          </a:p>
          <a:p>
            <a:pPr algn="l">
              <a:lnSpc>
                <a:spcPct val="113000"/>
              </a:lnSpc>
            </a:pPr>
            <a:endParaRPr sz="3600">
              <a:solidFill>
                <a:srgbClr val="323232"/>
              </a:solidFill>
              <a:latin typeface="黑体" panose="02010609060101010101" charset="-122"/>
              <a:sym typeface="+mn-ea"/>
            </a:endParaRPr>
          </a:p>
          <a:p>
            <a:pPr algn="l">
              <a:lnSpc>
                <a:spcPct val="113000"/>
              </a:lnSpc>
            </a:pPr>
            <a:r>
              <a:rPr sz="3600">
                <a:solidFill>
                  <a:srgbClr val="323232"/>
                </a:solidFill>
                <a:latin typeface="黑体" panose="02010609060101010101" charset="-122"/>
                <a:sym typeface="+mn-ea"/>
              </a:rPr>
              <a:t>注意事项：为防止恶意操作，一般模板方法都加上 final 关键词。</a:t>
            </a:r>
            <a:endParaRPr sz="2800">
              <a:solidFill>
                <a:srgbClr val="323232"/>
              </a:solidFill>
              <a:latin typeface="黑体" panose="02010609060101010101" charset="-122"/>
              <a:sym typeface="+mn-ea"/>
            </a:endParaRPr>
          </a:p>
          <a:p>
            <a:pPr algn="l">
              <a:lnSpc>
                <a:spcPct val="113000"/>
              </a:lnSpc>
            </a:pPr>
            <a:endParaRPr lang="zh-CN" altLang="en-US" sz="2800" b="1">
              <a:solidFill>
                <a:srgbClr val="323232"/>
              </a:solidFill>
              <a:latin typeface="黑体" panose="02010609060101010101" charset="-122"/>
              <a:sym typeface="+mn-ea"/>
            </a:endParaRPr>
          </a:p>
          <a:p>
            <a:pPr algn="l">
              <a:lnSpc>
                <a:spcPct val="113000"/>
              </a:lnSpc>
            </a:pPr>
            <a:r>
              <a:rPr lang="en-US" sz="2800" b="1">
                <a:solidFill>
                  <a:srgbClr val="323232"/>
                </a:solidFill>
                <a:latin typeface="黑体" panose="02010609060101010101" charset="-122"/>
              </a:rPr>
              <a:t>   </a:t>
            </a:r>
            <a:endParaRPr lang="zh-CN" altLang="en-US" sz="2800" b="1">
              <a:solidFill>
                <a:srgbClr val="323232"/>
              </a:solidFill>
              <a:latin typeface="黑体" panose="02010609060101010101" charset="-122"/>
            </a:endParaRPr>
          </a:p>
          <a:p>
            <a:pPr algn="l">
              <a:lnSpc>
                <a:spcPct val="113000"/>
              </a:lnSpc>
            </a:pPr>
            <a:endParaRPr lang="zh-CN" altLang="en-US" sz="2800" b="1">
              <a:solidFill>
                <a:srgbClr val="323232"/>
              </a:solidFill>
              <a:latin typeface="黑体"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状态模式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3" name="TextBox 4"/>
          <p:cNvSpPr txBox="1"/>
          <p:nvPr/>
        </p:nvSpPr>
        <p:spPr>
          <a:xfrm>
            <a:off x="3408680" y="3110865"/>
            <a:ext cx="9977755" cy="1555115"/>
          </a:xfrm>
          <a:prstGeom prst="rect">
            <a:avLst/>
          </a:prstGeom>
        </p:spPr>
        <p:txBody>
          <a:bodyPr lIns="0" tIns="0" rIns="0" bIns="0" rtlCol="0" anchor="t"/>
          <a:p>
            <a:pPr algn="l">
              <a:lnSpc>
                <a:spcPct val="113000"/>
              </a:lnSpc>
            </a:pPr>
            <a:r>
              <a:rPr lang="en-US" altLang="zh-CN" sz="4000" b="1">
                <a:solidFill>
                  <a:srgbClr val="323232"/>
                </a:solidFill>
                <a:latin typeface="黑体" panose="02010609060101010101" charset="-122"/>
                <a:sym typeface="+mn-ea"/>
              </a:rPr>
              <a:t>    </a:t>
            </a:r>
            <a:r>
              <a:rPr lang="zh-CN" altLang="en-US" sz="4000" b="1">
                <a:solidFill>
                  <a:srgbClr val="323232"/>
                </a:solidFill>
                <a:latin typeface="黑体" panose="02010609060101010101" charset="-122"/>
                <a:sym typeface="+mn-ea"/>
              </a:rPr>
              <a:t>需求：相似句的添加和编辑需要经历如下流程：正常</a:t>
            </a:r>
            <a:r>
              <a:rPr lang="en-US" altLang="zh-CN" sz="4000" b="1">
                <a:solidFill>
                  <a:srgbClr val="323232"/>
                </a:solidFill>
                <a:latin typeface="黑体" panose="02010609060101010101" charset="-122"/>
                <a:sym typeface="+mn-ea"/>
              </a:rPr>
              <a:t>-&gt;</a:t>
            </a:r>
            <a:r>
              <a:rPr lang="zh-CN" altLang="en-US" sz="4000" b="1">
                <a:solidFill>
                  <a:srgbClr val="323232"/>
                </a:solidFill>
                <a:latin typeface="黑体" panose="02010609060101010101" charset="-122"/>
                <a:sym typeface="+mn-ea"/>
              </a:rPr>
              <a:t>审核</a:t>
            </a:r>
            <a:r>
              <a:rPr lang="en-US" altLang="zh-CN" sz="4000" b="1">
                <a:solidFill>
                  <a:srgbClr val="323232"/>
                </a:solidFill>
                <a:latin typeface="黑体" panose="02010609060101010101" charset="-122"/>
                <a:sym typeface="+mn-ea"/>
              </a:rPr>
              <a:t>-&gt;</a:t>
            </a:r>
            <a:r>
              <a:rPr lang="zh-CN" altLang="en-US" sz="4000" b="1">
                <a:solidFill>
                  <a:srgbClr val="323232"/>
                </a:solidFill>
                <a:latin typeface="黑体" panose="02010609060101010101" charset="-122"/>
                <a:sym typeface="+mn-ea"/>
              </a:rPr>
              <a:t>训练</a:t>
            </a:r>
            <a:r>
              <a:rPr lang="en-US" altLang="zh-CN" sz="4000" b="1">
                <a:solidFill>
                  <a:srgbClr val="323232"/>
                </a:solidFill>
                <a:latin typeface="黑体" panose="02010609060101010101" charset="-122"/>
                <a:sym typeface="+mn-ea"/>
              </a:rPr>
              <a:t>-&gt;</a:t>
            </a:r>
            <a:r>
              <a:rPr lang="zh-CN" altLang="en-US" sz="4000" b="1">
                <a:solidFill>
                  <a:srgbClr val="323232"/>
                </a:solidFill>
                <a:latin typeface="黑体" panose="02010609060101010101" charset="-122"/>
                <a:sym typeface="+mn-ea"/>
              </a:rPr>
              <a:t>发布</a:t>
            </a:r>
            <a:r>
              <a:rPr lang="en-US" sz="4000" b="1">
                <a:solidFill>
                  <a:srgbClr val="323232"/>
                </a:solidFill>
                <a:latin typeface="黑体" panose="02010609060101010101" charset="-122"/>
              </a:rPr>
              <a:t>  </a:t>
            </a:r>
            <a:r>
              <a:rPr lang="en-US" sz="2800" b="1">
                <a:solidFill>
                  <a:srgbClr val="323232"/>
                </a:solidFill>
                <a:latin typeface="黑体" panose="02010609060101010101" charset="-122"/>
              </a:rPr>
              <a:t> </a:t>
            </a:r>
            <a:endParaRPr lang="zh-CN" altLang="en-US" sz="2800" b="1">
              <a:solidFill>
                <a:srgbClr val="323232"/>
              </a:solidFill>
              <a:latin typeface="黑体" panose="02010609060101010101" charset="-122"/>
            </a:endParaRPr>
          </a:p>
          <a:p>
            <a:pPr algn="l">
              <a:lnSpc>
                <a:spcPct val="113000"/>
              </a:lnSpc>
            </a:pPr>
            <a:endParaRPr lang="zh-CN" altLang="en-US" sz="2800" b="1">
              <a:solidFill>
                <a:srgbClr val="323232"/>
              </a:solidFill>
              <a:latin typeface="黑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状态模式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29" name="图片 26"/>
          <p:cNvPicPr>
            <a:picLocks noChangeAspect="1"/>
          </p:cNvPicPr>
          <p:nvPr/>
        </p:nvPicPr>
        <p:blipFill>
          <a:blip r:embed="rId3"/>
          <a:stretch>
            <a:fillRect/>
          </a:stretch>
        </p:blipFill>
        <p:spPr>
          <a:xfrm>
            <a:off x="749935" y="1079183"/>
            <a:ext cx="5273040" cy="7258685"/>
          </a:xfrm>
          <a:prstGeom prst="rect">
            <a:avLst/>
          </a:prstGeom>
          <a:noFill/>
          <a:ln w="9525">
            <a:noFill/>
          </a:ln>
        </p:spPr>
      </p:pic>
      <p:pic>
        <p:nvPicPr>
          <p:cNvPr id="30" name="图片 27"/>
          <p:cNvPicPr>
            <a:picLocks noChangeAspect="1"/>
          </p:cNvPicPr>
          <p:nvPr/>
        </p:nvPicPr>
        <p:blipFill>
          <a:blip r:embed="rId4"/>
          <a:stretch>
            <a:fillRect/>
          </a:stretch>
        </p:blipFill>
        <p:spPr>
          <a:xfrm>
            <a:off x="7477760" y="2005330"/>
            <a:ext cx="5878195" cy="2702560"/>
          </a:xfrm>
          <a:prstGeom prst="rect">
            <a:avLst/>
          </a:prstGeom>
          <a:noFill/>
          <a:ln w="9525">
            <a:noFill/>
          </a:ln>
        </p:spPr>
      </p:pic>
      <p:sp>
        <p:nvSpPr>
          <p:cNvPr id="4" name="TextBox 6"/>
          <p:cNvSpPr txBox="1"/>
          <p:nvPr/>
        </p:nvSpPr>
        <p:spPr>
          <a:xfrm>
            <a:off x="7477760" y="1079500"/>
            <a:ext cx="3429000" cy="685800"/>
          </a:xfrm>
          <a:prstGeom prst="rect">
            <a:avLst/>
          </a:prstGeom>
        </p:spPr>
        <p:txBody>
          <a:bodyPr lIns="0" tIns="0" rIns="0" bIns="0" rtlCol="0" anchor="t"/>
          <a:p>
            <a:pPr algn="l">
              <a:lnSpc>
                <a:spcPct val="113000"/>
              </a:lnSpc>
            </a:pPr>
            <a:r>
              <a:rPr lang="zh-CN" altLang="en-US" sz="3200">
                <a:solidFill>
                  <a:srgbClr val="323232"/>
                </a:solidFill>
                <a:latin typeface="黑体" panose="02010609060101010101" charset="-122"/>
              </a:rPr>
              <a:t>客户端调用</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状态模式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3" name="TextBox 4"/>
          <p:cNvSpPr txBox="1"/>
          <p:nvPr/>
        </p:nvSpPr>
        <p:spPr>
          <a:xfrm>
            <a:off x="2334895" y="3110865"/>
            <a:ext cx="12370435" cy="2828925"/>
          </a:xfrm>
          <a:prstGeom prst="rect">
            <a:avLst/>
          </a:prstGeom>
        </p:spPr>
        <p:txBody>
          <a:bodyPr lIns="0" tIns="0" rIns="0" bIns="0" rtlCol="0" anchor="t"/>
          <a:p>
            <a:pPr algn="l">
              <a:lnSpc>
                <a:spcPct val="113000"/>
              </a:lnSpc>
            </a:pPr>
            <a:r>
              <a:rPr lang="en-US" altLang="zh-CN" sz="4000">
                <a:solidFill>
                  <a:srgbClr val="323232"/>
                </a:solidFill>
                <a:latin typeface="黑体" panose="02010609060101010101" charset="-122"/>
              </a:rPr>
              <a:t>1</a:t>
            </a:r>
            <a:r>
              <a:rPr lang="zh-CN" altLang="en-US" sz="4000">
                <a:solidFill>
                  <a:srgbClr val="323232"/>
                </a:solidFill>
                <a:latin typeface="黑体" panose="02010609060101010101" charset="-122"/>
              </a:rPr>
              <a:t>、</a:t>
            </a:r>
            <a:r>
              <a:rPr lang="en-US" altLang="zh-CN" sz="4000">
                <a:solidFill>
                  <a:srgbClr val="323232"/>
                </a:solidFill>
                <a:latin typeface="黑体" panose="02010609060101010101" charset="-122"/>
              </a:rPr>
              <a:t>operate</a:t>
            </a:r>
            <a:r>
              <a:rPr lang="zh-CN" altLang="en-US" sz="4000">
                <a:solidFill>
                  <a:srgbClr val="323232"/>
                </a:solidFill>
                <a:latin typeface="黑体" panose="02010609060101010101" charset="-122"/>
              </a:rPr>
              <a:t>方法存在</a:t>
            </a:r>
            <a:r>
              <a:rPr lang="en-US" altLang="zh-CN" sz="4000">
                <a:solidFill>
                  <a:srgbClr val="323232"/>
                </a:solidFill>
                <a:latin typeface="黑体" panose="02010609060101010101" charset="-122"/>
              </a:rPr>
              <a:t>switch/case</a:t>
            </a:r>
            <a:r>
              <a:rPr lang="zh-CN" altLang="en-US" sz="4000">
                <a:solidFill>
                  <a:srgbClr val="323232"/>
                </a:solidFill>
                <a:latin typeface="黑体" panose="02010609060101010101" charset="-122"/>
              </a:rPr>
              <a:t>（</a:t>
            </a:r>
            <a:r>
              <a:rPr lang="en-US" altLang="zh-CN" sz="4000">
                <a:solidFill>
                  <a:srgbClr val="323232"/>
                </a:solidFill>
                <a:latin typeface="黑体" panose="02010609060101010101" charset="-122"/>
              </a:rPr>
              <a:t>if/else</a:t>
            </a:r>
            <a:r>
              <a:rPr lang="zh-CN" altLang="en-US" sz="4000">
                <a:solidFill>
                  <a:srgbClr val="323232"/>
                </a:solidFill>
                <a:latin typeface="黑体" panose="02010609060101010101" charset="-122"/>
              </a:rPr>
              <a:t>），状态过多会增加条件分支</a:t>
            </a:r>
            <a:endParaRPr lang="zh-CN" altLang="en-US" sz="4000">
              <a:solidFill>
                <a:srgbClr val="323232"/>
              </a:solidFill>
              <a:latin typeface="黑体" panose="02010609060101010101" charset="-122"/>
            </a:endParaRPr>
          </a:p>
          <a:p>
            <a:pPr algn="l">
              <a:lnSpc>
                <a:spcPct val="113000"/>
              </a:lnSpc>
            </a:pPr>
            <a:r>
              <a:rPr lang="en-US" altLang="zh-CN" sz="4000">
                <a:solidFill>
                  <a:srgbClr val="323232"/>
                </a:solidFill>
                <a:latin typeface="黑体" panose="02010609060101010101" charset="-122"/>
                <a:sym typeface="+mn-ea"/>
              </a:rPr>
              <a:t>2</a:t>
            </a:r>
            <a:r>
              <a:rPr lang="zh-CN" altLang="en-US" sz="4000">
                <a:solidFill>
                  <a:srgbClr val="323232"/>
                </a:solidFill>
                <a:latin typeface="黑体" panose="02010609060101010101" charset="-122"/>
                <a:sym typeface="+mn-ea"/>
              </a:rPr>
              <a:t>、所有状态集中在一个类中维护，增加了类的复杂性，同时也容易形成长方法</a:t>
            </a:r>
            <a:endParaRPr lang="zh-CN" altLang="en-US" sz="2800" b="1">
              <a:solidFill>
                <a:srgbClr val="323232"/>
              </a:solidFill>
              <a:latin typeface="黑体" panose="02010609060101010101" charset="-122"/>
            </a:endParaRPr>
          </a:p>
          <a:p>
            <a:pPr algn="l">
              <a:lnSpc>
                <a:spcPct val="113000"/>
              </a:lnSpc>
            </a:pPr>
            <a:endParaRPr lang="zh-CN" altLang="en-US" sz="2800" b="1">
              <a:solidFill>
                <a:srgbClr val="323232"/>
              </a:solidFill>
              <a:latin typeface="黑体" panose="02010609060101010101" charset="-122"/>
            </a:endParaRPr>
          </a:p>
        </p:txBody>
      </p:sp>
      <p:sp>
        <p:nvSpPr>
          <p:cNvPr id="4" name="TextBox 4"/>
          <p:cNvSpPr txBox="1"/>
          <p:nvPr/>
        </p:nvSpPr>
        <p:spPr>
          <a:xfrm>
            <a:off x="3396615" y="2127885"/>
            <a:ext cx="9977755" cy="680085"/>
          </a:xfrm>
          <a:prstGeom prst="rect">
            <a:avLst/>
          </a:prstGeom>
        </p:spPr>
        <p:txBody>
          <a:bodyPr lIns="0" tIns="0" rIns="0" bIns="0" rtlCol="0" anchor="t"/>
          <a:p>
            <a:pPr algn="ctr">
              <a:lnSpc>
                <a:spcPct val="113000"/>
              </a:lnSpc>
            </a:pPr>
            <a:r>
              <a:rPr lang="zh-CN" altLang="en-US" sz="4000" b="1">
                <a:solidFill>
                  <a:srgbClr val="323232"/>
                </a:solidFill>
                <a:latin typeface="黑体" panose="02010609060101010101" charset="-122"/>
              </a:rPr>
              <a:t>分析</a:t>
            </a:r>
            <a:r>
              <a:rPr lang="en-US" sz="2800" b="1">
                <a:solidFill>
                  <a:srgbClr val="323232"/>
                </a:solidFill>
                <a:latin typeface="黑体" panose="02010609060101010101" charset="-122"/>
              </a:rPr>
              <a:t> </a:t>
            </a:r>
            <a:endParaRPr lang="zh-CN" altLang="en-US" sz="2800" b="1">
              <a:solidFill>
                <a:srgbClr val="323232"/>
              </a:solidFill>
              <a:latin typeface="黑体" panose="02010609060101010101" charset="-122"/>
            </a:endParaRPr>
          </a:p>
          <a:p>
            <a:pPr algn="l">
              <a:lnSpc>
                <a:spcPct val="113000"/>
              </a:lnSpc>
            </a:pPr>
            <a:endParaRPr lang="zh-CN" altLang="en-US" sz="2800" b="1">
              <a:solidFill>
                <a:srgbClr val="323232"/>
              </a:solidFill>
              <a:latin typeface="黑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状态模式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3" name="TextBox 4"/>
          <p:cNvSpPr txBox="1"/>
          <p:nvPr/>
        </p:nvSpPr>
        <p:spPr>
          <a:xfrm>
            <a:off x="520065" y="2212340"/>
            <a:ext cx="15538450" cy="6529070"/>
          </a:xfrm>
          <a:prstGeom prst="rect">
            <a:avLst/>
          </a:prstGeom>
        </p:spPr>
        <p:txBody>
          <a:bodyPr lIns="0" tIns="0" rIns="0" bIns="0" rtlCol="0" anchor="t"/>
          <a:p>
            <a:pPr algn="l">
              <a:lnSpc>
                <a:spcPct val="113000"/>
              </a:lnSpc>
            </a:pPr>
            <a:r>
              <a:rPr sz="4000">
                <a:solidFill>
                  <a:srgbClr val="323232"/>
                </a:solidFill>
                <a:latin typeface="黑体" panose="02010609060101010101" charset="-122"/>
              </a:rPr>
              <a:t>意图：允许对象在内部状态发生改变时改变它的行为，对象看起来好像修改了它的类。</a:t>
            </a:r>
            <a:endParaRPr sz="4000">
              <a:solidFill>
                <a:srgbClr val="323232"/>
              </a:solidFill>
              <a:latin typeface="黑体" panose="02010609060101010101" charset="-122"/>
            </a:endParaRPr>
          </a:p>
          <a:p>
            <a:pPr algn="l">
              <a:lnSpc>
                <a:spcPct val="113000"/>
              </a:lnSpc>
            </a:pPr>
            <a:endParaRPr sz="4000">
              <a:solidFill>
                <a:srgbClr val="323232"/>
              </a:solidFill>
              <a:latin typeface="黑体" panose="02010609060101010101" charset="-122"/>
            </a:endParaRPr>
          </a:p>
          <a:p>
            <a:pPr algn="l">
              <a:lnSpc>
                <a:spcPct val="113000"/>
              </a:lnSpc>
            </a:pPr>
            <a:r>
              <a:rPr sz="4000">
                <a:solidFill>
                  <a:srgbClr val="323232"/>
                </a:solidFill>
                <a:latin typeface="黑体" panose="02010609060101010101" charset="-122"/>
              </a:rPr>
              <a:t>主要解决：对象的行为依赖于它的状态（属性），并且可以根据它的状态改变而改变它的相关行为。</a:t>
            </a:r>
            <a:endParaRPr sz="4000">
              <a:solidFill>
                <a:srgbClr val="323232"/>
              </a:solidFill>
              <a:latin typeface="黑体" panose="02010609060101010101" charset="-122"/>
            </a:endParaRPr>
          </a:p>
          <a:p>
            <a:pPr algn="l">
              <a:lnSpc>
                <a:spcPct val="113000"/>
              </a:lnSpc>
            </a:pPr>
            <a:endParaRPr sz="4000">
              <a:solidFill>
                <a:srgbClr val="323232"/>
              </a:solidFill>
              <a:latin typeface="黑体" panose="02010609060101010101" charset="-122"/>
            </a:endParaRPr>
          </a:p>
          <a:p>
            <a:pPr algn="l">
              <a:lnSpc>
                <a:spcPct val="113000"/>
              </a:lnSpc>
            </a:pPr>
            <a:r>
              <a:rPr sz="4000">
                <a:solidFill>
                  <a:srgbClr val="323232"/>
                </a:solidFill>
                <a:latin typeface="黑体" panose="02010609060101010101" charset="-122"/>
              </a:rPr>
              <a:t>何时使用：代码中包含大量与对象状态有关的条件语句。</a:t>
            </a:r>
            <a:endParaRPr sz="4000">
              <a:solidFill>
                <a:srgbClr val="323232"/>
              </a:solidFill>
              <a:latin typeface="黑体" panose="02010609060101010101" charset="-122"/>
            </a:endParaRPr>
          </a:p>
          <a:p>
            <a:pPr algn="l">
              <a:lnSpc>
                <a:spcPct val="113000"/>
              </a:lnSpc>
            </a:pPr>
            <a:endParaRPr sz="4000">
              <a:solidFill>
                <a:srgbClr val="323232"/>
              </a:solidFill>
              <a:latin typeface="黑体" panose="02010609060101010101" charset="-122"/>
            </a:endParaRPr>
          </a:p>
          <a:p>
            <a:pPr algn="l">
              <a:lnSpc>
                <a:spcPct val="113000"/>
              </a:lnSpc>
            </a:pPr>
            <a:r>
              <a:rPr sz="4000">
                <a:solidFill>
                  <a:srgbClr val="323232"/>
                </a:solidFill>
                <a:latin typeface="黑体" panose="02010609060101010101" charset="-122"/>
              </a:rPr>
              <a:t>如何解决：将各种具体的状态类抽象出来。</a:t>
            </a:r>
            <a:endParaRPr sz="2800">
              <a:solidFill>
                <a:srgbClr val="323232"/>
              </a:solidFill>
              <a:latin typeface="黑体" panose="02010609060101010101" charset="-122"/>
            </a:endParaRPr>
          </a:p>
          <a:p>
            <a:pPr algn="l">
              <a:lnSpc>
                <a:spcPct val="113000"/>
              </a:lnSpc>
            </a:pPr>
            <a:endParaRPr sz="2800">
              <a:solidFill>
                <a:srgbClr val="323232"/>
              </a:solidFill>
              <a:latin typeface="黑体" panose="02010609060101010101" charset="-122"/>
            </a:endParaRPr>
          </a:p>
          <a:p>
            <a:pPr algn="l">
              <a:lnSpc>
                <a:spcPct val="113000"/>
              </a:lnSpc>
            </a:pPr>
            <a:r>
              <a:rPr sz="2800">
                <a:solidFill>
                  <a:srgbClr val="323232"/>
                </a:solidFill>
                <a:latin typeface="黑体" panose="02010609060101010101" charset="-122"/>
              </a:rPr>
              <a:t>。</a:t>
            </a:r>
            <a:endParaRPr sz="2400">
              <a:solidFill>
                <a:srgbClr val="323232"/>
              </a:solidFill>
              <a:latin typeface="黑体" panose="02010609060101010101" charset="-122"/>
            </a:endParaRPr>
          </a:p>
          <a:p>
            <a:pPr algn="l">
              <a:lnSpc>
                <a:spcPct val="113000"/>
              </a:lnSpc>
            </a:pPr>
            <a:endParaRPr sz="2400">
              <a:solidFill>
                <a:srgbClr val="323232"/>
              </a:solidFill>
              <a:latin typeface="黑体" panose="02010609060101010101" charset="-122"/>
            </a:endParaRPr>
          </a:p>
          <a:p>
            <a:pPr algn="l">
              <a:lnSpc>
                <a:spcPct val="113000"/>
              </a:lnSpc>
            </a:pPr>
            <a:endParaRPr lang="zh-CN" sz="2400" b="1">
              <a:solidFill>
                <a:srgbClr val="323232"/>
              </a:solidFill>
              <a:latin typeface="黑体" panose="02010609060101010101" charset="-122"/>
            </a:endParaRPr>
          </a:p>
        </p:txBody>
      </p:sp>
      <p:sp>
        <p:nvSpPr>
          <p:cNvPr id="4" name="TextBox 4"/>
          <p:cNvSpPr txBox="1"/>
          <p:nvPr/>
        </p:nvSpPr>
        <p:spPr>
          <a:xfrm>
            <a:off x="2952750" y="1310005"/>
            <a:ext cx="9977755" cy="659130"/>
          </a:xfrm>
          <a:prstGeom prst="rect">
            <a:avLst/>
          </a:prstGeom>
        </p:spPr>
        <p:txBody>
          <a:bodyPr lIns="0" tIns="0" rIns="0" bIns="0" rtlCol="0" anchor="t"/>
          <a:p>
            <a:pPr algn="ctr">
              <a:lnSpc>
                <a:spcPct val="113000"/>
              </a:lnSpc>
            </a:pPr>
            <a:r>
              <a:rPr lang="zh-CN" altLang="en-US" sz="4000" b="1">
                <a:solidFill>
                  <a:srgbClr val="323232"/>
                </a:solidFill>
                <a:latin typeface="黑体" panose="02010609060101010101" charset="-122"/>
              </a:rPr>
              <a:t>状态模式</a:t>
            </a:r>
            <a:r>
              <a:rPr lang="en-US" sz="4000" b="1">
                <a:solidFill>
                  <a:srgbClr val="323232"/>
                </a:solidFill>
                <a:latin typeface="黑体" panose="02010609060101010101" charset="-122"/>
              </a:rPr>
              <a:t> </a:t>
            </a:r>
            <a:endParaRPr lang="zh-CN" altLang="en-US" sz="2800" b="1">
              <a:solidFill>
                <a:srgbClr val="323232"/>
              </a:solidFill>
              <a:latin typeface="黑体" panose="02010609060101010101" charset="-122"/>
            </a:endParaRPr>
          </a:p>
          <a:p>
            <a:pPr algn="l">
              <a:lnSpc>
                <a:spcPct val="113000"/>
              </a:lnSpc>
            </a:pPr>
            <a:endParaRPr lang="zh-CN" altLang="en-US" sz="2800" b="1">
              <a:solidFill>
                <a:srgbClr val="323232"/>
              </a:solidFill>
              <a:latin typeface="黑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状态模式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5" name="图片 4"/>
          <p:cNvPicPr>
            <a:picLocks noChangeAspect="1"/>
          </p:cNvPicPr>
          <p:nvPr/>
        </p:nvPicPr>
        <p:blipFill>
          <a:blip r:embed="rId3"/>
          <a:stretch>
            <a:fillRect/>
          </a:stretch>
        </p:blipFill>
        <p:spPr>
          <a:xfrm>
            <a:off x="955040" y="1079500"/>
            <a:ext cx="14041120" cy="78422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状态模式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31" name="图片 28"/>
          <p:cNvPicPr>
            <a:picLocks noChangeAspect="1"/>
          </p:cNvPicPr>
          <p:nvPr/>
        </p:nvPicPr>
        <p:blipFill>
          <a:blip r:embed="rId3"/>
          <a:stretch>
            <a:fillRect/>
          </a:stretch>
        </p:blipFill>
        <p:spPr>
          <a:xfrm>
            <a:off x="165735" y="1066800"/>
            <a:ext cx="7458710" cy="1553845"/>
          </a:xfrm>
          <a:prstGeom prst="rect">
            <a:avLst/>
          </a:prstGeom>
          <a:noFill/>
          <a:ln w="9525">
            <a:noFill/>
          </a:ln>
        </p:spPr>
      </p:pic>
      <p:pic>
        <p:nvPicPr>
          <p:cNvPr id="32" name="图片 29"/>
          <p:cNvPicPr>
            <a:picLocks noChangeAspect="1"/>
          </p:cNvPicPr>
          <p:nvPr/>
        </p:nvPicPr>
        <p:blipFill>
          <a:blip r:embed="rId4"/>
          <a:stretch>
            <a:fillRect/>
          </a:stretch>
        </p:blipFill>
        <p:spPr>
          <a:xfrm>
            <a:off x="165100" y="2834640"/>
            <a:ext cx="7459345" cy="5750560"/>
          </a:xfrm>
          <a:prstGeom prst="rect">
            <a:avLst/>
          </a:prstGeom>
          <a:noFill/>
          <a:ln w="9525">
            <a:noFill/>
          </a:ln>
        </p:spPr>
      </p:pic>
      <p:pic>
        <p:nvPicPr>
          <p:cNvPr id="34" name="图片 31"/>
          <p:cNvPicPr>
            <a:picLocks noChangeAspect="1"/>
          </p:cNvPicPr>
          <p:nvPr/>
        </p:nvPicPr>
        <p:blipFill>
          <a:blip r:embed="rId5"/>
          <a:stretch>
            <a:fillRect/>
          </a:stretch>
        </p:blipFill>
        <p:spPr>
          <a:xfrm>
            <a:off x="7736840" y="1066800"/>
            <a:ext cx="8373745" cy="751776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状态模式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37" name="图片 34"/>
          <p:cNvPicPr>
            <a:picLocks noChangeAspect="1"/>
          </p:cNvPicPr>
          <p:nvPr/>
        </p:nvPicPr>
        <p:blipFill>
          <a:blip r:embed="rId3"/>
          <a:stretch>
            <a:fillRect/>
          </a:stretch>
        </p:blipFill>
        <p:spPr>
          <a:xfrm>
            <a:off x="450850" y="2209800"/>
            <a:ext cx="10394950" cy="4145280"/>
          </a:xfrm>
          <a:prstGeom prst="rect">
            <a:avLst/>
          </a:prstGeom>
          <a:noFill/>
          <a:ln w="9525">
            <a:noFill/>
          </a:ln>
        </p:spPr>
      </p:pic>
      <p:sp>
        <p:nvSpPr>
          <p:cNvPr id="5" name="TextBox 6"/>
          <p:cNvSpPr txBox="1"/>
          <p:nvPr/>
        </p:nvSpPr>
        <p:spPr>
          <a:xfrm>
            <a:off x="520700" y="1524000"/>
            <a:ext cx="3429000" cy="685800"/>
          </a:xfrm>
          <a:prstGeom prst="rect">
            <a:avLst/>
          </a:prstGeom>
        </p:spPr>
        <p:txBody>
          <a:bodyPr lIns="0" tIns="0" rIns="0" bIns="0" rtlCol="0" anchor="t"/>
          <a:p>
            <a:pPr algn="l">
              <a:lnSpc>
                <a:spcPct val="113000"/>
              </a:lnSpc>
            </a:pPr>
            <a:r>
              <a:rPr lang="zh-CN" altLang="en-US" sz="2400">
                <a:solidFill>
                  <a:srgbClr val="323232"/>
                </a:solidFill>
                <a:latin typeface="黑体" panose="02010609060101010101" charset="-122"/>
              </a:rPr>
              <a:t>客户端调用</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状态模式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5" name="TextBox 6"/>
          <p:cNvSpPr txBox="1"/>
          <p:nvPr/>
        </p:nvSpPr>
        <p:spPr>
          <a:xfrm>
            <a:off x="6255385" y="1066800"/>
            <a:ext cx="3429000" cy="674370"/>
          </a:xfrm>
          <a:prstGeom prst="rect">
            <a:avLst/>
          </a:prstGeom>
        </p:spPr>
        <p:txBody>
          <a:bodyPr lIns="0" tIns="0" rIns="0" bIns="0" rtlCol="0" anchor="t"/>
          <a:p>
            <a:pPr algn="ctr">
              <a:lnSpc>
                <a:spcPct val="113000"/>
              </a:lnSpc>
            </a:pPr>
            <a:r>
              <a:rPr lang="zh-CN" altLang="en-US" sz="4000">
                <a:solidFill>
                  <a:srgbClr val="323232"/>
                </a:solidFill>
                <a:latin typeface="黑体" panose="02010609060101010101" charset="-122"/>
              </a:rPr>
              <a:t>小结</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
        <p:nvSpPr>
          <p:cNvPr id="3" name="TextBox 6"/>
          <p:cNvSpPr txBox="1"/>
          <p:nvPr/>
        </p:nvSpPr>
        <p:spPr>
          <a:xfrm>
            <a:off x="252730" y="1851660"/>
            <a:ext cx="15818485" cy="6699885"/>
          </a:xfrm>
          <a:prstGeom prst="rect">
            <a:avLst/>
          </a:prstGeom>
        </p:spPr>
        <p:txBody>
          <a:bodyPr lIns="0" tIns="0" rIns="0" bIns="0" rtlCol="0" anchor="t"/>
          <a:p>
            <a:pPr algn="l">
              <a:lnSpc>
                <a:spcPct val="113000"/>
              </a:lnSpc>
            </a:pPr>
            <a:r>
              <a:rPr lang="en-US" sz="3200">
                <a:solidFill>
                  <a:srgbClr val="323232"/>
                </a:solidFill>
                <a:latin typeface="黑体" panose="02010609060101010101" charset="-122"/>
              </a:rPr>
              <a:t>优点：封装了转换规则</a:t>
            </a:r>
            <a:r>
              <a:rPr lang="zh-CN" altLang="en-US" sz="3200">
                <a:solidFill>
                  <a:srgbClr val="323232"/>
                </a:solidFill>
                <a:latin typeface="黑体" panose="02010609060101010101" charset="-122"/>
              </a:rPr>
              <a:t>；</a:t>
            </a:r>
            <a:r>
              <a:rPr lang="en-US" sz="3200">
                <a:solidFill>
                  <a:srgbClr val="323232"/>
                </a:solidFill>
                <a:latin typeface="黑体" panose="02010609060101010101" charset="-122"/>
              </a:rPr>
              <a:t>枚举可能的状态，在枚举状态之前需要确定状态种类</a:t>
            </a:r>
            <a:r>
              <a:rPr lang="zh-CN" altLang="en-US" sz="3200">
                <a:solidFill>
                  <a:srgbClr val="323232"/>
                </a:solidFill>
                <a:latin typeface="黑体" panose="02010609060101010101" charset="-122"/>
              </a:rPr>
              <a:t>；</a:t>
            </a:r>
            <a:r>
              <a:rPr lang="en-US" sz="3200">
                <a:solidFill>
                  <a:srgbClr val="323232"/>
                </a:solidFill>
                <a:latin typeface="黑体" panose="02010609060101010101" charset="-122"/>
              </a:rPr>
              <a:t>将所有与某个状态有关的行为放到一个类中，并且可以方便地增加新的状态，只需要改变对象状态即可改变对象的行为</a:t>
            </a:r>
            <a:r>
              <a:rPr lang="zh-CN" altLang="en-US" sz="3200">
                <a:solidFill>
                  <a:srgbClr val="323232"/>
                </a:solidFill>
                <a:latin typeface="黑体" panose="02010609060101010101" charset="-122"/>
              </a:rPr>
              <a:t>；</a:t>
            </a:r>
            <a:r>
              <a:rPr lang="en-US" sz="3200">
                <a:solidFill>
                  <a:srgbClr val="323232"/>
                </a:solidFill>
                <a:latin typeface="黑体" panose="02010609060101010101" charset="-122"/>
              </a:rPr>
              <a:t>允许状态转换逻辑与状态对象合成一体，而不是某一个巨大的条件语句块</a:t>
            </a:r>
            <a:r>
              <a:rPr lang="zh-CN" altLang="en-US" sz="3200">
                <a:solidFill>
                  <a:srgbClr val="323232"/>
                </a:solidFill>
                <a:latin typeface="黑体" panose="02010609060101010101" charset="-122"/>
              </a:rPr>
              <a:t>；</a:t>
            </a:r>
            <a:r>
              <a:rPr lang="en-US" sz="3200">
                <a:solidFill>
                  <a:srgbClr val="323232"/>
                </a:solidFill>
                <a:latin typeface="黑体" panose="02010609060101010101" charset="-122"/>
              </a:rPr>
              <a:t>可以让多个环境对象共享一个状态对象，从而减少系统中对象的个数。</a:t>
            </a:r>
            <a:endParaRPr lang="en-US" sz="3200">
              <a:solidFill>
                <a:srgbClr val="323232"/>
              </a:solidFill>
              <a:latin typeface="黑体" panose="02010609060101010101" charset="-122"/>
            </a:endParaRPr>
          </a:p>
          <a:p>
            <a:pPr algn="l">
              <a:lnSpc>
                <a:spcPct val="113000"/>
              </a:lnSpc>
            </a:pPr>
            <a:endParaRPr lang="en-US" sz="3200">
              <a:solidFill>
                <a:srgbClr val="323232"/>
              </a:solidFill>
              <a:latin typeface="黑体" panose="02010609060101010101" charset="-122"/>
            </a:endParaRPr>
          </a:p>
          <a:p>
            <a:pPr algn="l">
              <a:lnSpc>
                <a:spcPct val="113000"/>
              </a:lnSpc>
            </a:pPr>
            <a:r>
              <a:rPr lang="en-US" sz="3200">
                <a:solidFill>
                  <a:srgbClr val="323232"/>
                </a:solidFill>
                <a:latin typeface="黑体" panose="02010609060101010101" charset="-122"/>
              </a:rPr>
              <a:t>缺点：状态模式的使用必然会增加系统类和对象的个数</a:t>
            </a:r>
            <a:r>
              <a:rPr lang="zh-CN" altLang="en-US" sz="3200">
                <a:solidFill>
                  <a:srgbClr val="323232"/>
                </a:solidFill>
                <a:latin typeface="黑体" panose="02010609060101010101" charset="-122"/>
              </a:rPr>
              <a:t>；</a:t>
            </a:r>
            <a:r>
              <a:rPr lang="en-US" sz="3200">
                <a:solidFill>
                  <a:srgbClr val="323232"/>
                </a:solidFill>
                <a:latin typeface="黑体" panose="02010609060101010101" charset="-122"/>
              </a:rPr>
              <a:t>状态模式的结构与实现都较为复杂，如果使用不当将导致程序结构和代码的混乱</a:t>
            </a:r>
            <a:r>
              <a:rPr lang="zh-CN" altLang="en-US" sz="3200">
                <a:solidFill>
                  <a:srgbClr val="323232"/>
                </a:solidFill>
                <a:latin typeface="黑体" panose="02010609060101010101" charset="-122"/>
              </a:rPr>
              <a:t>；</a:t>
            </a:r>
            <a:r>
              <a:rPr lang="en-US" sz="3200">
                <a:solidFill>
                  <a:srgbClr val="323232"/>
                </a:solidFill>
                <a:latin typeface="黑体" panose="02010609060101010101" charset="-122"/>
              </a:rPr>
              <a:t>状态模式对"开闭原则"的支持并不太好，对于可以切换状态的状态模式，增加新的状态类需要修改那些负责状态转换的源代码，否则无法切换到新增状态，而且修改某个状态类的行为也需修改对应类的源代码。</a:t>
            </a:r>
            <a:endParaRPr lang="en-US" sz="3200">
              <a:solidFill>
                <a:srgbClr val="323232"/>
              </a:solidFill>
              <a:latin typeface="黑体" panose="02010609060101010101" charset="-122"/>
            </a:endParaRPr>
          </a:p>
          <a:p>
            <a:pPr algn="l">
              <a:lnSpc>
                <a:spcPct val="113000"/>
              </a:lnSpc>
            </a:pPr>
            <a:endParaRPr lang="en-US" sz="3200">
              <a:solidFill>
                <a:srgbClr val="323232"/>
              </a:solidFill>
              <a:latin typeface="黑体" panose="02010609060101010101" charset="-122"/>
            </a:endParaRPr>
          </a:p>
          <a:p>
            <a:pPr algn="l">
              <a:lnSpc>
                <a:spcPct val="113000"/>
              </a:lnSpc>
            </a:pPr>
            <a:r>
              <a:rPr lang="en-US" sz="3200">
                <a:solidFill>
                  <a:srgbClr val="323232"/>
                </a:solidFill>
                <a:latin typeface="黑体" panose="02010609060101010101" charset="-122"/>
              </a:rPr>
              <a:t>使用场景：行为随状态改变而改变的场景</a:t>
            </a:r>
            <a:r>
              <a:rPr lang="zh-CN" altLang="en-US" sz="3200">
                <a:solidFill>
                  <a:srgbClr val="323232"/>
                </a:solidFill>
                <a:latin typeface="黑体" panose="02010609060101010101" charset="-122"/>
              </a:rPr>
              <a:t>；</a:t>
            </a:r>
            <a:r>
              <a:rPr lang="en-US" sz="3200">
                <a:solidFill>
                  <a:srgbClr val="323232"/>
                </a:solidFill>
                <a:latin typeface="黑体" panose="02010609060101010101" charset="-122"/>
              </a:rPr>
              <a:t>条件、分支语句的代替者</a:t>
            </a:r>
            <a:r>
              <a:rPr lang="zh-CN" altLang="en-US" sz="3200">
                <a:solidFill>
                  <a:srgbClr val="323232"/>
                </a:solidFill>
                <a:latin typeface="黑体" panose="02010609060101010101" charset="-122"/>
              </a:rPr>
              <a:t>。</a:t>
            </a:r>
            <a:endParaRPr lang="en-US" sz="24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命令模式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4" name="TextBox 6"/>
          <p:cNvSpPr txBox="1"/>
          <p:nvPr/>
        </p:nvSpPr>
        <p:spPr>
          <a:xfrm>
            <a:off x="3926840" y="3602355"/>
            <a:ext cx="8402320" cy="685800"/>
          </a:xfrm>
          <a:prstGeom prst="rect">
            <a:avLst/>
          </a:prstGeom>
        </p:spPr>
        <p:txBody>
          <a:bodyPr lIns="0" tIns="0" rIns="0" bIns="0" rtlCol="0" anchor="t"/>
          <a:p>
            <a:pPr algn="l">
              <a:lnSpc>
                <a:spcPct val="113000"/>
              </a:lnSpc>
            </a:pPr>
            <a:r>
              <a:rPr lang="zh-CN" altLang="en-US" sz="4000">
                <a:solidFill>
                  <a:srgbClr val="323232"/>
                </a:solidFill>
                <a:latin typeface="黑体" panose="02010609060101010101" charset="-122"/>
              </a:rPr>
              <a:t>需求：实现文件移动、重命名等功能</a:t>
            </a:r>
            <a:endParaRPr lang="en-US" sz="4000" b="1">
              <a:solidFill>
                <a:srgbClr val="323232"/>
              </a:solidFill>
              <a:latin typeface="黑体" panose="02010609060101010101" charset="-122"/>
            </a:endParaRPr>
          </a:p>
          <a:p>
            <a:pPr algn="l">
              <a:lnSpc>
                <a:spcPct val="113000"/>
              </a:lnSpc>
            </a:pPr>
            <a:endParaRPr lang="en-US" sz="4000" b="1">
              <a:solidFill>
                <a:srgbClr val="323232"/>
              </a:solidFill>
              <a:latin typeface="黑体" panose="0201060906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命令模式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24" name="图片 21"/>
          <p:cNvPicPr>
            <a:picLocks noChangeAspect="1"/>
          </p:cNvPicPr>
          <p:nvPr/>
        </p:nvPicPr>
        <p:blipFill>
          <a:blip r:embed="rId3"/>
          <a:stretch>
            <a:fillRect/>
          </a:stretch>
        </p:blipFill>
        <p:spPr>
          <a:xfrm>
            <a:off x="520700" y="1079500"/>
            <a:ext cx="6360160" cy="7722870"/>
          </a:xfrm>
          <a:prstGeom prst="rect">
            <a:avLst/>
          </a:prstGeom>
          <a:noFill/>
          <a:ln w="9525">
            <a:noFill/>
          </a:ln>
        </p:spPr>
      </p:pic>
      <p:pic>
        <p:nvPicPr>
          <p:cNvPr id="25" name="图片 22"/>
          <p:cNvPicPr>
            <a:picLocks noChangeAspect="1"/>
          </p:cNvPicPr>
          <p:nvPr/>
        </p:nvPicPr>
        <p:blipFill>
          <a:blip r:embed="rId4"/>
          <a:stretch>
            <a:fillRect/>
          </a:stretch>
        </p:blipFill>
        <p:spPr>
          <a:xfrm>
            <a:off x="8216900" y="2096135"/>
            <a:ext cx="5621020" cy="3513455"/>
          </a:xfrm>
          <a:prstGeom prst="rect">
            <a:avLst/>
          </a:prstGeom>
          <a:noFill/>
          <a:ln w="9525">
            <a:noFill/>
          </a:ln>
        </p:spPr>
      </p:pic>
      <p:sp>
        <p:nvSpPr>
          <p:cNvPr id="3" name="TextBox 6"/>
          <p:cNvSpPr txBox="1"/>
          <p:nvPr/>
        </p:nvSpPr>
        <p:spPr>
          <a:xfrm>
            <a:off x="8216900" y="1079500"/>
            <a:ext cx="3429000" cy="685800"/>
          </a:xfrm>
          <a:prstGeom prst="rect">
            <a:avLst/>
          </a:prstGeom>
        </p:spPr>
        <p:txBody>
          <a:bodyPr lIns="0" tIns="0" rIns="0" bIns="0" rtlCol="0" anchor="t"/>
          <a:p>
            <a:pPr algn="l">
              <a:lnSpc>
                <a:spcPct val="113000"/>
              </a:lnSpc>
            </a:pPr>
            <a:r>
              <a:rPr lang="zh-CN" altLang="en-US" sz="3600">
                <a:solidFill>
                  <a:srgbClr val="323232"/>
                </a:solidFill>
                <a:latin typeface="黑体" panose="02010609060101010101" charset="-122"/>
              </a:rPr>
              <a:t>客户端调用</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命令模式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4" name="TextBox 6"/>
          <p:cNvSpPr txBox="1"/>
          <p:nvPr/>
        </p:nvSpPr>
        <p:spPr>
          <a:xfrm>
            <a:off x="2643505" y="3679825"/>
            <a:ext cx="12162155" cy="2240915"/>
          </a:xfrm>
          <a:prstGeom prst="rect">
            <a:avLst/>
          </a:prstGeom>
        </p:spPr>
        <p:txBody>
          <a:bodyPr lIns="0" tIns="0" rIns="0" bIns="0" rtlCol="0" anchor="t"/>
          <a:p>
            <a:pPr algn="l">
              <a:lnSpc>
                <a:spcPct val="113000"/>
              </a:lnSpc>
            </a:pPr>
            <a:r>
              <a:rPr lang="en-US" sz="4000">
                <a:solidFill>
                  <a:srgbClr val="323232"/>
                </a:solidFill>
                <a:latin typeface="黑体" panose="02010609060101010101" charset="-122"/>
              </a:rPr>
              <a:t>1、调用者和执行则的强耦合（直接操作执行对象的调用方法）</a:t>
            </a:r>
            <a:endParaRPr lang="en-US" sz="4000">
              <a:solidFill>
                <a:srgbClr val="323232"/>
              </a:solidFill>
              <a:latin typeface="黑体" panose="02010609060101010101" charset="-122"/>
            </a:endParaRPr>
          </a:p>
          <a:p>
            <a:pPr algn="l">
              <a:lnSpc>
                <a:spcPct val="113000"/>
              </a:lnSpc>
            </a:pPr>
            <a:r>
              <a:rPr lang="en-US" sz="4000">
                <a:solidFill>
                  <a:srgbClr val="323232"/>
                </a:solidFill>
                <a:latin typeface="黑体" panose="02010609060101010101" charset="-122"/>
              </a:rPr>
              <a:t>2、</a:t>
            </a:r>
            <a:r>
              <a:rPr lang="zh-CN" altLang="en-US" sz="4000">
                <a:solidFill>
                  <a:srgbClr val="323232"/>
                </a:solidFill>
                <a:latin typeface="黑体" panose="02010609060101010101" charset="-122"/>
              </a:rPr>
              <a:t>中途发现</a:t>
            </a:r>
            <a:r>
              <a:rPr lang="en-US" sz="4000">
                <a:solidFill>
                  <a:srgbClr val="323232"/>
                </a:solidFill>
                <a:latin typeface="黑体" panose="02010609060101010101" charset="-122"/>
              </a:rPr>
              <a:t>删除操作</a:t>
            </a:r>
            <a:r>
              <a:rPr lang="zh-CN" altLang="en-US" sz="4000">
                <a:solidFill>
                  <a:srgbClr val="323232"/>
                </a:solidFill>
                <a:latin typeface="黑体" panose="02010609060101010101" charset="-122"/>
              </a:rPr>
              <a:t>需要</a:t>
            </a:r>
            <a:r>
              <a:rPr lang="en-US" sz="4000">
                <a:solidFill>
                  <a:srgbClr val="323232"/>
                </a:solidFill>
                <a:latin typeface="黑体" panose="02010609060101010101" charset="-122"/>
              </a:rPr>
              <a:t>撤销</a:t>
            </a:r>
            <a:endParaRPr lang="en-US" sz="4000">
              <a:solidFill>
                <a:srgbClr val="323232"/>
              </a:solidFill>
              <a:latin typeface="黑体" panose="02010609060101010101" charset="-122"/>
            </a:endParaRPr>
          </a:p>
        </p:txBody>
      </p:sp>
      <p:sp>
        <p:nvSpPr>
          <p:cNvPr id="3" name="TextBox 6"/>
          <p:cNvSpPr txBox="1"/>
          <p:nvPr/>
        </p:nvSpPr>
        <p:spPr>
          <a:xfrm>
            <a:off x="3332480" y="2615565"/>
            <a:ext cx="9966960" cy="815340"/>
          </a:xfrm>
          <a:prstGeom prst="rect">
            <a:avLst/>
          </a:prstGeom>
        </p:spPr>
        <p:txBody>
          <a:bodyPr lIns="0" tIns="0" rIns="0" bIns="0" rtlCol="0" anchor="t"/>
          <a:p>
            <a:pPr algn="ctr">
              <a:lnSpc>
                <a:spcPct val="113000"/>
              </a:lnSpc>
            </a:pPr>
            <a:r>
              <a:rPr lang="zh-CN" altLang="en-US" sz="4000">
                <a:solidFill>
                  <a:srgbClr val="323232"/>
                </a:solidFill>
                <a:latin typeface="黑体" panose="02010609060101010101" charset="-122"/>
              </a:rPr>
              <a:t>分析</a:t>
            </a:r>
            <a:endParaRPr lang="zh-CN" altLang="en-US" sz="4000">
              <a:solidFill>
                <a:srgbClr val="323232"/>
              </a:solidFill>
              <a:latin typeface="黑体" panose="0201060906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命令模式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4" name="TextBox 6"/>
          <p:cNvSpPr txBox="1"/>
          <p:nvPr/>
        </p:nvSpPr>
        <p:spPr>
          <a:xfrm>
            <a:off x="692150" y="1951990"/>
            <a:ext cx="15034260" cy="6748145"/>
          </a:xfrm>
          <a:prstGeom prst="rect">
            <a:avLst/>
          </a:prstGeom>
        </p:spPr>
        <p:txBody>
          <a:bodyPr lIns="0" tIns="0" rIns="0" bIns="0" rtlCol="0" anchor="t"/>
          <a:p>
            <a:pPr algn="l">
              <a:lnSpc>
                <a:spcPct val="113000"/>
              </a:lnSpc>
            </a:pPr>
            <a:r>
              <a:rPr lang="en-US" sz="2800">
                <a:solidFill>
                  <a:srgbClr val="323232"/>
                </a:solidFill>
                <a:latin typeface="黑体" panose="02010609060101010101" charset="-122"/>
              </a:rPr>
              <a:t>意图：将一个请求封装成一个对象，从而使您可以用不同的请求对客户进行参数化。</a:t>
            </a:r>
            <a:endParaRPr lang="en-US" sz="2800">
              <a:solidFill>
                <a:srgbClr val="323232"/>
              </a:solidFill>
              <a:latin typeface="黑体" panose="02010609060101010101" charset="-122"/>
            </a:endParaRPr>
          </a:p>
          <a:p>
            <a:pPr algn="l">
              <a:lnSpc>
                <a:spcPct val="113000"/>
              </a:lnSpc>
            </a:pPr>
            <a:endParaRPr lang="en-US" sz="2800">
              <a:solidFill>
                <a:srgbClr val="323232"/>
              </a:solidFill>
              <a:latin typeface="黑体" panose="02010609060101010101" charset="-122"/>
            </a:endParaRPr>
          </a:p>
          <a:p>
            <a:pPr algn="l">
              <a:lnSpc>
                <a:spcPct val="113000"/>
              </a:lnSpc>
            </a:pPr>
            <a:r>
              <a:rPr lang="en-US" sz="2800">
                <a:solidFill>
                  <a:srgbClr val="323232"/>
                </a:solidFill>
                <a:latin typeface="黑体" panose="02010609060101010101" charset="-122"/>
              </a:rPr>
              <a:t>主要解决：在软件系统中，行为请求者与行为实现者通常是一种紧耦合的关系，但某些场合，比如需要对行为进行记录、撤销或重做、事务等处理时，这种无法抵御变化的紧耦合的设计就不太合适。</a:t>
            </a:r>
            <a:endParaRPr lang="en-US" sz="2800">
              <a:solidFill>
                <a:srgbClr val="323232"/>
              </a:solidFill>
              <a:latin typeface="黑体" panose="02010609060101010101" charset="-122"/>
            </a:endParaRPr>
          </a:p>
          <a:p>
            <a:pPr algn="l">
              <a:lnSpc>
                <a:spcPct val="113000"/>
              </a:lnSpc>
            </a:pPr>
            <a:endParaRPr lang="en-US" sz="2800">
              <a:solidFill>
                <a:srgbClr val="323232"/>
              </a:solidFill>
              <a:latin typeface="黑体" panose="02010609060101010101" charset="-122"/>
            </a:endParaRPr>
          </a:p>
          <a:p>
            <a:pPr algn="l">
              <a:lnSpc>
                <a:spcPct val="113000"/>
              </a:lnSpc>
            </a:pPr>
            <a:r>
              <a:rPr lang="en-US" sz="2800">
                <a:solidFill>
                  <a:srgbClr val="323232"/>
                </a:solidFill>
                <a:latin typeface="黑体" panose="02010609060101010101" charset="-122"/>
              </a:rPr>
              <a:t>何时使用：在某些场合，比如要对行为进行"记录、撤销/重做、事务"等处理，这种无法抵御变化的紧耦合是不合适的。在这种情况下，如何将"行为请求者"与"行为实现者"解耦？将一组行为抽象为对象，可以实现二者之间的松耦合。</a:t>
            </a:r>
            <a:endParaRPr lang="en-US" sz="2800">
              <a:solidFill>
                <a:srgbClr val="323232"/>
              </a:solidFill>
              <a:latin typeface="黑体" panose="02010609060101010101" charset="-122"/>
            </a:endParaRPr>
          </a:p>
          <a:p>
            <a:pPr algn="l">
              <a:lnSpc>
                <a:spcPct val="113000"/>
              </a:lnSpc>
            </a:pPr>
            <a:endParaRPr lang="en-US" sz="2800">
              <a:solidFill>
                <a:srgbClr val="323232"/>
              </a:solidFill>
              <a:latin typeface="黑体" panose="02010609060101010101" charset="-122"/>
            </a:endParaRPr>
          </a:p>
          <a:p>
            <a:pPr algn="l">
              <a:lnSpc>
                <a:spcPct val="113000"/>
              </a:lnSpc>
            </a:pPr>
            <a:r>
              <a:rPr lang="en-US" sz="2800">
                <a:solidFill>
                  <a:srgbClr val="323232"/>
                </a:solidFill>
                <a:latin typeface="黑体" panose="02010609060101010101" charset="-122"/>
              </a:rPr>
              <a:t>如何解决：通过调用者调用接受者执行命令，顺序：调用者→接受者→命令。</a:t>
            </a:r>
            <a:endParaRPr lang="en-US" sz="2800">
              <a:solidFill>
                <a:srgbClr val="323232"/>
              </a:solidFill>
              <a:latin typeface="黑体" panose="02010609060101010101" charset="-122"/>
            </a:endParaRPr>
          </a:p>
          <a:p>
            <a:pPr algn="l">
              <a:lnSpc>
                <a:spcPct val="113000"/>
              </a:lnSpc>
            </a:pPr>
            <a:endParaRPr lang="en-US" sz="2800">
              <a:solidFill>
                <a:srgbClr val="323232"/>
              </a:solidFill>
              <a:latin typeface="黑体" panose="02010609060101010101" charset="-122"/>
            </a:endParaRPr>
          </a:p>
          <a:p>
            <a:pPr algn="l">
              <a:lnSpc>
                <a:spcPct val="113000"/>
              </a:lnSpc>
            </a:pPr>
            <a:r>
              <a:rPr lang="en-US" sz="2800">
                <a:solidFill>
                  <a:srgbClr val="323232"/>
                </a:solidFill>
                <a:latin typeface="黑体" panose="02010609060101010101" charset="-122"/>
              </a:rPr>
              <a:t>关键代码：定义三个角色：1、received 真正的命令执行对象 2、Command 3、invoker 使用命令对象的入口</a:t>
            </a:r>
            <a:endParaRPr lang="en-US" sz="2800">
              <a:solidFill>
                <a:srgbClr val="323232"/>
              </a:solidFill>
              <a:latin typeface="黑体" panose="02010609060101010101" charset="-122"/>
            </a:endParaRPr>
          </a:p>
        </p:txBody>
      </p:sp>
      <p:sp>
        <p:nvSpPr>
          <p:cNvPr id="3" name="TextBox 6"/>
          <p:cNvSpPr txBox="1"/>
          <p:nvPr/>
        </p:nvSpPr>
        <p:spPr>
          <a:xfrm>
            <a:off x="3143885" y="1066800"/>
            <a:ext cx="9966960" cy="594360"/>
          </a:xfrm>
          <a:prstGeom prst="rect">
            <a:avLst/>
          </a:prstGeom>
        </p:spPr>
        <p:txBody>
          <a:bodyPr lIns="0" tIns="0" rIns="0" bIns="0" rtlCol="0" anchor="t"/>
          <a:p>
            <a:pPr algn="ctr">
              <a:lnSpc>
                <a:spcPct val="113000"/>
              </a:lnSpc>
            </a:pPr>
            <a:r>
              <a:rPr lang="zh-CN" altLang="en-US" sz="4000">
                <a:solidFill>
                  <a:srgbClr val="323232"/>
                </a:solidFill>
                <a:latin typeface="黑体" panose="02010609060101010101" charset="-122"/>
              </a:rPr>
              <a:t>命令模式</a:t>
            </a:r>
            <a:endParaRPr lang="zh-CN" altLang="en-US" sz="4000">
              <a:solidFill>
                <a:srgbClr val="323232"/>
              </a:solidFill>
              <a:latin typeface="黑体" panose="0201060906010101010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命令模式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5" name="图片 4"/>
          <p:cNvPicPr>
            <a:picLocks noChangeAspect="1"/>
          </p:cNvPicPr>
          <p:nvPr/>
        </p:nvPicPr>
        <p:blipFill>
          <a:blip r:embed="rId3"/>
          <a:stretch>
            <a:fillRect/>
          </a:stretch>
        </p:blipFill>
        <p:spPr>
          <a:xfrm>
            <a:off x="1888490" y="1079500"/>
            <a:ext cx="12666980" cy="77063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命令模式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26" name="图片 23"/>
          <p:cNvPicPr>
            <a:picLocks noChangeAspect="1"/>
          </p:cNvPicPr>
          <p:nvPr/>
        </p:nvPicPr>
        <p:blipFill>
          <a:blip r:embed="rId3"/>
          <a:stretch>
            <a:fillRect/>
          </a:stretch>
        </p:blipFill>
        <p:spPr>
          <a:xfrm>
            <a:off x="520700" y="1079500"/>
            <a:ext cx="6672580" cy="1677035"/>
          </a:xfrm>
          <a:prstGeom prst="rect">
            <a:avLst/>
          </a:prstGeom>
          <a:noFill/>
          <a:ln w="9525">
            <a:noFill/>
          </a:ln>
        </p:spPr>
      </p:pic>
      <p:pic>
        <p:nvPicPr>
          <p:cNvPr id="27" name="图片 24"/>
          <p:cNvPicPr>
            <a:picLocks noChangeAspect="1"/>
          </p:cNvPicPr>
          <p:nvPr/>
        </p:nvPicPr>
        <p:blipFill>
          <a:blip r:embed="rId4"/>
          <a:stretch>
            <a:fillRect/>
          </a:stretch>
        </p:blipFill>
        <p:spPr>
          <a:xfrm>
            <a:off x="520700" y="3001010"/>
            <a:ext cx="6672580" cy="5795645"/>
          </a:xfrm>
          <a:prstGeom prst="rect">
            <a:avLst/>
          </a:prstGeom>
          <a:noFill/>
          <a:ln w="9525">
            <a:noFill/>
          </a:ln>
        </p:spPr>
      </p:pic>
      <p:pic>
        <p:nvPicPr>
          <p:cNvPr id="5" name="图片 4"/>
          <p:cNvPicPr>
            <a:picLocks noChangeAspect="1"/>
          </p:cNvPicPr>
          <p:nvPr/>
        </p:nvPicPr>
        <p:blipFill>
          <a:blip r:embed="rId5"/>
          <a:stretch>
            <a:fillRect/>
          </a:stretch>
        </p:blipFill>
        <p:spPr>
          <a:xfrm>
            <a:off x="7329170" y="1079500"/>
            <a:ext cx="8547100" cy="77165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命令模式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4" name="TextBox 6"/>
          <p:cNvSpPr txBox="1"/>
          <p:nvPr/>
        </p:nvSpPr>
        <p:spPr>
          <a:xfrm>
            <a:off x="520700" y="1407160"/>
            <a:ext cx="3429000" cy="685800"/>
          </a:xfrm>
          <a:prstGeom prst="rect">
            <a:avLst/>
          </a:prstGeom>
        </p:spPr>
        <p:txBody>
          <a:bodyPr lIns="0" tIns="0" rIns="0" bIns="0" rtlCol="0" anchor="t"/>
          <a:p>
            <a:pPr algn="l">
              <a:lnSpc>
                <a:spcPct val="113000"/>
              </a:lnSpc>
            </a:pPr>
            <a:r>
              <a:rPr lang="zh-CN" altLang="en-US" sz="3600">
                <a:solidFill>
                  <a:srgbClr val="323232"/>
                </a:solidFill>
                <a:latin typeface="黑体" panose="02010609060101010101" charset="-122"/>
              </a:rPr>
              <a:t>客户端调用</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5" name="图片 25"/>
          <p:cNvPicPr>
            <a:picLocks noChangeAspect="1"/>
          </p:cNvPicPr>
          <p:nvPr/>
        </p:nvPicPr>
        <p:blipFill>
          <a:blip r:embed="rId3"/>
          <a:stretch>
            <a:fillRect/>
          </a:stretch>
        </p:blipFill>
        <p:spPr>
          <a:xfrm>
            <a:off x="4497705" y="1407160"/>
            <a:ext cx="7674610" cy="7376160"/>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命令模式</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4" name="TextBox 6"/>
          <p:cNvSpPr txBox="1"/>
          <p:nvPr/>
        </p:nvSpPr>
        <p:spPr>
          <a:xfrm>
            <a:off x="520065" y="2967355"/>
            <a:ext cx="15265400" cy="5031105"/>
          </a:xfrm>
          <a:prstGeom prst="rect">
            <a:avLst/>
          </a:prstGeom>
        </p:spPr>
        <p:txBody>
          <a:bodyPr lIns="0" tIns="0" rIns="0" bIns="0" rtlCol="0" anchor="t"/>
          <a:p>
            <a:pPr algn="l">
              <a:lnSpc>
                <a:spcPct val="113000"/>
              </a:lnSpc>
            </a:pPr>
            <a:r>
              <a:rPr lang="en-US" sz="4000">
                <a:solidFill>
                  <a:srgbClr val="323232"/>
                </a:solidFill>
                <a:latin typeface="黑体" panose="02010609060101010101" charset="-122"/>
              </a:rPr>
              <a:t>优点：降低了系统耦合度</a:t>
            </a:r>
            <a:r>
              <a:rPr lang="zh-CN" altLang="en-US" sz="4000">
                <a:solidFill>
                  <a:srgbClr val="323232"/>
                </a:solidFill>
                <a:latin typeface="黑体" panose="02010609060101010101" charset="-122"/>
              </a:rPr>
              <a:t>；</a:t>
            </a:r>
            <a:r>
              <a:rPr lang="en-US" sz="4000">
                <a:solidFill>
                  <a:srgbClr val="323232"/>
                </a:solidFill>
                <a:latin typeface="黑体" panose="02010609060101010101" charset="-122"/>
              </a:rPr>
              <a:t>新的命令可以很容易添加到系统中去。</a:t>
            </a:r>
            <a:endParaRPr lang="en-US" sz="4000">
              <a:solidFill>
                <a:srgbClr val="323232"/>
              </a:solidFill>
              <a:latin typeface="黑体" panose="02010609060101010101" charset="-122"/>
            </a:endParaRPr>
          </a:p>
          <a:p>
            <a:pPr algn="l">
              <a:lnSpc>
                <a:spcPct val="113000"/>
              </a:lnSpc>
            </a:pPr>
            <a:endParaRPr lang="en-US" sz="4000">
              <a:solidFill>
                <a:srgbClr val="323232"/>
              </a:solidFill>
              <a:latin typeface="黑体" panose="02010609060101010101" charset="-122"/>
            </a:endParaRPr>
          </a:p>
          <a:p>
            <a:pPr algn="l">
              <a:lnSpc>
                <a:spcPct val="113000"/>
              </a:lnSpc>
            </a:pPr>
            <a:r>
              <a:rPr lang="en-US" sz="4000">
                <a:solidFill>
                  <a:srgbClr val="323232"/>
                </a:solidFill>
                <a:latin typeface="黑体" panose="02010609060101010101" charset="-122"/>
              </a:rPr>
              <a:t>缺点：使用命令模式可能会导致某些系统有过多的具体命令类。</a:t>
            </a:r>
            <a:endParaRPr lang="en-US" sz="4000">
              <a:solidFill>
                <a:srgbClr val="323232"/>
              </a:solidFill>
              <a:latin typeface="黑体" panose="02010609060101010101" charset="-122"/>
            </a:endParaRPr>
          </a:p>
          <a:p>
            <a:pPr algn="l">
              <a:lnSpc>
                <a:spcPct val="113000"/>
              </a:lnSpc>
            </a:pPr>
            <a:endParaRPr lang="en-US" sz="4000">
              <a:solidFill>
                <a:srgbClr val="323232"/>
              </a:solidFill>
              <a:latin typeface="黑体" panose="02010609060101010101" charset="-122"/>
            </a:endParaRPr>
          </a:p>
          <a:p>
            <a:pPr algn="l">
              <a:lnSpc>
                <a:spcPct val="113000"/>
              </a:lnSpc>
            </a:pPr>
            <a:r>
              <a:rPr lang="en-US" sz="4000">
                <a:solidFill>
                  <a:srgbClr val="323232"/>
                </a:solidFill>
                <a:latin typeface="黑体" panose="02010609060101010101" charset="-122"/>
              </a:rPr>
              <a:t>使用场景：认为是命令的地方都可以使用命令模式，比如：GUI 中每一个按钮都是一条命令</a:t>
            </a:r>
            <a:endParaRPr lang="en-US" sz="4000">
              <a:solidFill>
                <a:srgbClr val="323232"/>
              </a:solidFill>
              <a:latin typeface="黑体" panose="02010609060101010101" charset="-122"/>
            </a:endParaRPr>
          </a:p>
          <a:p>
            <a:pPr algn="l">
              <a:lnSpc>
                <a:spcPct val="113000"/>
              </a:lnSpc>
            </a:pPr>
            <a:endParaRPr lang="en-US" sz="2400">
              <a:solidFill>
                <a:srgbClr val="323232"/>
              </a:solidFill>
              <a:latin typeface="黑体" panose="02010609060101010101" charset="-122"/>
            </a:endParaRPr>
          </a:p>
          <a:p>
            <a:pPr algn="l">
              <a:lnSpc>
                <a:spcPct val="113000"/>
              </a:lnSpc>
            </a:pPr>
            <a:endParaRPr lang="en-US" sz="2400">
              <a:solidFill>
                <a:srgbClr val="323232"/>
              </a:solidFill>
              <a:latin typeface="黑体" panose="02010609060101010101" charset="-122"/>
            </a:endParaRPr>
          </a:p>
        </p:txBody>
      </p:sp>
      <p:sp>
        <p:nvSpPr>
          <p:cNvPr id="3" name="TextBox 6"/>
          <p:cNvSpPr txBox="1"/>
          <p:nvPr/>
        </p:nvSpPr>
        <p:spPr>
          <a:xfrm>
            <a:off x="3402330" y="1833245"/>
            <a:ext cx="9966960" cy="676275"/>
          </a:xfrm>
          <a:prstGeom prst="rect">
            <a:avLst/>
          </a:prstGeom>
        </p:spPr>
        <p:txBody>
          <a:bodyPr lIns="0" tIns="0" rIns="0" bIns="0" rtlCol="0" anchor="t"/>
          <a:p>
            <a:pPr algn="ctr">
              <a:lnSpc>
                <a:spcPct val="113000"/>
              </a:lnSpc>
            </a:pPr>
            <a:r>
              <a:rPr lang="zh-CN" altLang="en-US" sz="4000">
                <a:solidFill>
                  <a:srgbClr val="323232"/>
                </a:solidFill>
                <a:latin typeface="黑体" panose="02010609060101010101" charset="-122"/>
              </a:rPr>
              <a:t>小结</a:t>
            </a:r>
            <a:endParaRPr lang="zh-CN" altLang="en-US" sz="4000">
              <a:solidFill>
                <a:srgbClr val="323232"/>
              </a:solidFill>
              <a:latin typeface="黑体" panose="02010609060101010101"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行为型模式小结</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5" name="图片 4"/>
          <p:cNvPicPr>
            <a:picLocks noChangeAspect="1"/>
          </p:cNvPicPr>
          <p:nvPr/>
        </p:nvPicPr>
        <p:blipFill>
          <a:blip r:embed="rId3"/>
          <a:stretch>
            <a:fillRect/>
          </a:stretch>
        </p:blipFill>
        <p:spPr>
          <a:xfrm>
            <a:off x="621665" y="949960"/>
            <a:ext cx="7070725" cy="3458845"/>
          </a:xfrm>
          <a:prstGeom prst="rect">
            <a:avLst/>
          </a:prstGeom>
        </p:spPr>
      </p:pic>
      <p:pic>
        <p:nvPicPr>
          <p:cNvPr id="7" name="图片 6"/>
          <p:cNvPicPr>
            <a:picLocks noChangeAspect="1"/>
          </p:cNvPicPr>
          <p:nvPr/>
        </p:nvPicPr>
        <p:blipFill>
          <a:blip r:embed="rId4"/>
          <a:stretch>
            <a:fillRect/>
          </a:stretch>
        </p:blipFill>
        <p:spPr>
          <a:xfrm>
            <a:off x="7947660" y="949960"/>
            <a:ext cx="7834630" cy="3458845"/>
          </a:xfrm>
          <a:prstGeom prst="rect">
            <a:avLst/>
          </a:prstGeom>
        </p:spPr>
      </p:pic>
      <p:pic>
        <p:nvPicPr>
          <p:cNvPr id="8" name="图片 7"/>
          <p:cNvPicPr>
            <a:picLocks noChangeAspect="1"/>
          </p:cNvPicPr>
          <p:nvPr/>
        </p:nvPicPr>
        <p:blipFill>
          <a:blip r:embed="rId5"/>
          <a:stretch>
            <a:fillRect/>
          </a:stretch>
        </p:blipFill>
        <p:spPr>
          <a:xfrm>
            <a:off x="8096250" y="4685665"/>
            <a:ext cx="7686675" cy="4458335"/>
          </a:xfrm>
          <a:prstGeom prst="rect">
            <a:avLst/>
          </a:prstGeom>
        </p:spPr>
      </p:pic>
      <p:pic>
        <p:nvPicPr>
          <p:cNvPr id="11" name="图片 10"/>
          <p:cNvPicPr>
            <a:picLocks noChangeAspect="1"/>
          </p:cNvPicPr>
          <p:nvPr/>
        </p:nvPicPr>
        <p:blipFill>
          <a:blip r:embed="rId6"/>
          <a:stretch>
            <a:fillRect/>
          </a:stretch>
        </p:blipFill>
        <p:spPr>
          <a:xfrm>
            <a:off x="565785" y="4685665"/>
            <a:ext cx="7126605" cy="445833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行为型模式小结</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4" name="TextBox 6"/>
          <p:cNvSpPr txBox="1"/>
          <p:nvPr/>
        </p:nvSpPr>
        <p:spPr>
          <a:xfrm>
            <a:off x="2994025" y="2967355"/>
            <a:ext cx="11624310" cy="2334895"/>
          </a:xfrm>
          <a:prstGeom prst="rect">
            <a:avLst/>
          </a:prstGeom>
        </p:spPr>
        <p:txBody>
          <a:bodyPr lIns="0" tIns="0" rIns="0" bIns="0" rtlCol="0" anchor="t"/>
          <a:p>
            <a:pPr algn="l">
              <a:lnSpc>
                <a:spcPct val="113000"/>
              </a:lnSpc>
            </a:pPr>
            <a:r>
              <a:rPr lang="en-US" altLang="zh-CN" sz="2400">
                <a:solidFill>
                  <a:srgbClr val="323232"/>
                </a:solidFill>
                <a:latin typeface="黑体" panose="02010609060101010101" charset="-122"/>
              </a:rPr>
              <a:t>   </a:t>
            </a:r>
            <a:r>
              <a:rPr lang="en-US" altLang="zh-CN" sz="4000">
                <a:solidFill>
                  <a:srgbClr val="323232"/>
                </a:solidFill>
                <a:latin typeface="黑体" panose="02010609060101010101" charset="-122"/>
              </a:rPr>
              <a:t>  </a:t>
            </a:r>
            <a:r>
              <a:rPr lang="zh-CN" altLang="en-US" sz="4000">
                <a:solidFill>
                  <a:srgbClr val="323232"/>
                </a:solidFill>
                <a:latin typeface="黑体" panose="02010609060101010101" charset="-122"/>
              </a:rPr>
              <a:t>行为型设计模式注重类与类之间的通信，一般请求的发起者不会直接去调用执行者，而是通过借助中间类来完成。</a:t>
            </a:r>
            <a:endParaRPr lang="en-US" sz="4000">
              <a:solidFill>
                <a:srgbClr val="323232"/>
              </a:solidFill>
              <a:latin typeface="黑体" panose="02010609060101010101" charset="-122"/>
            </a:endParaRPr>
          </a:p>
          <a:p>
            <a:pPr algn="l">
              <a:lnSpc>
                <a:spcPct val="113000"/>
              </a:lnSpc>
            </a:pPr>
            <a:endParaRPr lang="en-US" sz="4000">
              <a:solidFill>
                <a:srgbClr val="323232"/>
              </a:solidFill>
              <a:latin typeface="黑体" panose="02010609060101010101" charset="-122"/>
            </a:endParaRPr>
          </a:p>
        </p:txBody>
      </p:sp>
      <p:sp>
        <p:nvSpPr>
          <p:cNvPr id="3" name="TextBox 6"/>
          <p:cNvSpPr txBox="1"/>
          <p:nvPr/>
        </p:nvSpPr>
        <p:spPr>
          <a:xfrm>
            <a:off x="3402330" y="1833245"/>
            <a:ext cx="9966960" cy="746760"/>
          </a:xfrm>
          <a:prstGeom prst="rect">
            <a:avLst/>
          </a:prstGeom>
        </p:spPr>
        <p:txBody>
          <a:bodyPr lIns="0" tIns="0" rIns="0" bIns="0" rtlCol="0" anchor="t"/>
          <a:p>
            <a:pPr algn="ctr">
              <a:lnSpc>
                <a:spcPct val="113000"/>
              </a:lnSpc>
            </a:pPr>
            <a:r>
              <a:rPr lang="zh-CN" altLang="en-US" sz="4000">
                <a:solidFill>
                  <a:srgbClr val="323232"/>
                </a:solidFill>
                <a:latin typeface="黑体" panose="02010609060101010101" charset="-122"/>
              </a:rPr>
              <a:t>小结</a:t>
            </a:r>
            <a:endParaRPr lang="zh-CN" altLang="en-US" sz="4000">
              <a:solidFill>
                <a:srgbClr val="323232"/>
              </a:solidFill>
              <a:latin typeface="黑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设计模式总结</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pic>
        <p:nvPicPr>
          <p:cNvPr id="7" name="图片 6"/>
          <p:cNvPicPr>
            <a:picLocks noChangeAspect="1"/>
          </p:cNvPicPr>
          <p:nvPr/>
        </p:nvPicPr>
        <p:blipFill>
          <a:blip r:embed="rId3"/>
          <a:stretch>
            <a:fillRect/>
          </a:stretch>
        </p:blipFill>
        <p:spPr>
          <a:xfrm>
            <a:off x="7586345" y="-635"/>
            <a:ext cx="8669655" cy="9144635"/>
          </a:xfrm>
          <a:prstGeom prst="rect">
            <a:avLst/>
          </a:prstGeom>
        </p:spPr>
      </p:pic>
      <p:sp>
        <p:nvSpPr>
          <p:cNvPr id="8" name="TextBox 6"/>
          <p:cNvSpPr txBox="1"/>
          <p:nvPr/>
        </p:nvSpPr>
        <p:spPr>
          <a:xfrm>
            <a:off x="647700" y="1094105"/>
            <a:ext cx="5927725" cy="8049895"/>
          </a:xfrm>
          <a:prstGeom prst="rect">
            <a:avLst/>
          </a:prstGeom>
        </p:spPr>
        <p:txBody>
          <a:bodyPr lIns="0" tIns="0" rIns="0" bIns="0" rtlCol="0" anchor="t"/>
          <a:p>
            <a:pPr algn="l">
              <a:lnSpc>
                <a:spcPct val="113000"/>
              </a:lnSpc>
            </a:pPr>
            <a:r>
              <a:rPr lang="zh-CN" altLang="en-US" sz="3200">
                <a:solidFill>
                  <a:srgbClr val="323232"/>
                </a:solidFill>
                <a:latin typeface="黑体" panose="02010609060101010101" charset="-122"/>
              </a:rPr>
              <a:t>创建型模式：这些设计模式提供了一种在创建对象的同时隐藏创建逻辑的方式，而不是使用 new 运算符直接实例化对象。这使得程序在判断针对某个给定实例需要创建哪些对象时更加灵活。</a:t>
            </a:r>
            <a:endParaRPr lang="zh-CN" altLang="en-US" sz="3200">
              <a:solidFill>
                <a:srgbClr val="323232"/>
              </a:solidFill>
              <a:latin typeface="黑体" panose="02010609060101010101" charset="-122"/>
            </a:endParaRPr>
          </a:p>
          <a:p>
            <a:pPr algn="l">
              <a:lnSpc>
                <a:spcPct val="113000"/>
              </a:lnSpc>
            </a:pPr>
            <a:endParaRPr lang="zh-CN" altLang="en-US" sz="3200">
              <a:solidFill>
                <a:srgbClr val="323232"/>
              </a:solidFill>
              <a:latin typeface="黑体" panose="02010609060101010101" charset="-122"/>
            </a:endParaRPr>
          </a:p>
          <a:p>
            <a:pPr algn="l">
              <a:lnSpc>
                <a:spcPct val="113000"/>
              </a:lnSpc>
            </a:pPr>
            <a:r>
              <a:rPr lang="zh-CN" altLang="en-US" sz="3200">
                <a:solidFill>
                  <a:srgbClr val="323232"/>
                </a:solidFill>
                <a:latin typeface="黑体" panose="02010609060101010101" charset="-122"/>
              </a:rPr>
              <a:t>结构型模式：这些设计模式关注类和对象的组合。继承的概念被用来组合接口和定义组合对象获得新功能的方式。</a:t>
            </a:r>
            <a:endParaRPr lang="zh-CN" altLang="en-US" sz="3200">
              <a:solidFill>
                <a:srgbClr val="323232"/>
              </a:solidFill>
              <a:latin typeface="黑体" panose="02010609060101010101" charset="-122"/>
            </a:endParaRPr>
          </a:p>
          <a:p>
            <a:pPr algn="l">
              <a:lnSpc>
                <a:spcPct val="113000"/>
              </a:lnSpc>
            </a:pPr>
            <a:endParaRPr lang="zh-CN" altLang="en-US" sz="3200">
              <a:solidFill>
                <a:srgbClr val="323232"/>
              </a:solidFill>
              <a:latin typeface="黑体" panose="02010609060101010101" charset="-122"/>
            </a:endParaRPr>
          </a:p>
          <a:p>
            <a:pPr algn="l">
              <a:lnSpc>
                <a:spcPct val="113000"/>
              </a:lnSpc>
            </a:pPr>
            <a:r>
              <a:rPr lang="zh-CN" altLang="en-US" sz="3200">
                <a:solidFill>
                  <a:srgbClr val="323232"/>
                </a:solidFill>
                <a:latin typeface="黑体" panose="02010609060101010101" charset="-122"/>
              </a:rPr>
              <a:t>行为型模式：这些设计模式特别关注对象之间的通信。</a:t>
            </a:r>
            <a:endParaRPr lang="zh-CN" altLang="en-US" sz="3200">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设计模式总结</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4" name="TextBox 6"/>
          <p:cNvSpPr txBox="1"/>
          <p:nvPr/>
        </p:nvSpPr>
        <p:spPr>
          <a:xfrm>
            <a:off x="4126230" y="2790825"/>
            <a:ext cx="8809990" cy="4320540"/>
          </a:xfrm>
          <a:prstGeom prst="rect">
            <a:avLst/>
          </a:prstGeom>
        </p:spPr>
        <p:txBody>
          <a:bodyPr lIns="0" tIns="0" rIns="0" bIns="0" rtlCol="0" anchor="t"/>
          <a:p>
            <a:pPr algn="l">
              <a:lnSpc>
                <a:spcPct val="113000"/>
              </a:lnSpc>
            </a:pPr>
            <a:r>
              <a:rPr lang="zh-CN" altLang="en-US" sz="4000">
                <a:solidFill>
                  <a:srgbClr val="323232"/>
                </a:solidFill>
                <a:latin typeface="黑体" panose="02010609060101010101" charset="-122"/>
              </a:rPr>
              <a:t>1. 单一职责原则</a:t>
            </a:r>
            <a:endParaRPr lang="zh-CN" altLang="en-US" sz="4000">
              <a:solidFill>
                <a:srgbClr val="323232"/>
              </a:solidFill>
              <a:latin typeface="黑体" panose="02010609060101010101" charset="-122"/>
            </a:endParaRPr>
          </a:p>
          <a:p>
            <a:pPr algn="l">
              <a:lnSpc>
                <a:spcPct val="113000"/>
              </a:lnSpc>
            </a:pPr>
            <a:r>
              <a:rPr lang="zh-CN" altLang="en-US" sz="4000">
                <a:solidFill>
                  <a:srgbClr val="323232"/>
                </a:solidFill>
                <a:latin typeface="黑体" panose="02010609060101010101" charset="-122"/>
              </a:rPr>
              <a:t>2. 里氏替换原则</a:t>
            </a:r>
            <a:endParaRPr lang="zh-CN" altLang="en-US" sz="4000">
              <a:solidFill>
                <a:srgbClr val="323232"/>
              </a:solidFill>
              <a:latin typeface="黑体" panose="02010609060101010101" charset="-122"/>
            </a:endParaRPr>
          </a:p>
          <a:p>
            <a:pPr algn="l">
              <a:lnSpc>
                <a:spcPct val="113000"/>
              </a:lnSpc>
            </a:pPr>
            <a:r>
              <a:rPr lang="zh-CN" altLang="en-US" sz="4000">
                <a:solidFill>
                  <a:srgbClr val="323232"/>
                </a:solidFill>
                <a:latin typeface="黑体" panose="02010609060101010101" charset="-122"/>
              </a:rPr>
              <a:t>3. 依赖倒置原则</a:t>
            </a:r>
            <a:endParaRPr lang="zh-CN" altLang="en-US" sz="4000">
              <a:solidFill>
                <a:srgbClr val="323232"/>
              </a:solidFill>
              <a:latin typeface="黑体" panose="02010609060101010101" charset="-122"/>
            </a:endParaRPr>
          </a:p>
          <a:p>
            <a:pPr algn="l">
              <a:lnSpc>
                <a:spcPct val="113000"/>
              </a:lnSpc>
            </a:pPr>
            <a:r>
              <a:rPr lang="zh-CN" altLang="en-US" sz="4000">
                <a:solidFill>
                  <a:srgbClr val="323232"/>
                </a:solidFill>
                <a:latin typeface="黑体" panose="02010609060101010101" charset="-122"/>
              </a:rPr>
              <a:t>4. 接口隔离原则</a:t>
            </a:r>
            <a:endParaRPr lang="zh-CN" altLang="en-US" sz="4000">
              <a:solidFill>
                <a:srgbClr val="323232"/>
              </a:solidFill>
              <a:latin typeface="黑体" panose="02010609060101010101" charset="-122"/>
            </a:endParaRPr>
          </a:p>
          <a:p>
            <a:pPr algn="l">
              <a:lnSpc>
                <a:spcPct val="113000"/>
              </a:lnSpc>
            </a:pPr>
            <a:r>
              <a:rPr lang="zh-CN" altLang="en-US" sz="4000">
                <a:solidFill>
                  <a:srgbClr val="323232"/>
                </a:solidFill>
                <a:latin typeface="黑体" panose="02010609060101010101" charset="-122"/>
              </a:rPr>
              <a:t>5. 迪米特法则</a:t>
            </a:r>
            <a:endParaRPr lang="zh-CN" altLang="en-US" sz="4000">
              <a:solidFill>
                <a:srgbClr val="323232"/>
              </a:solidFill>
              <a:latin typeface="黑体" panose="02010609060101010101" charset="-122"/>
            </a:endParaRPr>
          </a:p>
          <a:p>
            <a:pPr algn="l">
              <a:lnSpc>
                <a:spcPct val="113000"/>
              </a:lnSpc>
            </a:pPr>
            <a:r>
              <a:rPr lang="zh-CN" altLang="en-US" sz="4000">
                <a:solidFill>
                  <a:srgbClr val="323232"/>
                </a:solidFill>
                <a:latin typeface="黑体" panose="02010609060101010101" charset="-122"/>
              </a:rPr>
              <a:t>6. 开闭原则</a:t>
            </a:r>
            <a:endParaRPr lang="zh-CN" altLang="en-US" sz="4000">
              <a:solidFill>
                <a:srgbClr val="323232"/>
              </a:solidFill>
              <a:latin typeface="黑体" panose="02010609060101010101" charset="-122"/>
            </a:endParaRPr>
          </a:p>
        </p:txBody>
      </p:sp>
      <p:sp>
        <p:nvSpPr>
          <p:cNvPr id="5" name="TextBox 6"/>
          <p:cNvSpPr txBox="1"/>
          <p:nvPr/>
        </p:nvSpPr>
        <p:spPr>
          <a:xfrm>
            <a:off x="3402330" y="1833245"/>
            <a:ext cx="9966960" cy="524510"/>
          </a:xfrm>
          <a:prstGeom prst="rect">
            <a:avLst/>
          </a:prstGeom>
        </p:spPr>
        <p:txBody>
          <a:bodyPr lIns="0" tIns="0" rIns="0" bIns="0" rtlCol="0" anchor="t"/>
          <a:p>
            <a:pPr algn="ctr">
              <a:lnSpc>
                <a:spcPct val="113000"/>
              </a:lnSpc>
            </a:pPr>
            <a:r>
              <a:rPr lang="zh-CN" altLang="en-US" sz="4000">
                <a:solidFill>
                  <a:srgbClr val="323232"/>
                </a:solidFill>
                <a:latin typeface="黑体" panose="02010609060101010101" charset="-122"/>
              </a:rPr>
              <a:t>六大基本原则</a:t>
            </a:r>
            <a:endParaRPr lang="zh-CN" altLang="en-US" sz="4000">
              <a:solidFill>
                <a:srgbClr val="323232"/>
              </a:solidFill>
              <a:latin typeface="黑体" panose="02010609060101010101"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设计模式总结</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3" name="TextBox 6"/>
          <p:cNvSpPr txBox="1"/>
          <p:nvPr/>
        </p:nvSpPr>
        <p:spPr>
          <a:xfrm>
            <a:off x="3402330" y="1833245"/>
            <a:ext cx="9966960" cy="676910"/>
          </a:xfrm>
          <a:prstGeom prst="rect">
            <a:avLst/>
          </a:prstGeom>
        </p:spPr>
        <p:txBody>
          <a:bodyPr lIns="0" tIns="0" rIns="0" bIns="0" rtlCol="0" anchor="t"/>
          <a:p>
            <a:pPr algn="ctr">
              <a:lnSpc>
                <a:spcPct val="113000"/>
              </a:lnSpc>
            </a:pPr>
            <a:r>
              <a:rPr lang="zh-CN" altLang="en-US" sz="4000">
                <a:solidFill>
                  <a:srgbClr val="323232"/>
                </a:solidFill>
                <a:latin typeface="黑体" panose="02010609060101010101" charset="-122"/>
              </a:rPr>
              <a:t>个人经验</a:t>
            </a:r>
            <a:endParaRPr lang="zh-CN" altLang="en-US" sz="4000">
              <a:solidFill>
                <a:srgbClr val="323232"/>
              </a:solidFill>
              <a:latin typeface="黑体" panose="02010609060101010101" charset="-122"/>
            </a:endParaRPr>
          </a:p>
        </p:txBody>
      </p:sp>
      <p:sp>
        <p:nvSpPr>
          <p:cNvPr id="4" name="TextBox 6"/>
          <p:cNvSpPr txBox="1"/>
          <p:nvPr/>
        </p:nvSpPr>
        <p:spPr>
          <a:xfrm>
            <a:off x="3402330" y="2882900"/>
            <a:ext cx="9966960" cy="2893060"/>
          </a:xfrm>
          <a:prstGeom prst="rect">
            <a:avLst/>
          </a:prstGeom>
        </p:spPr>
        <p:txBody>
          <a:bodyPr lIns="0" tIns="0" rIns="0" bIns="0" rtlCol="0" anchor="t"/>
          <a:p>
            <a:pPr algn="l">
              <a:lnSpc>
                <a:spcPct val="113000"/>
              </a:lnSpc>
            </a:pPr>
            <a:r>
              <a:rPr lang="en-US" altLang="zh-CN" sz="4000">
                <a:solidFill>
                  <a:srgbClr val="323232"/>
                </a:solidFill>
                <a:latin typeface="黑体" panose="02010609060101010101" charset="-122"/>
              </a:rPr>
              <a:t>1</a:t>
            </a:r>
            <a:r>
              <a:rPr lang="zh-CN" altLang="en-US" sz="4000">
                <a:solidFill>
                  <a:srgbClr val="323232"/>
                </a:solidFill>
                <a:latin typeface="黑体" panose="02010609060101010101" charset="-122"/>
              </a:rPr>
              <a:t>、单一职责</a:t>
            </a:r>
            <a:endParaRPr lang="en-US" altLang="zh-CN" sz="4000">
              <a:solidFill>
                <a:srgbClr val="323232"/>
              </a:solidFill>
              <a:latin typeface="黑体" panose="02010609060101010101" charset="-122"/>
            </a:endParaRPr>
          </a:p>
          <a:p>
            <a:pPr algn="l">
              <a:lnSpc>
                <a:spcPct val="113000"/>
              </a:lnSpc>
            </a:pPr>
            <a:r>
              <a:rPr lang="en-US" altLang="zh-CN" sz="4000">
                <a:solidFill>
                  <a:srgbClr val="323232"/>
                </a:solidFill>
                <a:latin typeface="黑体" panose="02010609060101010101" charset="-122"/>
              </a:rPr>
              <a:t>2</a:t>
            </a:r>
            <a:r>
              <a:rPr lang="zh-CN" altLang="en-US" sz="4000">
                <a:solidFill>
                  <a:srgbClr val="323232"/>
                </a:solidFill>
                <a:latin typeface="黑体" panose="02010609060101010101" charset="-122"/>
              </a:rPr>
              <a:t>、开放封闭</a:t>
            </a:r>
            <a:endParaRPr lang="zh-CN" altLang="en-US" sz="4000">
              <a:solidFill>
                <a:srgbClr val="323232"/>
              </a:solidFill>
              <a:latin typeface="黑体" panose="02010609060101010101" charset="-122"/>
            </a:endParaRPr>
          </a:p>
          <a:p>
            <a:pPr algn="l">
              <a:lnSpc>
                <a:spcPct val="113000"/>
              </a:lnSpc>
            </a:pPr>
            <a:r>
              <a:rPr lang="en-US" altLang="zh-CN" sz="4000">
                <a:solidFill>
                  <a:srgbClr val="323232"/>
                </a:solidFill>
                <a:latin typeface="黑体" panose="02010609060101010101" charset="-122"/>
              </a:rPr>
              <a:t>3</a:t>
            </a:r>
            <a:r>
              <a:rPr lang="zh-CN" altLang="en-US" sz="4000">
                <a:solidFill>
                  <a:srgbClr val="323232"/>
                </a:solidFill>
                <a:latin typeface="黑体" panose="02010609060101010101" charset="-122"/>
              </a:rPr>
              <a:t>、面向接口编程</a:t>
            </a:r>
            <a:endParaRPr lang="zh-CN" altLang="en-US" sz="4000">
              <a:solidFill>
                <a:srgbClr val="323232"/>
              </a:solidFill>
              <a:latin typeface="黑体" panose="02010609060101010101" charset="-122"/>
            </a:endParaRPr>
          </a:p>
          <a:p>
            <a:pPr algn="l">
              <a:lnSpc>
                <a:spcPct val="113000"/>
              </a:lnSpc>
            </a:pPr>
            <a:r>
              <a:rPr lang="en-US" altLang="zh-CN" sz="4000">
                <a:solidFill>
                  <a:srgbClr val="323232"/>
                </a:solidFill>
                <a:latin typeface="黑体" panose="02010609060101010101" charset="-122"/>
              </a:rPr>
              <a:t>4</a:t>
            </a:r>
            <a:r>
              <a:rPr lang="zh-CN" altLang="en-US" sz="4000">
                <a:solidFill>
                  <a:srgbClr val="323232"/>
                </a:solidFill>
                <a:latin typeface="黑体" panose="02010609060101010101" charset="-122"/>
              </a:rPr>
              <a:t>、少用继承，多用组合</a:t>
            </a:r>
            <a:endParaRPr lang="zh-CN" altLang="en-US" sz="4000">
              <a:solidFill>
                <a:srgbClr val="323232"/>
              </a:solidFill>
              <a:latin typeface="黑体" panose="02010609060101010101" charset="-122"/>
            </a:endParaRPr>
          </a:p>
          <a:p>
            <a:pPr algn="l">
              <a:lnSpc>
                <a:spcPct val="113000"/>
              </a:lnSpc>
            </a:pPr>
            <a:endParaRPr lang="zh-CN" altLang="en-US" sz="4000">
              <a:solidFill>
                <a:srgbClr val="323232"/>
              </a:solidFill>
              <a:latin typeface="黑体" panose="0201060906010101010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结束语</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4" name="TextBox 6"/>
          <p:cNvSpPr txBox="1"/>
          <p:nvPr/>
        </p:nvSpPr>
        <p:spPr>
          <a:xfrm>
            <a:off x="1579880" y="1079500"/>
            <a:ext cx="13270865" cy="7411720"/>
          </a:xfrm>
          <a:prstGeom prst="rect">
            <a:avLst/>
          </a:prstGeom>
        </p:spPr>
        <p:txBody>
          <a:bodyPr lIns="0" tIns="0" rIns="0" bIns="0" rtlCol="0" anchor="t"/>
          <a:p>
            <a:pPr algn="l">
              <a:lnSpc>
                <a:spcPct val="113000"/>
              </a:lnSpc>
            </a:pPr>
            <a:r>
              <a:rPr lang="en-US" altLang="zh-CN" sz="2800">
                <a:solidFill>
                  <a:srgbClr val="323232"/>
                </a:solidFill>
                <a:latin typeface="黑体" panose="02010609060101010101" charset="-122"/>
              </a:rPr>
              <a:t>   </a:t>
            </a:r>
            <a:r>
              <a:rPr lang="en-US" altLang="zh-CN" sz="3200">
                <a:solidFill>
                  <a:srgbClr val="323232"/>
                </a:solidFill>
                <a:latin typeface="黑体" panose="02010609060101010101" charset="-122"/>
              </a:rPr>
              <a:t> </a:t>
            </a:r>
            <a:r>
              <a:rPr lang="en-US" altLang="zh-CN" sz="3600">
                <a:solidFill>
                  <a:srgbClr val="323232"/>
                </a:solidFill>
                <a:latin typeface="黑体" panose="02010609060101010101" charset="-122"/>
              </a:rPr>
              <a:t>痛定思痛，反思悔过。我终于发现，贝利、马拉多纳不管老、胖是用来敬仰的，贝克汉姆、罗纳尔迪尼奥不管美、丑是用来欣赏的，但他们的球....嗨，客气地说，是不容易学会的，客观地说，是不可能学得会的。为什么会这样?原来，我学习中缺了一个很重要的环节，我们在看到了精彩的球赛，欣赏球星高超球技的同时，却忽略了球星的成长过程。他们尽管有一定天分，但却也是从最底层通过努力一点一点慢慢显露出来的，我们需要的不仅仅是世界杯上的那定乾坤的一脚，更需要这一脚之前是如何练出那种神奇的方法，对于程序员来讲，</a:t>
            </a:r>
            <a:r>
              <a:rPr lang="en-US" altLang="zh-CN" sz="3600" b="1" i="1">
                <a:solidFill>
                  <a:srgbClr val="323232"/>
                </a:solidFill>
                <a:latin typeface="黑体" panose="02010609060101010101" charset="-122"/>
              </a:rPr>
              <a:t>精彩的代码是如何想出来的，要比看到精彩的代码更加令人期待</a:t>
            </a:r>
            <a:r>
              <a:rPr lang="en-US" altLang="zh-CN" sz="3600">
                <a:solidFill>
                  <a:srgbClr val="323232"/>
                </a:solidFill>
                <a:latin typeface="黑体" panose="02010609060101010101" charset="-122"/>
              </a:rPr>
              <a:t>。</a:t>
            </a:r>
            <a:r>
              <a:rPr lang="en-US" altLang="zh-CN" sz="3600">
                <a:solidFill>
                  <a:srgbClr val="323232"/>
                </a:solidFill>
                <a:latin typeface="黑体" panose="02010609060101010101" charset="-122"/>
                <a:sym typeface="+mn-ea"/>
              </a:rPr>
              <a:t>                                                       </a:t>
            </a:r>
            <a:endParaRPr lang="en-US" altLang="zh-CN" sz="3600">
              <a:solidFill>
                <a:srgbClr val="323232"/>
              </a:solidFill>
              <a:latin typeface="黑体" panose="02010609060101010101" charset="-122"/>
              <a:sym typeface="+mn-ea"/>
            </a:endParaRPr>
          </a:p>
          <a:p>
            <a:pPr algn="l">
              <a:lnSpc>
                <a:spcPct val="113000"/>
              </a:lnSpc>
            </a:pPr>
            <a:endParaRPr lang="en-US" altLang="zh-CN" sz="3600">
              <a:solidFill>
                <a:srgbClr val="323232"/>
              </a:solidFill>
              <a:latin typeface="黑体" panose="02010609060101010101" charset="-122"/>
              <a:sym typeface="+mn-ea"/>
            </a:endParaRPr>
          </a:p>
          <a:p>
            <a:pPr algn="l">
              <a:lnSpc>
                <a:spcPct val="113000"/>
              </a:lnSpc>
            </a:pPr>
            <a:r>
              <a:rPr lang="en-US" altLang="zh-CN" sz="3600">
                <a:solidFill>
                  <a:srgbClr val="323232"/>
                </a:solidFill>
                <a:latin typeface="黑体" panose="02010609060101010101" charset="-122"/>
                <a:sym typeface="+mn-ea"/>
              </a:rPr>
              <a:t>										--</a:t>
            </a:r>
            <a:r>
              <a:rPr lang="zh-CN" altLang="en-US" sz="3600">
                <a:solidFill>
                  <a:srgbClr val="323232"/>
                </a:solidFill>
                <a:latin typeface="黑体" panose="02010609060101010101" charset="-122"/>
                <a:sym typeface="+mn-ea"/>
              </a:rPr>
              <a:t>《大话设计模式》</a:t>
            </a:r>
            <a:endParaRPr lang="zh-CN" altLang="en-US" sz="3600">
              <a:solidFill>
                <a:srgbClr val="323232"/>
              </a:solidFill>
              <a:latin typeface="黑体" panose="02010609060101010101"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6" name="TextBox 6"/>
          <p:cNvSpPr txBox="1"/>
          <p:nvPr/>
        </p:nvSpPr>
        <p:spPr>
          <a:xfrm>
            <a:off x="520700" y="381000"/>
            <a:ext cx="3429000" cy="685800"/>
          </a:xfrm>
          <a:prstGeom prst="rect">
            <a:avLst/>
          </a:prstGeom>
        </p:spPr>
        <p:txBody>
          <a:bodyPr lIns="0" tIns="0" rIns="0" bIns="0" rtlCol="0" anchor="t"/>
          <a:lstStyle/>
          <a:p>
            <a:pPr algn="l">
              <a:lnSpc>
                <a:spcPct val="113000"/>
              </a:lnSpc>
            </a:pPr>
            <a:r>
              <a:rPr lang="zh-CN" altLang="en-US" sz="3600" b="1">
                <a:solidFill>
                  <a:srgbClr val="323232"/>
                </a:solidFill>
                <a:latin typeface="黑体" panose="02010609060101010101" charset="-122"/>
              </a:rPr>
              <a:t>课后作业</a:t>
            </a:r>
            <a:endParaRPr lang="en-US" sz="3600" b="1">
              <a:solidFill>
                <a:srgbClr val="323232"/>
              </a:solidFill>
              <a:latin typeface="黑体" panose="02010609060101010101" charset="-122"/>
            </a:endParaRPr>
          </a:p>
          <a:p>
            <a:pPr algn="l">
              <a:lnSpc>
                <a:spcPct val="113000"/>
              </a:lnSpc>
            </a:pPr>
            <a:endParaRPr lang="en-US" sz="3600" b="1">
              <a:solidFill>
                <a:srgbClr val="323232"/>
              </a:solidFill>
              <a:latin typeface="黑体" panose="02010609060101010101" charset="-122"/>
            </a:endParaRPr>
          </a:p>
        </p:txBody>
      </p:sp>
      <p:pic>
        <p:nvPicPr>
          <p:cNvPr id="9" name="Picture 9"/>
          <p:cNvPicPr>
            <a:picLocks noChangeAspect="1"/>
          </p:cNvPicPr>
          <p:nvPr/>
        </p:nvPicPr>
        <p:blipFill>
          <a:blip r:embed="rId2"/>
          <a:stretch>
            <a:fillRect/>
          </a:stretch>
        </p:blipFill>
        <p:spPr>
          <a:xfrm rot="5400000">
            <a:off x="-254000" y="660400"/>
            <a:ext cx="673100" cy="165100"/>
          </a:xfrm>
          <a:prstGeom prst="rect">
            <a:avLst/>
          </a:prstGeom>
        </p:spPr>
      </p:pic>
      <p:sp>
        <p:nvSpPr>
          <p:cNvPr id="4" name="TextBox 6"/>
          <p:cNvSpPr txBox="1"/>
          <p:nvPr/>
        </p:nvSpPr>
        <p:spPr>
          <a:xfrm>
            <a:off x="1954530" y="2882900"/>
            <a:ext cx="12430125" cy="2730500"/>
          </a:xfrm>
          <a:prstGeom prst="rect">
            <a:avLst/>
          </a:prstGeom>
        </p:spPr>
        <p:txBody>
          <a:bodyPr lIns="0" tIns="0" rIns="0" bIns="0" rtlCol="0" anchor="t"/>
          <a:p>
            <a:pPr algn="l">
              <a:lnSpc>
                <a:spcPct val="113000"/>
              </a:lnSpc>
            </a:pPr>
            <a:r>
              <a:rPr lang="en-US" altLang="zh-CN" sz="4000">
                <a:solidFill>
                  <a:srgbClr val="323232"/>
                </a:solidFill>
                <a:latin typeface="黑体" panose="02010609060101010101" charset="-122"/>
              </a:rPr>
              <a:t>1</a:t>
            </a:r>
            <a:r>
              <a:rPr lang="zh-CN" altLang="en-US" sz="4000">
                <a:solidFill>
                  <a:srgbClr val="323232"/>
                </a:solidFill>
                <a:latin typeface="黑体" panose="02010609060101010101" charset="-122"/>
              </a:rPr>
              <a:t>、用以上任意一种设计模式改造所负责项目中的代码。</a:t>
            </a:r>
            <a:endParaRPr lang="zh-CN" altLang="en-US" sz="4000">
              <a:solidFill>
                <a:srgbClr val="323232"/>
              </a:solidFill>
              <a:latin typeface="黑体" panose="02010609060101010101" charset="-122"/>
            </a:endParaRPr>
          </a:p>
          <a:p>
            <a:pPr algn="l">
              <a:lnSpc>
                <a:spcPct val="113000"/>
              </a:lnSpc>
            </a:pPr>
            <a:r>
              <a:rPr lang="en-US" altLang="zh-CN" sz="4000">
                <a:solidFill>
                  <a:srgbClr val="323232"/>
                </a:solidFill>
                <a:latin typeface="黑体" panose="02010609060101010101" charset="-122"/>
              </a:rPr>
              <a:t>2</a:t>
            </a:r>
            <a:r>
              <a:rPr lang="zh-CN" altLang="en-US" sz="4000">
                <a:solidFill>
                  <a:srgbClr val="323232"/>
                </a:solidFill>
                <a:latin typeface="黑体" panose="02010609060101010101" charset="-122"/>
              </a:rPr>
              <a:t>、自学责任链模式，编写</a:t>
            </a:r>
            <a:r>
              <a:rPr lang="en-US" altLang="zh-CN" sz="4000">
                <a:solidFill>
                  <a:srgbClr val="323232"/>
                </a:solidFill>
                <a:latin typeface="黑体" panose="02010609060101010101" charset="-122"/>
              </a:rPr>
              <a:t>demo</a:t>
            </a:r>
            <a:r>
              <a:rPr lang="zh-CN" altLang="en-US" sz="4000">
                <a:solidFill>
                  <a:srgbClr val="323232"/>
                </a:solidFill>
                <a:latin typeface="黑体" panose="02010609060101010101" charset="-122"/>
              </a:rPr>
              <a:t>，并与状态模式进行比较，说明其异同。</a:t>
            </a:r>
            <a:endParaRPr lang="zh-CN" altLang="en-US" sz="4000">
              <a:solidFill>
                <a:srgbClr val="323232"/>
              </a:solidFill>
              <a:latin typeface="黑体" panose="02010609060101010101"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0" y="0"/>
            <a:ext cx="16256000" cy="9144000"/>
          </a:xfrm>
          <a:prstGeom prst="rect">
            <a:avLst/>
          </a:prstGeom>
        </p:spPr>
      </p:pic>
      <p:sp>
        <p:nvSpPr>
          <p:cNvPr id="3" name="TextBox 3"/>
          <p:cNvSpPr txBox="1"/>
          <p:nvPr/>
        </p:nvSpPr>
        <p:spPr>
          <a:xfrm>
            <a:off x="6413500" y="3594100"/>
            <a:ext cx="3429000" cy="1981200"/>
          </a:xfrm>
          <a:prstGeom prst="rect">
            <a:avLst/>
          </a:prstGeom>
        </p:spPr>
        <p:txBody>
          <a:bodyPr lIns="0" tIns="0" rIns="0" bIns="0" rtlCol="0" anchor="t"/>
          <a:lstStyle/>
          <a:p>
            <a:pPr algn="ctr">
              <a:lnSpc>
                <a:spcPct val="113000"/>
              </a:lnSpc>
            </a:pPr>
            <a:r>
              <a:rPr lang="en-US" sz="10400" b="1">
                <a:solidFill>
                  <a:srgbClr val="323232"/>
                </a:solidFill>
                <a:latin typeface="黑体" panose="02010609060101010101" charset="-122"/>
              </a:rPr>
              <a:t>谢谢</a:t>
            </a:r>
            <a:endParaRPr lang="en-US" sz="10400" b="1">
              <a:solidFill>
                <a:srgbClr val="323232"/>
              </a:solidFill>
              <a:latin typeface="黑体" panose="02010609060101010101"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2679</Words>
  <Application>WPS 演示</Application>
  <PresentationFormat>On-screen Show (4:3)</PresentationFormat>
  <Paragraphs>360</Paragraphs>
  <Slides>39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39</vt:i4>
      </vt:variant>
    </vt:vector>
  </HeadingPairs>
  <TitlesOfParts>
    <vt:vector size="47" baseType="lpstr">
      <vt:lpstr>Arial</vt:lpstr>
      <vt:lpstr>宋体</vt:lpstr>
      <vt:lpstr>Wingdings</vt:lpstr>
      <vt:lpstr>黑体</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viruser</cp:lastModifiedBy>
  <cp:revision>204</cp:revision>
  <dcterms:created xsi:type="dcterms:W3CDTF">2019-05-20T07:29:00Z</dcterms:created>
  <dcterms:modified xsi:type="dcterms:W3CDTF">2019-12-09T13:04:38Z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2052-10.1.0.7311</vt:lpwstr>
  </property>
</Properties>
</file>