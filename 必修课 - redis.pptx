
<file path=[Content_Types].xml><?xml version="1.0" encoding="utf-8"?>
<Types xmlns="http://schemas.openxmlformats.org/package/2006/content-types">
  <Default Extension="jpeg" ContentType="image/jpe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3320" r:id="rId3"/>
    <p:sldId id="3291" r:id="rId5"/>
    <p:sldId id="3328" r:id="rId6"/>
    <p:sldId id="3335" r:id="rId7"/>
    <p:sldId id="3286" r:id="rId8"/>
    <p:sldId id="3356" r:id="rId9"/>
    <p:sldId id="3357" r:id="rId10"/>
    <p:sldId id="3358" r:id="rId11"/>
    <p:sldId id="3359" r:id="rId12"/>
    <p:sldId id="3360" r:id="rId13"/>
    <p:sldId id="3361" r:id="rId14"/>
    <p:sldId id="3362" r:id="rId15"/>
    <p:sldId id="3363" r:id="rId16"/>
    <p:sldId id="3364" r:id="rId17"/>
    <p:sldId id="3369" r:id="rId18"/>
    <p:sldId id="3336" r:id="rId19"/>
    <p:sldId id="3365" r:id="rId20"/>
    <p:sldId id="3366" r:id="rId21"/>
    <p:sldId id="3367" r:id="rId22"/>
    <p:sldId id="3338" r:id="rId23"/>
    <p:sldId id="3368" r:id="rId24"/>
    <p:sldId id="3379" r:id="rId25"/>
    <p:sldId id="3339" r:id="rId26"/>
  </p:sldIdLst>
  <p:sldSz cx="12858750" cy="723265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05526"/>
    <a:srgbClr val="00FE00"/>
    <a:srgbClr val="900000"/>
    <a:srgbClr val="0FC7D3"/>
    <a:srgbClr val="EC206C"/>
    <a:srgbClr val="BC148E"/>
    <a:srgbClr val="0A1A3B"/>
    <a:srgbClr val="CE000D"/>
    <a:srgbClr val="FE67BE"/>
    <a:srgbClr val="840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51" autoAdjust="0"/>
    <p:restoredTop sz="92986" autoAdjust="0"/>
  </p:normalViewPr>
  <p:slideViewPr>
    <p:cSldViewPr>
      <p:cViewPr varScale="1">
        <p:scale>
          <a:sx n="60" d="100"/>
          <a:sy n="60" d="100"/>
        </p:scale>
        <p:origin x="-66" y="-1416"/>
      </p:cViewPr>
      <p:guideLst>
        <p:guide orient="horz" pos="347"/>
        <p:guide orient="horz" pos="4183"/>
        <p:guide pos="4050"/>
        <p:guide pos="7588"/>
        <p:guide pos="345"/>
        <p:guide pos="1327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2" d="100"/>
        <a:sy n="132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742FC-62BB-4B81-9CA5-3B750A4B45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E82F1-5B17-4D95-A6D6-EB96F2D72B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开始之前，先随便感受下</a:t>
            </a:r>
            <a:r>
              <a:rPr lang="en-US" altLang="zh-CN"/>
              <a:t>redis</a:t>
            </a:r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pintersest</a:t>
            </a:r>
            <a:r>
              <a:rPr lang="zh-CN" altLang="en-US"/>
              <a:t>：世界上最大的图片社交分享网站</a:t>
            </a:r>
            <a:endParaRPr lang="zh-CN" altLang="en-US"/>
          </a:p>
          <a:p>
            <a:r>
              <a:rPr lang="en-US" altLang="zh-CN"/>
              <a:t>snapchat</a:t>
            </a:r>
            <a:r>
              <a:rPr lang="zh-CN" altLang="en-US"/>
              <a:t>：一款“阅后即焚”照片分享应用</a:t>
            </a:r>
            <a:endParaRPr lang="zh-CN" altLang="en-US"/>
          </a:p>
          <a:p>
            <a:r>
              <a:rPr lang="en-US" altLang="zh-CN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Craigslist </a:t>
            </a:r>
            <a:r>
              <a:rPr lang="zh-CN" altLang="en-US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：广告分类网站</a:t>
            </a:r>
            <a:endParaRPr lang="zh-CN" altLang="en-US" dirty="0" smtClean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  <a:p>
            <a:r>
              <a:rPr lang="en-US" altLang="zh-CN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digg</a:t>
            </a:r>
            <a:r>
              <a:rPr lang="zh-CN" altLang="en-US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：第一个掘客（大众进行新闻挖掘）网站</a:t>
            </a:r>
            <a:endParaRPr lang="zh-CN" altLang="en-US" dirty="0" smtClean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  <a:p>
            <a:r>
              <a:rPr lang="en-US" altLang="zh-CN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flickr</a:t>
            </a:r>
            <a:r>
              <a:rPr lang="zh-CN" altLang="en-US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：图片视频托管网站</a:t>
            </a:r>
            <a:endParaRPr lang="zh-CN" altLang="en-US" dirty="0" smtClean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  <a:p>
            <a:endParaRPr lang="zh-CN" altLang="en-US" dirty="0" smtClean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历史：</a:t>
            </a:r>
            <a:endParaRPr lang="zh-CN" altLang="en-US" dirty="0" smtClean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网站同时向LLOOGG.com发送它们的访客浏览记录，然后LLOOGG.com会将这些浏览数据通过web页面实时展示给用户，并存储最新的5到10000条浏览记录，以便进行查阅，就是说可以设置查看最近多少条</a:t>
            </a:r>
            <a:endParaRPr lang="zh-CN" altLang="en-US" dirty="0" smtClean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  <a:p>
            <a:r>
              <a:rPr lang="en-US" altLang="zh-CN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2009</a:t>
            </a:r>
            <a:r>
              <a:rPr lang="zh-CN" altLang="en-US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年诞生</a:t>
            </a:r>
            <a:endParaRPr lang="zh-CN" altLang="en-US" dirty="0" smtClean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-t</a:t>
            </a:r>
            <a:r>
              <a:rPr lang="zh-CN" altLang="en-US">
                <a:sym typeface="+mn-ea"/>
              </a:rPr>
              <a:t>：操作的命令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-r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get/set/incr</a:t>
            </a:r>
            <a:r>
              <a:rPr lang="zh-CN" altLang="en-US">
                <a:sym typeface="+mn-ea"/>
              </a:rPr>
              <a:t>随机</a:t>
            </a:r>
            <a:r>
              <a:rPr lang="en-US" altLang="zh-CN">
                <a:sym typeface="+mn-ea"/>
              </a:rPr>
              <a:t>key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sadd</a:t>
            </a:r>
            <a:r>
              <a:rPr lang="zh-CN" altLang="en-US">
                <a:sym typeface="+mn-ea"/>
              </a:rPr>
              <a:t>随机值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-n</a:t>
            </a:r>
            <a:r>
              <a:rPr lang="zh-CN" altLang="en-US">
                <a:sym typeface="+mn-ea"/>
              </a:rPr>
              <a:t>：请求总量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-P</a:t>
            </a:r>
            <a:r>
              <a:rPr lang="zh-CN" altLang="en-US">
                <a:sym typeface="+mn-ea"/>
              </a:rPr>
              <a:t>：管道每次处理的操作数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-q</a:t>
            </a:r>
            <a:r>
              <a:rPr lang="zh-CN" altLang="en-US">
                <a:sym typeface="+mn-ea"/>
              </a:rPr>
              <a:t>：仅展示每秒能操作几次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Redis不涉及I/O操作，因此设计为单线程是效率最高的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这里“多路”指的是多个网络连接，“复用”指的是复用同一个线程</a:t>
            </a:r>
            <a:endParaRPr lang="zh-CN" altLang="en-US"/>
          </a:p>
          <a:p>
            <a:r>
              <a:rPr lang="zh-CN" altLang="en-US">
                <a:sym typeface="+mn-ea"/>
              </a:rPr>
              <a:t>epoll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"假设，此刻有任务A和任务B，现在有如下两种执行方式"</a:t>
            </a:r>
            <a:endParaRPr lang="zh-CN" altLang="en-US"/>
          </a:p>
          <a:p>
            <a:r>
              <a:rPr lang="zh-CN" altLang="en-US">
                <a:sym typeface="+mn-ea"/>
              </a:rPr>
              <a:t>方式一:两个线程，一个线程执行A，另一个线程执行B</a:t>
            </a:r>
            <a:endParaRPr lang="zh-CN" altLang="en-US"/>
          </a:p>
          <a:p>
            <a:r>
              <a:rPr lang="zh-CN" altLang="en-US">
                <a:sym typeface="+mn-ea"/>
              </a:rPr>
              <a:t>方式二:一个线程，先执行A，执行完以后继续执行B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一个CPU主频是 2.6GHz，这意味着每秒可以执行：2.6*10^9 个指令，那么每个指令的时间大概是0.38ns！而一次上下文切换，将近需要耗时2000ns！而这个时间内，CPU什么都干不了，只是做了保存上下文都动作！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举个例子：</a:t>
            </a:r>
            <a:endParaRPr lang="zh-CN" altLang="en-US"/>
          </a:p>
          <a:p>
            <a:r>
              <a:rPr lang="zh-CN" altLang="en-US"/>
              <a:t>一个面对</a:t>
            </a:r>
            <a:r>
              <a:rPr lang="en-US" altLang="zh-CN"/>
              <a:t>c</a:t>
            </a:r>
            <a:r>
              <a:rPr lang="zh-CN" altLang="en-US"/>
              <a:t>端的统计页面，查询全部都是</a:t>
            </a:r>
            <a:r>
              <a:rPr lang="en-US" altLang="zh-CN"/>
              <a:t>mysql</a:t>
            </a:r>
            <a:r>
              <a:rPr lang="zh-CN" altLang="en-US"/>
              <a:t>，查询量大，某天被</a:t>
            </a:r>
            <a:r>
              <a:rPr lang="en-US" altLang="zh-CN"/>
              <a:t>push</a:t>
            </a:r>
            <a:r>
              <a:rPr lang="zh-CN" altLang="en-US"/>
              <a:t>出去了。</a:t>
            </a:r>
            <a:endParaRPr lang="zh-CN" altLang="en-US"/>
          </a:p>
          <a:p>
            <a:r>
              <a:rPr lang="zh-CN" altLang="en-US"/>
              <a:t>可能会导致</a:t>
            </a:r>
            <a:r>
              <a:rPr lang="en-US" altLang="zh-CN"/>
              <a:t>mysql</a:t>
            </a:r>
            <a:r>
              <a:rPr lang="zh-CN" altLang="en-US"/>
              <a:t>连接数达到上线，其他业务的查询被阻塞等待，导致全站</a:t>
            </a:r>
            <a:r>
              <a:rPr lang="en-US" altLang="zh-CN"/>
              <a:t>502.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  <a:p>
            <a:r>
              <a:rPr lang="en-US" altLang="zh-CN"/>
              <a:t>get/set</a:t>
            </a:r>
            <a:r>
              <a:rPr lang="zh-CN" altLang="en-US"/>
              <a:t>：用户昵称缓存</a:t>
            </a:r>
            <a:endParaRPr lang="zh-CN" altLang="en-US"/>
          </a:p>
          <a:p>
            <a:r>
              <a:rPr lang="en-US" altLang="zh-CN"/>
              <a:t>incr</a:t>
            </a:r>
            <a:r>
              <a:rPr lang="zh-CN" altLang="en-US"/>
              <a:t>：以文章</a:t>
            </a:r>
            <a:r>
              <a:rPr lang="en-US" altLang="zh-CN"/>
              <a:t>id</a:t>
            </a:r>
            <a:r>
              <a:rPr lang="zh-CN" altLang="en-US"/>
              <a:t>为</a:t>
            </a:r>
            <a:r>
              <a:rPr lang="en-US" altLang="zh-CN"/>
              <a:t>key</a:t>
            </a:r>
            <a:r>
              <a:rPr lang="zh-CN" altLang="en-US"/>
              <a:t>，进入页面的时候增加</a:t>
            </a:r>
            <a:r>
              <a:rPr lang="en-US" altLang="zh-CN"/>
              <a:t>1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扩展：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、新增一个带过期时间的</a:t>
            </a:r>
            <a:r>
              <a:rPr lang="en-US" altLang="zh-CN"/>
              <a:t>key</a:t>
            </a:r>
            <a:r>
              <a:rPr lang="zh-CN" altLang="en-US"/>
              <a:t>，新增之前现判断下当前是否达到上限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incrby</a:t>
            </a:r>
            <a:r>
              <a:rPr lang="zh-CN" altLang="en-US"/>
              <a:t>增加一定数据量的浏览量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1</a:t>
            </a:r>
            <a:r>
              <a:rPr lang="zh-CN" altLang="en-US"/>
              <a:t>、以</a:t>
            </a:r>
            <a:r>
              <a:rPr lang="en-US" altLang="zh-CN"/>
              <a:t>hash</a:t>
            </a:r>
            <a:r>
              <a:rPr lang="zh-CN" altLang="en-US"/>
              <a:t>存储用户信息，</a:t>
            </a:r>
            <a:r>
              <a:rPr lang="en-US" altLang="zh-CN"/>
              <a:t>key</a:t>
            </a:r>
            <a:r>
              <a:rPr lang="zh-CN" altLang="en-US"/>
              <a:t>为用户</a:t>
            </a:r>
            <a:r>
              <a:rPr lang="en-US" altLang="zh-CN"/>
              <a:t>id</a:t>
            </a:r>
            <a:r>
              <a:rPr lang="zh-CN" altLang="en-US"/>
              <a:t>相关，</a:t>
            </a:r>
            <a:r>
              <a:rPr lang="en-US" altLang="zh-CN"/>
              <a:t>filed</a:t>
            </a:r>
            <a:r>
              <a:rPr lang="zh-CN" altLang="en-US"/>
              <a:t>分别为</a:t>
            </a:r>
            <a:r>
              <a:rPr lang="en-US" altLang="zh-CN"/>
              <a:t>nickname</a:t>
            </a:r>
            <a:r>
              <a:rPr lang="zh-CN" altLang="en-US"/>
              <a:t>，</a:t>
            </a:r>
            <a:r>
              <a:rPr lang="en-US" altLang="zh-CN"/>
              <a:t>avatar</a:t>
            </a:r>
            <a:r>
              <a:rPr lang="zh-CN" altLang="en-US"/>
              <a:t>、</a:t>
            </a:r>
            <a:r>
              <a:rPr lang="en-US" altLang="zh-CN"/>
              <a:t>desc</a:t>
            </a:r>
            <a:endParaRPr lang="en-US" altLang="zh-CN"/>
          </a:p>
          <a:p>
            <a:r>
              <a:rPr lang="en-US" altLang="zh-CN"/>
              <a:t>4</a:t>
            </a:r>
            <a:r>
              <a:rPr lang="zh-CN" altLang="en-US"/>
              <a:t>、以</a:t>
            </a:r>
            <a:r>
              <a:rPr lang="en-US" altLang="zh-CN"/>
              <a:t>hash</a:t>
            </a:r>
            <a:r>
              <a:rPr lang="zh-CN" altLang="en-US"/>
              <a:t>存储统计数据，</a:t>
            </a:r>
            <a:r>
              <a:rPr lang="en-US" altLang="zh-CN"/>
              <a:t>key</a:t>
            </a:r>
            <a:r>
              <a:rPr lang="zh-CN" altLang="en-US"/>
              <a:t>为用户</a:t>
            </a:r>
            <a:r>
              <a:rPr lang="en-US" altLang="zh-CN"/>
              <a:t>id</a:t>
            </a:r>
            <a:r>
              <a:rPr lang="zh-CN" altLang="en-US"/>
              <a:t>相关，</a:t>
            </a:r>
            <a:r>
              <a:rPr lang="en-US" altLang="zh-CN"/>
              <a:t>filed</a:t>
            </a:r>
            <a:r>
              <a:rPr lang="zh-CN" altLang="en-US"/>
              <a:t>分别为</a:t>
            </a:r>
            <a:r>
              <a:rPr lang="en-US" altLang="zh-CN"/>
              <a:t>click</a:t>
            </a:r>
            <a:r>
              <a:rPr lang="zh-CN" altLang="en-US"/>
              <a:t>，</a:t>
            </a:r>
            <a:r>
              <a:rPr lang="en-US" altLang="zh-CN"/>
              <a:t>agree,</a:t>
            </a:r>
            <a:endParaRPr lang="en-US" altLang="zh-CN"/>
          </a:p>
          <a:p>
            <a:r>
              <a:rPr lang="en-US" altLang="zh-CN"/>
              <a:t>hincby</a:t>
            </a:r>
            <a:r>
              <a:rPr lang="zh-CN" altLang="en-US"/>
              <a:t>增减一定的量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5</a:t>
            </a:r>
            <a:r>
              <a:rPr lang="zh-CN" altLang="en-US"/>
              <a:t>、每次点赞，</a:t>
            </a:r>
            <a:r>
              <a:rPr lang="en-US" altLang="zh-CN"/>
              <a:t>rpush</a:t>
            </a:r>
            <a:r>
              <a:rPr lang="zh-CN" altLang="en-US"/>
              <a:t>一条记录进入队列，获取长度，并修建队列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类似</a:t>
            </a:r>
            <a:r>
              <a:rPr lang="en-US" altLang="zh-CN"/>
              <a:t>php</a:t>
            </a:r>
            <a:r>
              <a:rPr lang="zh-CN" altLang="en-US"/>
              <a:t>的二维数组的</a:t>
            </a:r>
            <a:r>
              <a:rPr lang="en-US" altLang="zh-CN"/>
              <a:t>key</a:t>
            </a:r>
            <a:r>
              <a:rPr lang="zh-CN" altLang="en-US"/>
              <a:t>，</a:t>
            </a:r>
            <a:r>
              <a:rPr lang="en-US" altLang="zh-CN"/>
              <a:t>hash</a:t>
            </a:r>
            <a:r>
              <a:rPr lang="zh-CN" altLang="en-US"/>
              <a:t>数据结构的</a:t>
            </a:r>
            <a:r>
              <a:rPr lang="en-US" altLang="zh-CN"/>
              <a:t>field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6</a:t>
            </a:r>
            <a:r>
              <a:rPr lang="zh-CN" altLang="en-US"/>
              <a:t>、每次调用完后，若为绑定手机号，则将用户</a:t>
            </a:r>
            <a:r>
              <a:rPr lang="en-US" altLang="zh-CN"/>
              <a:t>id</a:t>
            </a:r>
            <a:r>
              <a:rPr lang="zh-CN" altLang="en-US"/>
              <a:t>塞入集合中，点赞时，用</a:t>
            </a:r>
            <a:r>
              <a:rPr lang="en-US" altLang="zh-CN"/>
              <a:t>sismember</a:t>
            </a:r>
            <a:r>
              <a:rPr lang="zh-CN" altLang="en-US"/>
              <a:t>判断是否需要调用认证中心接口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、根据要求，提前生成好运营数据，时间戳对应</a:t>
            </a:r>
            <a:r>
              <a:rPr lang="en-US" altLang="zh-CN"/>
              <a:t>score</a:t>
            </a:r>
            <a:r>
              <a:rPr lang="zh-CN" altLang="en-US"/>
              <a:t>，</a:t>
            </a:r>
            <a:r>
              <a:rPr lang="en-US" altLang="zh-CN"/>
              <a:t>key</a:t>
            </a:r>
            <a:r>
              <a:rPr lang="zh-CN" altLang="en-US"/>
              <a:t>为文章相关信息</a:t>
            </a:r>
            <a:r>
              <a:rPr lang="en-US" altLang="zh-CN"/>
              <a:t>json</a:t>
            </a:r>
            <a:r>
              <a:rPr lang="zh-CN" altLang="en-US"/>
              <a:t>串，脚本定时扫描该有序集合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红包：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、如何设计红包技术方案？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、美团外卖红包为啥能告诉用户第几个用户对红包最大？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该如何实现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olidFill>
                  <a:srgbClr val="0D69FF"/>
                </a:solidFill>
                <a:sym typeface="+mn-ea"/>
              </a:rPr>
              <a:t>强一致性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：数据更新后，接下来的查询都是更新后到数据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rgbClr val="0D69FF"/>
                </a:solidFill>
                <a:sym typeface="+mn-ea"/>
              </a:rPr>
              <a:t>最终一致性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：特殊的弱一致性，一段时间后得到的内容的为更新后的内容，即最终趋向于更新后的数据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olidFill>
                  <a:srgbClr val="00FE00"/>
                </a:solidFill>
                <a:sym typeface="+mn-ea"/>
              </a:rPr>
              <a:t>近两个交易日：</a:t>
            </a:r>
            <a:endParaRPr lang="zh-CN" altLang="en-US">
              <a:solidFill>
                <a:srgbClr val="00FE00"/>
              </a:solidFill>
              <a:sym typeface="+mn-ea"/>
            </a:endParaRPr>
          </a:p>
          <a:p>
            <a:r>
              <a:rPr lang="zh-CN" altLang="en-US">
                <a:solidFill>
                  <a:srgbClr val="00FE00"/>
                </a:solidFill>
                <a:sym typeface="+mn-ea"/>
              </a:rPr>
              <a:t>拦截机制</a:t>
            </a:r>
            <a:r>
              <a:rPr lang="zh-CN" altLang="en-US">
                <a:sym typeface="+mn-ea"/>
              </a:rPr>
              <a:t>：直接返回为空，对于两个交易日之外的文章的请求</a:t>
            </a:r>
            <a:endParaRPr lang="zh-CN" altLang="en-US"/>
          </a:p>
          <a:p>
            <a:r>
              <a:rPr lang="zh-CN" altLang="en-US"/>
              <a:t>记录近两个交易日的最大的</a:t>
            </a:r>
            <a:r>
              <a:rPr lang="en-US" altLang="zh-CN"/>
              <a:t>pid</a:t>
            </a:r>
            <a:r>
              <a:rPr lang="zh-CN" altLang="en-US"/>
              <a:t>的和最小的</a:t>
            </a:r>
            <a:r>
              <a:rPr lang="en-US" altLang="zh-CN"/>
              <a:t>pid</a:t>
            </a:r>
            <a:r>
              <a:rPr lang="zh-CN" altLang="en-US"/>
              <a:t>，查询缓存时若超出这个范围段，则</a:t>
            </a:r>
            <a:r>
              <a:rPr lang="en-US" altLang="zh-CN"/>
              <a:t>404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olidFill>
                  <a:srgbClr val="00FE00"/>
                </a:solidFill>
                <a:sym typeface="+mn-ea"/>
              </a:rPr>
              <a:t>互斥锁</a:t>
            </a:r>
            <a:r>
              <a:rPr lang="zh-CN" altLang="en-US">
                <a:sym typeface="+mn-ea"/>
              </a:rPr>
              <a:t>：缓存中取不到，加锁，再从数据库中获取</a:t>
            </a:r>
            <a:endParaRPr lang="en-US" altLang="zh-CN"/>
          </a:p>
          <a:p>
            <a:r>
              <a:rPr lang="zh-CN" altLang="en-US"/>
              <a:t>互斥锁在</a:t>
            </a:r>
            <a:r>
              <a:rPr lang="en-US" altLang="zh-CN"/>
              <a:t>php</a:t>
            </a:r>
            <a:r>
              <a:rPr lang="zh-CN" altLang="en-US"/>
              <a:t>中会影响</a:t>
            </a:r>
            <a:r>
              <a:rPr lang="en-US" altLang="zh-CN"/>
              <a:t>fpm</a:t>
            </a:r>
            <a:r>
              <a:rPr lang="zh-CN" altLang="en-US"/>
              <a:t>的响应，导致无闲置</a:t>
            </a:r>
            <a:r>
              <a:rPr lang="en-US" altLang="zh-CN"/>
              <a:t>fpm</a:t>
            </a:r>
            <a:r>
              <a:rPr lang="zh-CN" altLang="en-US"/>
              <a:t>进程可用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缓存有效期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8325228" y="654542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 smtClean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259"/>
          <p:cNvSpPr>
            <a:spLocks noChangeArrowheads="1"/>
          </p:cNvSpPr>
          <p:nvPr/>
        </p:nvSpPr>
        <p:spPr bwMode="auto">
          <a:xfrm>
            <a:off x="380703" y="1955905"/>
            <a:ext cx="3816424" cy="144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8800" cap="all" dirty="0">
                <a:solidFill>
                  <a:schemeClr val="bg1"/>
                </a:solidFill>
                <a:latin typeface="造字工房明黑（非商用）常规体" pitchFamily="2" charset="-122"/>
                <a:ea typeface="造字工房明黑（非商用）常规体" pitchFamily="2" charset="-122"/>
                <a:cs typeface="Arial" panose="020B0604020202090204" pitchFamily="34" charset="0"/>
              </a:rPr>
              <a:t>Redis</a:t>
            </a:r>
            <a:endParaRPr lang="en-US" altLang="zh-CN" sz="8800" cap="all" dirty="0">
              <a:solidFill>
                <a:schemeClr val="bg1"/>
              </a:solidFill>
              <a:latin typeface="造字工房明黑（非商用）常规体" pitchFamily="2" charset="-122"/>
              <a:ea typeface="造字工房明黑（非商用）常规体" pitchFamily="2" charset="-122"/>
              <a:cs typeface="Arial" panose="020B0604020202090204" pitchFamily="34" charset="0"/>
            </a:endParaRP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452711" y="3400301"/>
            <a:ext cx="6210452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cap="all" dirty="0">
                <a:solidFill>
                  <a:schemeClr val="bg1"/>
                </a:solidFill>
                <a:cs typeface="Arial" panose="020B0604020202090204" pitchFamily="34" charset="0"/>
              </a:rPr>
              <a:t>redis</a:t>
            </a:r>
            <a:r>
              <a:rPr lang="zh-CN" altLang="en-US" sz="2000" cap="all" dirty="0">
                <a:solidFill>
                  <a:schemeClr val="bg1"/>
                </a:solidFill>
                <a:cs typeface="Arial" panose="020B0604020202090204" pitchFamily="34" charset="0"/>
              </a:rPr>
              <a:t>的介绍及应用</a:t>
            </a:r>
            <a:endParaRPr lang="zh-CN" altLang="en-US" sz="2000" cap="all" dirty="0">
              <a:solidFill>
                <a:schemeClr val="bg1"/>
              </a:solidFill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sndAc>
          <p:stSnd>
            <p:snd r:embed="rId2" name="camera.wav"/>
          </p:stSnd>
        </p:sndAc>
      </p:transition>
    </mc:Choice>
    <mc:Fallback>
      <p:transition spd="slow" advTm="0"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 rot="2900928">
            <a:off x="4335219" y="3554461"/>
            <a:ext cx="1713160" cy="90006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1065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 rot="2900928">
            <a:off x="5507587" y="5043227"/>
            <a:ext cx="2016768" cy="90006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zh-CN" altLang="en-US" sz="1065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诞生</a:t>
            </a:r>
            <a:endParaRPr lang="zh-CN" altLang="en-US" sz="1065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 rot="2900928">
            <a:off x="6046451" y="2580779"/>
            <a:ext cx="900063" cy="16147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1065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2900928">
            <a:off x="6433085" y="4008585"/>
            <a:ext cx="900063" cy="821728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1065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44441" y="4188548"/>
            <a:ext cx="817245" cy="28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65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Use cases</a:t>
            </a:r>
            <a:endParaRPr lang="zh-CN" altLang="en-US" sz="1065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1618" y="4222620"/>
            <a:ext cx="590550" cy="28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65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高性能</a:t>
            </a:r>
            <a:endParaRPr lang="zh-CN" altLang="en-US" sz="1065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847722" y="3647832"/>
            <a:ext cx="726440" cy="28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65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支持语言</a:t>
            </a:r>
            <a:endParaRPr lang="zh-CN" altLang="en-US" sz="1065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576955" y="3737608"/>
            <a:ext cx="914400" cy="3321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支持语言</a:t>
            </a:r>
            <a:endParaRPr lang="zh-CN" altLang="en-US" sz="18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576955" y="4047761"/>
            <a:ext cx="2701752" cy="36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000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C, C++, C#, Erlang, Go, Java, Node.js Lua, Objective-C, Perl, PHP Oython, Ruby, Scala </a:t>
            </a:r>
            <a:endParaRPr lang="en-US" altLang="zh-CN" sz="1000" dirty="0" smtClean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68266" y="3737608"/>
            <a:ext cx="712470" cy="5162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语言</a:t>
            </a:r>
            <a:endParaRPr lang="zh-CN" altLang="en-US" sz="2800" b="1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712412" y="1770710"/>
            <a:ext cx="1536700" cy="3321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Who is </a:t>
            </a:r>
            <a:r>
              <a:rPr lang="en-US" altLang="zh-CN" sz="1400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using</a:t>
            </a:r>
            <a:r>
              <a:rPr lang="zh-CN" altLang="en-US" sz="1800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 </a:t>
            </a:r>
            <a:r>
              <a:rPr lang="zh-CN" altLang="en-US" sz="1400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Redis</a:t>
            </a:r>
            <a:endParaRPr lang="zh-CN" altLang="en-US" sz="1400" dirty="0" smtClean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719496" y="2101013"/>
            <a:ext cx="2580144" cy="36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000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Twitter  GitHub  Weibo  Pinterest  Snapchat  Craigslist  Digg  StackOverflow  Flickr</a:t>
            </a:r>
            <a:endParaRPr lang="en-US" altLang="zh-CN" sz="1000" dirty="0" smtClean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86397" y="1842480"/>
            <a:ext cx="1659255" cy="5162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28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Use cases</a:t>
            </a:r>
            <a:endParaRPr lang="en-US" sz="28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1" name="Rectangle 29"/>
          <p:cNvSpPr/>
          <p:nvPr/>
        </p:nvSpPr>
        <p:spPr>
          <a:xfrm>
            <a:off x="8745687" y="5514999"/>
            <a:ext cx="685800" cy="3321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高性能</a:t>
            </a:r>
            <a:endParaRPr lang="zh-CN" altLang="en-US" sz="18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2" name="Rectangle 30"/>
          <p:cNvSpPr/>
          <p:nvPr/>
        </p:nvSpPr>
        <p:spPr>
          <a:xfrm>
            <a:off x="8745687" y="5821342"/>
            <a:ext cx="2701752" cy="18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每秒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50w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次</a:t>
            </a:r>
            <a:r>
              <a:rPr lang="en-US" altLang="zh-CN" sz="1000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get/set</a:t>
            </a:r>
            <a:r>
              <a:rPr lang="zh-CN" altLang="en-US" sz="1000" dirty="0" smtClean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操作</a:t>
            </a:r>
            <a:endParaRPr lang="zh-CN" altLang="en-US" sz="1000" dirty="0" smtClean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3" name="TextBox 31"/>
          <p:cNvSpPr txBox="1"/>
          <p:nvPr/>
        </p:nvSpPr>
        <p:spPr>
          <a:xfrm>
            <a:off x="8115116" y="5514999"/>
            <a:ext cx="356235" cy="5162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快</a:t>
            </a:r>
            <a:endParaRPr lang="zh-CN" altLang="en-US" sz="2800" b="1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50885" y="1038860"/>
            <a:ext cx="292798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Redis是一个开源的使用ANSI C语言编写、支持网络、可基于内存亦可持久化的日志型、Key-Value数据库，并提供多种语言的API。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870" y="4511675"/>
            <a:ext cx="4460240" cy="25253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6870" y="455295"/>
            <a:ext cx="59480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solidFill>
                  <a:srgbClr val="FFC000"/>
                </a:solidFill>
              </a:rPr>
              <a:t>开始之前，先随意感受下</a:t>
            </a:r>
            <a:r>
              <a:rPr lang="en-US" altLang="zh-CN" sz="3200">
                <a:solidFill>
                  <a:srgbClr val="FFC000"/>
                </a:solidFill>
              </a:rPr>
              <a:t>redis</a:t>
            </a:r>
            <a:r>
              <a:rPr lang="zh-CN" altLang="en-US" sz="3200">
                <a:solidFill>
                  <a:srgbClr val="FFC000"/>
                </a:solidFill>
              </a:rPr>
              <a:t>。</a:t>
            </a:r>
            <a:endParaRPr lang="zh-CN" altLang="en-US" sz="3200"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  <p:bldP spid="5" grpId="0" animBg="1"/>
      <p:bldP spid="20" grpId="0" animBg="1"/>
      <p:bldP spid="7" grpId="0"/>
      <p:bldP spid="27" grpId="0"/>
      <p:bldP spid="28" grpId="0"/>
      <p:bldP spid="30" grpId="0"/>
      <p:bldP spid="31" grpId="0"/>
      <p:bldP spid="32" grpId="0"/>
      <p:bldP spid="34" grpId="0"/>
      <p:bldP spid="35" grpId="0"/>
      <p:bldP spid="36" grpId="0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6429375" cy="723265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MH_Number_1"/>
          <p:cNvSpPr/>
          <p:nvPr>
            <p:custDataLst>
              <p:tags r:id="rId2"/>
            </p:custDataLst>
          </p:nvPr>
        </p:nvSpPr>
        <p:spPr>
          <a:xfrm>
            <a:off x="6843076" y="2201232"/>
            <a:ext cx="379646" cy="379646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1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Times New Roman" panose="02020503050405090304" pitchFamily="18" charset="0"/>
                <a:sym typeface="Arial" panose="020B0604020202090204" pitchFamily="34" charset="0"/>
              </a:rPr>
              <a:t>1</a:t>
            </a:r>
            <a:endParaRPr lang="zh-CN" altLang="en-US" sz="2110" b="1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sp>
        <p:nvSpPr>
          <p:cNvPr id="9" name="MH_Entry_1"/>
          <p:cNvSpPr/>
          <p:nvPr>
            <p:custDataLst>
              <p:tags r:id="rId3"/>
            </p:custDataLst>
          </p:nvPr>
        </p:nvSpPr>
        <p:spPr>
          <a:xfrm>
            <a:off x="7548034" y="2141097"/>
            <a:ext cx="2466406" cy="5734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en-US" altLang="zh-CN" sz="253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Redis</a:t>
            </a:r>
            <a:r>
              <a:rPr lang="zh-CN" altLang="en-US" sz="253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的特性</a:t>
            </a:r>
            <a:endParaRPr lang="zh-CN" altLang="en-US" sz="253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r>
              <a:rPr lang="zh-CN" altLang="en-US" sz="12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高性能，查询缓冲</a:t>
            </a:r>
            <a:endParaRPr lang="zh-CN" altLang="en-US" sz="12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0" name="MH_Number_2"/>
          <p:cNvSpPr/>
          <p:nvPr>
            <p:custDataLst>
              <p:tags r:id="rId4"/>
            </p:custDataLst>
          </p:nvPr>
        </p:nvSpPr>
        <p:spPr>
          <a:xfrm>
            <a:off x="6843076" y="3070701"/>
            <a:ext cx="379646" cy="379646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10" b="1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Times New Roman" panose="02020503050405090304" pitchFamily="18" charset="0"/>
                <a:sym typeface="Arial" panose="020B0604020202090204" pitchFamily="34" charset="0"/>
              </a:rPr>
              <a:t>2</a:t>
            </a:r>
            <a:endParaRPr lang="zh-CN" altLang="en-US" sz="2110" b="1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sp>
        <p:nvSpPr>
          <p:cNvPr id="13" name="MH_Entry_2"/>
          <p:cNvSpPr/>
          <p:nvPr>
            <p:custDataLst>
              <p:tags r:id="rId5"/>
            </p:custDataLst>
          </p:nvPr>
        </p:nvSpPr>
        <p:spPr>
          <a:xfrm>
            <a:off x="7548034" y="3010567"/>
            <a:ext cx="2466406" cy="5734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en-US" altLang="zh-CN" sz="2530" dirty="0">
                <a:solidFill>
                  <a:schemeClr val="accent2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Redis</a:t>
            </a:r>
            <a:r>
              <a:rPr lang="zh-CN" altLang="en-US" sz="2530" dirty="0">
                <a:solidFill>
                  <a:schemeClr val="accent2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常用结构</a:t>
            </a:r>
            <a:endParaRPr lang="zh-CN" altLang="en-US" sz="2530" dirty="0">
              <a:solidFill>
                <a:schemeClr val="accent2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lvl="0"/>
            <a:r>
              <a:rPr lang="en-US" altLang="zh-CN" sz="1200" dirty="0">
                <a:solidFill>
                  <a:schemeClr val="accent2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5</a:t>
            </a:r>
            <a:r>
              <a:rPr lang="zh-CN" altLang="en-US" sz="1200" dirty="0">
                <a:solidFill>
                  <a:schemeClr val="accent2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种基本类型、特点</a:t>
            </a:r>
            <a:endParaRPr lang="zh-CN" altLang="en-US" sz="1200" dirty="0">
              <a:solidFill>
                <a:schemeClr val="accent2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4" name="MH_Number_3"/>
          <p:cNvSpPr/>
          <p:nvPr>
            <p:custDataLst>
              <p:tags r:id="rId6"/>
            </p:custDataLst>
          </p:nvPr>
        </p:nvSpPr>
        <p:spPr>
          <a:xfrm>
            <a:off x="6843076" y="3940169"/>
            <a:ext cx="379646" cy="379646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10" b="1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Times New Roman" panose="02020503050405090304" pitchFamily="18" charset="0"/>
                <a:sym typeface="Arial" panose="020B0604020202090204" pitchFamily="34" charset="0"/>
              </a:rPr>
              <a:t>3</a:t>
            </a:r>
            <a:endParaRPr lang="zh-CN" altLang="en-US" sz="2110" b="1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sp>
        <p:nvSpPr>
          <p:cNvPr id="15" name="MH_Entry_3"/>
          <p:cNvSpPr/>
          <p:nvPr>
            <p:custDataLst>
              <p:tags r:id="rId7"/>
            </p:custDataLst>
          </p:nvPr>
        </p:nvSpPr>
        <p:spPr>
          <a:xfrm>
            <a:off x="7548034" y="3880035"/>
            <a:ext cx="2466406" cy="5734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253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常见问题</a:t>
            </a:r>
            <a:endParaRPr lang="zh-CN" altLang="en-US" sz="253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lvl="0"/>
            <a:r>
              <a:rPr lang="en-US" altLang="zh-CN" sz="12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redis</a:t>
            </a:r>
            <a:r>
              <a:rPr lang="zh-CN" altLang="en-US" sz="12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最常出现的问题及解决方案</a:t>
            </a:r>
            <a:r>
              <a:rPr lang="en-US" altLang="zh-CN" sz="12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 </a:t>
            </a:r>
            <a:endParaRPr lang="zh-CN" altLang="en-US" sz="12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MH_Number_4"/>
          <p:cNvSpPr/>
          <p:nvPr>
            <p:custDataLst>
              <p:tags r:id="rId8"/>
            </p:custDataLst>
          </p:nvPr>
        </p:nvSpPr>
        <p:spPr>
          <a:xfrm>
            <a:off x="6843076" y="4809638"/>
            <a:ext cx="379646" cy="379646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  <a:effectLst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110" b="1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Times New Roman" panose="02020503050405090304" pitchFamily="18" charset="0"/>
                <a:sym typeface="Arial" panose="020B0604020202090204" pitchFamily="34" charset="0"/>
              </a:rPr>
              <a:t>4</a:t>
            </a:r>
            <a:endParaRPr lang="zh-CN" altLang="en-US" sz="2110" b="1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sp>
        <p:nvSpPr>
          <p:cNvPr id="17" name="MH_Entry_4"/>
          <p:cNvSpPr/>
          <p:nvPr>
            <p:custDataLst>
              <p:tags r:id="rId9"/>
            </p:custDataLst>
          </p:nvPr>
        </p:nvSpPr>
        <p:spPr>
          <a:xfrm>
            <a:off x="7548034" y="4749502"/>
            <a:ext cx="2466406" cy="5734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en-US" altLang="zh-CN" sz="2530" dirty="0">
                <a:solidFill>
                  <a:schemeClr val="accent2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Redis</a:t>
            </a:r>
            <a:r>
              <a:rPr lang="zh-CN" altLang="en-US" sz="2530" dirty="0">
                <a:solidFill>
                  <a:schemeClr val="accent2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的应用</a:t>
            </a:r>
            <a:endParaRPr lang="en-US" altLang="zh-CN" sz="2530" dirty="0">
              <a:solidFill>
                <a:schemeClr val="accent2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lvl="0"/>
            <a:r>
              <a:rPr lang="en-US" altLang="zh-CN" sz="1200" dirty="0">
                <a:solidFill>
                  <a:schemeClr val="accent2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redis</a:t>
            </a:r>
            <a:r>
              <a:rPr lang="zh-CN" altLang="en-US" sz="1200" dirty="0">
                <a:solidFill>
                  <a:schemeClr val="accent2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的应用场景</a:t>
            </a:r>
            <a:endParaRPr lang="zh-CN" altLang="en-US" sz="1200" dirty="0">
              <a:solidFill>
                <a:schemeClr val="accent2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8" name="MH_Others_1"/>
          <p:cNvSpPr txBox="1"/>
          <p:nvPr>
            <p:custDataLst>
              <p:tags r:id="rId10"/>
            </p:custDataLst>
          </p:nvPr>
        </p:nvSpPr>
        <p:spPr>
          <a:xfrm>
            <a:off x="2900983" y="1816125"/>
            <a:ext cx="1769715" cy="3794384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/>
            <a:r>
              <a:rPr lang="zh-CN" altLang="en-US" sz="115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目录</a:t>
            </a:r>
            <a:endParaRPr lang="zh-CN" altLang="en-US" sz="11500" b="1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9" name="MH_Others_2"/>
          <p:cNvSpPr txBox="1"/>
          <p:nvPr>
            <p:custDataLst>
              <p:tags r:id="rId11"/>
            </p:custDataLst>
          </p:nvPr>
        </p:nvSpPr>
        <p:spPr>
          <a:xfrm rot="5400000">
            <a:off x="1053350" y="3374763"/>
            <a:ext cx="3299115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altLang="zh-CN" sz="44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CONTENTS</a:t>
            </a:r>
            <a:endParaRPr lang="zh-CN" altLang="en-US" sz="4400" b="1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bldLvl="0" animBg="1"/>
      <p:bldP spid="10" grpId="0" animBg="1"/>
      <p:bldP spid="13" grpId="0" bldLvl="0" animBg="1"/>
      <p:bldP spid="14" grpId="0" animBg="1"/>
      <p:bldP spid="15" grpId="0" bldLvl="0" animBg="1"/>
      <p:bldP spid="16" grpId="0" animBg="1"/>
      <p:bldP spid="17" grpId="0" bldLvl="0" animBg="1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4150169" y="1456085"/>
            <a:ext cx="1826109" cy="1826108"/>
          </a:xfrm>
          <a:prstGeom prst="ellipse">
            <a:avLst/>
          </a:prstGeom>
          <a:gradFill flip="none" rotWithShape="1">
            <a:gsLst>
              <a:gs pos="25000">
                <a:schemeClr val="bg1">
                  <a:shade val="67500"/>
                  <a:satMod val="115000"/>
                </a:schemeClr>
              </a:gs>
              <a:gs pos="62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38100">
            <a:solidFill>
              <a:schemeClr val="bg1"/>
            </a:solidFill>
          </a:ln>
          <a:effectLst>
            <a:outerShdw blurRad="254000" dist="127000" dir="30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46" name="MH_Others_1"/>
          <p:cNvSpPr txBox="1"/>
          <p:nvPr>
            <p:custDataLst>
              <p:tags r:id="rId2"/>
            </p:custDataLst>
          </p:nvPr>
        </p:nvSpPr>
        <p:spPr>
          <a:xfrm>
            <a:off x="4306517" y="1845982"/>
            <a:ext cx="1513416" cy="10463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01</a:t>
            </a:r>
            <a:endParaRPr lang="en-US" altLang="zh-CN" sz="48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CHAPTER</a:t>
            </a:r>
            <a:endParaRPr lang="zh-CN" altLang="en-US" sz="20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535197" y="2014797"/>
            <a:ext cx="3184233" cy="36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Redis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的特性</a:t>
            </a:r>
            <a:endParaRPr lang="zh-CN" altLang="en-US" sz="24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465351" y="2435776"/>
            <a:ext cx="773430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9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高性能</a:t>
            </a:r>
            <a:endParaRPr lang="zh-CN" altLang="en-US" sz="11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77850" y="2435776"/>
            <a:ext cx="1332230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9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数据库查询缓冲</a:t>
            </a:r>
            <a:endParaRPr lang="zh-CN" altLang="en-US" sz="11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 spd="slow" advTm="0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7020" y="259080"/>
            <a:ext cx="36455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特性 </a:t>
            </a:r>
            <a:r>
              <a:rPr lang="en-US" altLang="zh-CN" sz="3200">
                <a:solidFill>
                  <a:schemeClr val="bg1"/>
                </a:solidFill>
              </a:rPr>
              <a:t>-- </a:t>
            </a:r>
            <a:r>
              <a:rPr lang="zh-CN" altLang="en-US" sz="3200">
                <a:solidFill>
                  <a:schemeClr val="bg1"/>
                </a:solidFill>
              </a:rPr>
              <a:t>高性能</a:t>
            </a:r>
            <a:endParaRPr lang="zh-CN" altLang="en-US" sz="3200">
              <a:solidFill>
                <a:schemeClr val="bg1"/>
              </a:solidFill>
            </a:endParaRPr>
          </a:p>
        </p:txBody>
      </p:sp>
      <p:pic>
        <p:nvPicPr>
          <p:cNvPr id="53" name="图片 52" descr="jacobs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550" y="1969135"/>
            <a:ext cx="6624955" cy="36461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20160" y="6170295"/>
            <a:ext cx="6355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olidFill>
                  <a:schemeClr val="bg1"/>
                </a:solidFill>
                <a:sym typeface="+mn-ea"/>
              </a:rPr>
              <a:t>不管随机还是顺序读取，内存响应速度远大于固态和机械硬盘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93800" y="2132330"/>
            <a:ext cx="421894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chemeClr val="bg1"/>
                </a:solidFill>
                <a:sym typeface="+mn-ea"/>
              </a:rPr>
              <a:t>特点：</a:t>
            </a:r>
            <a:endParaRPr lang="en-US" altLang="zh-CN" sz="2400">
              <a:solidFill>
                <a:schemeClr val="bg1"/>
              </a:solidFill>
              <a:sym typeface="+mn-ea"/>
            </a:endParaRPr>
          </a:p>
          <a:p>
            <a:r>
              <a:rPr lang="en-US" altLang="zh-CN" sz="2400">
                <a:solidFill>
                  <a:schemeClr val="bg1"/>
                </a:solidFill>
                <a:sym typeface="+mn-ea"/>
              </a:rPr>
              <a:t>1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、纯内存操作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、数据结构简单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  <a:sym typeface="+mn-ea"/>
              </a:rPr>
              <a:t>3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、单线程操作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  <a:sym typeface="+mn-ea"/>
              </a:rPr>
              <a:t>4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、底层模型不同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  <a:sym typeface="+mn-ea"/>
              </a:rPr>
              <a:t>5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、采用了非阻塞I/O多路复用机制</a:t>
            </a:r>
            <a:endParaRPr lang="zh-CN" altLang="en-US" sz="2400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7020" y="259080"/>
            <a:ext cx="36455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特性 </a:t>
            </a:r>
            <a:r>
              <a:rPr lang="en-US" altLang="zh-CN" sz="3200">
                <a:solidFill>
                  <a:schemeClr val="bg1"/>
                </a:solidFill>
              </a:rPr>
              <a:t>-- </a:t>
            </a:r>
            <a:r>
              <a:rPr lang="zh-CN" altLang="en-US" sz="3200">
                <a:solidFill>
                  <a:schemeClr val="bg1"/>
                </a:solidFill>
              </a:rPr>
              <a:t>高性能</a:t>
            </a:r>
            <a:endParaRPr lang="zh-CN" altLang="en-US" sz="320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1765" y="632460"/>
            <a:ext cx="7489190" cy="5676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87020" y="259080"/>
            <a:ext cx="48647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特性 </a:t>
            </a:r>
            <a:r>
              <a:rPr lang="en-US" altLang="zh-CN" sz="3200">
                <a:solidFill>
                  <a:schemeClr val="bg1"/>
                </a:solidFill>
              </a:rPr>
              <a:t>-- </a:t>
            </a:r>
            <a:r>
              <a:rPr lang="zh-CN" altLang="en-US" sz="3200">
                <a:solidFill>
                  <a:schemeClr val="bg1"/>
                </a:solidFill>
              </a:rPr>
              <a:t>数据查询缓冲</a:t>
            </a:r>
            <a:endParaRPr lang="zh-CN" altLang="en-US" sz="320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515" y="2372360"/>
            <a:ext cx="5320030" cy="31102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910705" y="3293745"/>
            <a:ext cx="30321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减少直接打到数据库到请求，缓冲查询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4150169" y="1456085"/>
            <a:ext cx="1826109" cy="1826108"/>
          </a:xfrm>
          <a:prstGeom prst="ellipse">
            <a:avLst/>
          </a:prstGeom>
          <a:gradFill flip="none" rotWithShape="1">
            <a:gsLst>
              <a:gs pos="25000">
                <a:schemeClr val="bg1">
                  <a:shade val="67500"/>
                  <a:satMod val="115000"/>
                </a:schemeClr>
              </a:gs>
              <a:gs pos="62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38100">
            <a:solidFill>
              <a:schemeClr val="bg1"/>
            </a:solidFill>
          </a:ln>
          <a:effectLst>
            <a:outerShdw blurRad="254000" dist="127000" dir="30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46" name="MH_Others_1"/>
          <p:cNvSpPr txBox="1"/>
          <p:nvPr>
            <p:custDataLst>
              <p:tags r:id="rId2"/>
            </p:custDataLst>
          </p:nvPr>
        </p:nvSpPr>
        <p:spPr>
          <a:xfrm>
            <a:off x="4306517" y="1846215"/>
            <a:ext cx="1513416" cy="10458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02</a:t>
            </a:r>
            <a:endParaRPr lang="en-US" altLang="zh-CN" sz="48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CHAPTER</a:t>
            </a:r>
            <a:endParaRPr lang="zh-CN" altLang="en-US" sz="20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535197" y="2014797"/>
            <a:ext cx="3184233" cy="36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Redis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常用数据结构</a:t>
            </a:r>
            <a:endParaRPr lang="zh-CN" altLang="en-US" sz="24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35201" y="2435776"/>
            <a:ext cx="1192530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9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常用数据结构</a:t>
            </a:r>
            <a:endParaRPr lang="zh-CN" altLang="en-US" sz="11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77850" y="2435776"/>
            <a:ext cx="1192530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9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数据结构特点</a:t>
            </a:r>
            <a:endParaRPr lang="zh-CN" altLang="en-US" sz="11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 spd="slow" advTm="0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2792730" y="1405255"/>
            <a:ext cx="533400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solidFill>
                  <a:schemeClr val="bg1"/>
                </a:solidFill>
              </a:rPr>
              <a:t>常用数据结构：</a:t>
            </a:r>
            <a:endParaRPr lang="en-US" altLang="zh-CN" sz="28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en-US" altLang="zh-CN" sz="2800">
                <a:solidFill>
                  <a:schemeClr val="bg1"/>
                </a:solidFill>
              </a:rPr>
              <a:t>string</a:t>
            </a:r>
            <a:endParaRPr lang="en-US" altLang="zh-CN" sz="28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en-US" altLang="zh-CN" sz="2800">
                <a:solidFill>
                  <a:schemeClr val="bg1"/>
                </a:solidFill>
              </a:rPr>
              <a:t>hash</a:t>
            </a:r>
            <a:endParaRPr lang="en-US" altLang="zh-CN" sz="28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en-US" altLang="zh-CN" sz="2800">
                <a:solidFill>
                  <a:schemeClr val="bg1"/>
                </a:solidFill>
              </a:rPr>
              <a:t>list</a:t>
            </a:r>
            <a:endParaRPr lang="en-US" altLang="zh-CN" sz="28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en-US" altLang="zh-CN" sz="2800">
                <a:solidFill>
                  <a:schemeClr val="bg1"/>
                </a:solidFill>
              </a:rPr>
              <a:t>set</a:t>
            </a:r>
            <a:endParaRPr lang="en-US" altLang="zh-CN" sz="28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en-US" altLang="zh-CN" sz="2800">
                <a:solidFill>
                  <a:schemeClr val="bg1"/>
                </a:solidFill>
              </a:rPr>
              <a:t>sortSet</a:t>
            </a:r>
            <a:endParaRPr lang="en-US" altLang="zh-CN" sz="280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endParaRPr lang="en-US" altLang="zh-CN" sz="280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>
                <a:solidFill>
                  <a:schemeClr val="bg1"/>
                </a:solidFill>
              </a:rPr>
              <a:t>过期时间</a:t>
            </a:r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7020" y="259080"/>
            <a:ext cx="35096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常用数据结构</a:t>
            </a:r>
            <a:endParaRPr lang="zh-CN" altLang="en-US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87020" y="259080"/>
            <a:ext cx="35096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常用数据结构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370" y="1137920"/>
            <a:ext cx="1325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>
                <a:solidFill>
                  <a:srgbClr val="FFC000"/>
                </a:solidFill>
              </a:rPr>
              <a:t>string</a:t>
            </a:r>
            <a:endParaRPr lang="en-US" altLang="zh-CN" sz="3600"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9950" y="2256155"/>
            <a:ext cx="802894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>
                <a:solidFill>
                  <a:schemeClr val="bg1"/>
                </a:solidFill>
                <a:sym typeface="+mn-ea"/>
              </a:rPr>
              <a:t>String是最常用的一种数据类型，普通的key/value存储都可以归为此类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9145" y="3036570"/>
            <a:ext cx="862901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常用命令：</a:t>
            </a:r>
            <a:endParaRPr lang="zh-CN" altLang="en-US"/>
          </a:p>
          <a:p>
            <a:pPr algn="l"/>
            <a:r>
              <a:rPr lang="en-US" altLang="zh-CN">
                <a:solidFill>
                  <a:srgbClr val="00FE00"/>
                </a:solidFill>
              </a:rPr>
              <a:t>GET</a:t>
            </a:r>
            <a:r>
              <a:rPr lang="zh-CN" altLang="en-US"/>
              <a:t>：获取指定 key 的值（GET key）</a:t>
            </a:r>
            <a:endParaRPr lang="zh-CN" altLang="en-US"/>
          </a:p>
          <a:p>
            <a:pPr algn="l"/>
            <a:r>
              <a:rPr lang="en-US" altLang="zh-CN">
                <a:solidFill>
                  <a:srgbClr val="00FE00"/>
                </a:solidFill>
              </a:rPr>
              <a:t>SET</a:t>
            </a:r>
            <a:r>
              <a:rPr lang="zh-CN" altLang="en-US"/>
              <a:t>：设置指定 key 的值（SET key value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MGET</a:t>
            </a:r>
            <a:r>
              <a:rPr lang="zh-CN" altLang="en-US"/>
              <a:t>：获取所有(一个或多个)给定 key 的值（MGET key1 [key2..]）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MSET</a:t>
            </a:r>
            <a:r>
              <a:rPr lang="zh-CN" altLang="en-US"/>
              <a:t>：同时设置一个或多个 key-value 对（MSET key value [key value ...]）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SETNX</a:t>
            </a:r>
            <a:r>
              <a:rPr lang="zh-CN" altLang="en-US"/>
              <a:t>：只有在 key 不存在时设置 key 的值（SETNX key value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INCR</a:t>
            </a:r>
            <a:r>
              <a:rPr lang="zh-CN" altLang="en-US"/>
              <a:t>：将 key 中储存的数字值增</a:t>
            </a:r>
            <a:r>
              <a:rPr lang="en-US" altLang="zh-CN"/>
              <a:t>1</a:t>
            </a:r>
            <a:r>
              <a:rPr lang="zh-CN" altLang="en-US"/>
              <a:t>（INCR key）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INCRBY</a:t>
            </a:r>
            <a:r>
              <a:rPr lang="zh-CN" altLang="en-US" b="1"/>
              <a:t>：</a:t>
            </a:r>
            <a:r>
              <a:rPr lang="zh-CN" altLang="en-US"/>
              <a:t>将 key 所储存的值加上给定的增量值（NCRBY key increment）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SETEX</a:t>
            </a:r>
            <a:r>
              <a:rPr lang="zh-CN" altLang="en-US"/>
              <a:t>：将值 value 关联到 key ，并将 key 的过期时间设为 </a:t>
            </a:r>
            <a:r>
              <a:rPr lang="en-US" altLang="zh-CN"/>
              <a:t>n</a:t>
            </a:r>
            <a:r>
              <a:rPr lang="zh-CN" altLang="en-US"/>
              <a:t>秒（SETEX key seconds value）</a:t>
            </a:r>
            <a:endParaRPr lang="zh-CN" altLang="en-US"/>
          </a:p>
          <a:p>
            <a:pPr algn="l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9408160" y="1783080"/>
            <a:ext cx="3205480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FFC000"/>
                </a:solidFill>
              </a:rPr>
              <a:t>应用场景？</a:t>
            </a:r>
            <a:endParaRPr lang="zh-CN" altLang="en-US" sz="3600">
              <a:solidFill>
                <a:srgbClr val="FFC000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现有这么一个场景，一个文章页面，页面上展示的要素有以下几个：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1</a:t>
            </a:r>
            <a:r>
              <a:rPr lang="zh-CN" altLang="en-US" sz="1600">
                <a:solidFill>
                  <a:schemeClr val="bg1"/>
                </a:solidFill>
              </a:rPr>
              <a:t>、当前作者昵称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2</a:t>
            </a:r>
            <a:r>
              <a:rPr lang="zh-CN" altLang="en-US" sz="1600">
                <a:solidFill>
                  <a:schemeClr val="bg1"/>
                </a:solidFill>
              </a:rPr>
              <a:t>、文章被浏览次数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3</a:t>
            </a:r>
            <a:r>
              <a:rPr lang="zh-CN" altLang="en-US" sz="1600">
                <a:solidFill>
                  <a:schemeClr val="bg1"/>
                </a:solidFill>
              </a:rPr>
              <a:t>、最近点赞的几个用户昵称</a:t>
            </a:r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408160" y="4060825"/>
            <a:ext cx="32048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  <a:sym typeface="+mn-ea"/>
              </a:rPr>
              <a:t>扩展：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、如何限制用户刷浏览量？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、后台如何运营文章的浏览量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87020" y="259080"/>
            <a:ext cx="35096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常用数据结构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370" y="1137920"/>
            <a:ext cx="11652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>
                <a:solidFill>
                  <a:srgbClr val="FFC000"/>
                </a:solidFill>
              </a:rPr>
              <a:t>hash</a:t>
            </a:r>
            <a:endParaRPr lang="en-US" altLang="zh-CN" sz="3600"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7370" y="2081530"/>
            <a:ext cx="86671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  <a:sym typeface="+mn-ea"/>
              </a:rPr>
              <a:t>Hash是一个String类型的field和value之间的映射表，即redis的Hash数据类型的key（hash表名称）对应的value实际的内部存储结构为一个HashMap，因此Hash特别适合存储对象（类似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php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的二维数组或对象）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16610" y="3462655"/>
            <a:ext cx="789813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常用命令：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HGET</a:t>
            </a:r>
            <a:r>
              <a:rPr lang="en-US" altLang="zh-CN">
                <a:solidFill>
                  <a:srgbClr val="00FE00"/>
                </a:solidFill>
              </a:rPr>
              <a:t>(HSET)</a:t>
            </a:r>
            <a:r>
              <a:rPr lang="zh-CN" altLang="en-US"/>
              <a:t>：获取存储在哈希表中指定字段的值（HGET key field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HGETALL</a:t>
            </a:r>
            <a:r>
              <a:rPr lang="zh-CN" altLang="en-US"/>
              <a:t>：获取在哈希表中指定 key 的所有字段和值（HGETALL key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HINCRBY</a:t>
            </a:r>
            <a:r>
              <a:rPr lang="zh-CN" altLang="en-US"/>
              <a:t>：为哈希表 key 中的指定字段的整数值加上增量（HINCRBY key field increment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HKEYS（</a:t>
            </a:r>
            <a:r>
              <a:rPr lang="en-US" altLang="zh-CN">
                <a:solidFill>
                  <a:srgbClr val="00FE00"/>
                </a:solidFill>
              </a:rPr>
              <a:t>HVALS</a:t>
            </a:r>
            <a:r>
              <a:rPr lang="zh-CN" altLang="en-US">
                <a:solidFill>
                  <a:srgbClr val="00FE00"/>
                </a:solidFill>
              </a:rPr>
              <a:t>）</a:t>
            </a:r>
            <a:r>
              <a:rPr lang="zh-CN" altLang="en-US"/>
              <a:t>：获取所有哈希表中的字段（HKEYS key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HLEN</a:t>
            </a:r>
            <a:r>
              <a:rPr lang="zh-CN" altLang="en-US"/>
              <a:t>：获取哈希表中字段的数量（HLEN key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HMGET</a:t>
            </a:r>
            <a:r>
              <a:rPr lang="en-US" altLang="zh-CN">
                <a:solidFill>
                  <a:srgbClr val="00FE00"/>
                </a:solidFill>
              </a:rPr>
              <a:t>(HMSET)</a:t>
            </a:r>
            <a:r>
              <a:rPr lang="zh-CN" altLang="en-US"/>
              <a:t>：获取所有给定字段的值（HMGET key field1 [field2] 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304655" y="1783080"/>
            <a:ext cx="3205480" cy="38461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FFC000"/>
                </a:solidFill>
              </a:rPr>
              <a:t>应用场景？</a:t>
            </a:r>
            <a:endParaRPr lang="zh-CN" altLang="en-US" sz="3600">
              <a:solidFill>
                <a:srgbClr val="FFC000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现有这么一个场景，一个文章页面，页面上展示的要素有以下几个：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rgbClr val="FFFF00"/>
                </a:solidFill>
              </a:rPr>
              <a:t>1</a:t>
            </a:r>
            <a:r>
              <a:rPr lang="zh-CN" altLang="en-US" sz="1600">
                <a:solidFill>
                  <a:srgbClr val="FFFF00"/>
                </a:solidFill>
              </a:rPr>
              <a:t>、当前作者昵称、头像、简介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2</a:t>
            </a:r>
            <a:r>
              <a:rPr lang="zh-CN" altLang="en-US" sz="1600">
                <a:solidFill>
                  <a:schemeClr val="bg1"/>
                </a:solidFill>
              </a:rPr>
              <a:t>、文章被浏览次数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3</a:t>
            </a:r>
            <a:r>
              <a:rPr lang="zh-CN" altLang="en-US" sz="1600">
                <a:solidFill>
                  <a:schemeClr val="bg1"/>
                </a:solidFill>
              </a:rPr>
              <a:t>、最近点赞的几个用户昵称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rgbClr val="FFFF00"/>
                </a:solidFill>
              </a:rPr>
              <a:t>4</a:t>
            </a:r>
            <a:r>
              <a:rPr lang="zh-CN" altLang="en-US" sz="1600">
                <a:solidFill>
                  <a:srgbClr val="FFFF00"/>
                </a:solidFill>
              </a:rPr>
              <a:t>、显示用户点赞数、浏览次数</a:t>
            </a:r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扩展：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1</a:t>
            </a:r>
            <a:r>
              <a:rPr lang="zh-CN" altLang="en-US" sz="1600">
                <a:solidFill>
                  <a:schemeClr val="bg1"/>
                </a:solidFill>
              </a:rPr>
              <a:t>、如何限制用户刷浏览量？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2</a:t>
            </a:r>
            <a:r>
              <a:rPr lang="zh-CN" altLang="en-US" sz="1600">
                <a:solidFill>
                  <a:schemeClr val="bg1"/>
                </a:solidFill>
              </a:rPr>
              <a:t>、后台如何运营文章的浏览量</a:t>
            </a:r>
            <a:endParaRPr lang="zh-CN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87020" y="259080"/>
            <a:ext cx="35096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常用数据结构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370" y="1137920"/>
            <a:ext cx="7588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>
                <a:solidFill>
                  <a:srgbClr val="FFC000"/>
                </a:solidFill>
              </a:rPr>
              <a:t>list</a:t>
            </a:r>
            <a:endParaRPr lang="en-US" altLang="zh-CN" sz="3600"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0420" y="1907540"/>
            <a:ext cx="65138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一个列表结构可以有序地存储多个字符串（类似</a:t>
            </a:r>
            <a:r>
              <a:rPr lang="en-US" altLang="zh-CN" sz="2400">
                <a:solidFill>
                  <a:schemeClr val="bg1"/>
                </a:solidFill>
              </a:rPr>
              <a:t>php</a:t>
            </a:r>
            <a:r>
              <a:rPr lang="zh-CN" altLang="en-US" sz="2400">
                <a:solidFill>
                  <a:schemeClr val="bg1"/>
                </a:solidFill>
              </a:rPr>
              <a:t>的一维索引数组）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0280" y="3010535"/>
            <a:ext cx="78486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常用命令：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LINDEX</a:t>
            </a:r>
            <a:r>
              <a:rPr lang="zh-CN" altLang="en-US"/>
              <a:t>：通过索引获取列表中的元素（LINDEX key index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LINSERT</a:t>
            </a:r>
            <a:r>
              <a:rPr lang="zh-CN" altLang="en-US"/>
              <a:t>：在列表的元素前或者后插入元素（LINSERT key BEFORE|AFTER pivot value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LLEN</a:t>
            </a:r>
            <a:r>
              <a:rPr lang="zh-CN" altLang="en-US"/>
              <a:t>：获取列表长度（LLEN key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LPOP（RPOP）</a:t>
            </a:r>
            <a:r>
              <a:rPr lang="zh-CN" altLang="en-US"/>
              <a:t>：移出并获取列表的第一个元素（LPOP key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LPUSH（RPOP）</a:t>
            </a:r>
            <a:r>
              <a:rPr lang="zh-CN" altLang="en-US"/>
              <a:t>：将一个或多个值插入到列表头部（LPUSH key value1 [value2] ）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LTRIM</a:t>
            </a:r>
            <a:r>
              <a:rPr lang="zh-CN" altLang="en-US"/>
              <a:t>：对一个列表进行修剪(trim)，就是说，让列表只保留指定区间内的元素，不在指定区间之内的元素都将被删除（LTRIM key start stop 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253220" y="1692910"/>
            <a:ext cx="3205480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FFC000"/>
                </a:solidFill>
              </a:rPr>
              <a:t>应用场景？</a:t>
            </a:r>
            <a:endParaRPr lang="zh-CN" altLang="en-US" sz="3600">
              <a:solidFill>
                <a:srgbClr val="FFC000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现有这么一个场景，一个文章页面，页面上展示的要素有以下几个：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1</a:t>
            </a:r>
            <a:r>
              <a:rPr lang="zh-CN" altLang="en-US" sz="1600">
                <a:solidFill>
                  <a:schemeClr val="bg1"/>
                </a:solidFill>
              </a:rPr>
              <a:t>、当前作者昵称、头像、简介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2</a:t>
            </a:r>
            <a:r>
              <a:rPr lang="zh-CN" altLang="en-US" sz="1600">
                <a:solidFill>
                  <a:schemeClr val="bg1"/>
                </a:solidFill>
              </a:rPr>
              <a:t>、文章被浏览次数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3</a:t>
            </a:r>
            <a:r>
              <a:rPr lang="zh-CN" altLang="en-US" sz="1600">
                <a:solidFill>
                  <a:schemeClr val="bg1"/>
                </a:solidFill>
              </a:rPr>
              <a:t>、最近点赞的几个用户昵称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4</a:t>
            </a:r>
            <a:r>
              <a:rPr lang="zh-CN" altLang="en-US" sz="1600">
                <a:solidFill>
                  <a:schemeClr val="bg1"/>
                </a:solidFill>
              </a:rPr>
              <a:t>、显示用户点赞数、浏览次数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rgbClr val="FFFF00"/>
                </a:solidFill>
              </a:rPr>
              <a:t>5</a:t>
            </a:r>
            <a:r>
              <a:rPr lang="zh-CN" altLang="en-US" sz="1600">
                <a:solidFill>
                  <a:srgbClr val="FFFF00"/>
                </a:solidFill>
              </a:rPr>
              <a:t>、显示最近点赞的</a:t>
            </a:r>
            <a:r>
              <a:rPr lang="en-US" altLang="zh-CN" sz="1600">
                <a:solidFill>
                  <a:srgbClr val="FFFF00"/>
                </a:solidFill>
              </a:rPr>
              <a:t>5</a:t>
            </a:r>
            <a:r>
              <a:rPr lang="zh-CN" altLang="en-US" sz="1600">
                <a:solidFill>
                  <a:srgbClr val="FFFF00"/>
                </a:solidFill>
              </a:rPr>
              <a:t>个用户的头像</a:t>
            </a:r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扩展：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1</a:t>
            </a:r>
            <a:r>
              <a:rPr lang="zh-CN" altLang="en-US" sz="1600">
                <a:solidFill>
                  <a:schemeClr val="bg1"/>
                </a:solidFill>
              </a:rPr>
              <a:t>、如何限制用户刷浏览量？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2</a:t>
            </a:r>
            <a:r>
              <a:rPr lang="zh-CN" altLang="en-US" sz="1600">
                <a:solidFill>
                  <a:schemeClr val="bg1"/>
                </a:solidFill>
              </a:rPr>
              <a:t>、后台如何运营文章的浏览量</a:t>
            </a:r>
            <a:endParaRPr lang="zh-CN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87020" y="259080"/>
            <a:ext cx="35096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常用数据结构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370" y="1137920"/>
            <a:ext cx="8013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>
                <a:solidFill>
                  <a:srgbClr val="FFC000"/>
                </a:solidFill>
              </a:rPr>
              <a:t>set</a:t>
            </a:r>
            <a:endParaRPr lang="en-US" altLang="zh-CN" sz="3600"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1195" y="1998345"/>
            <a:ext cx="70739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  <a:sym typeface="+mn-ea"/>
              </a:rPr>
              <a:t>一个无序的String类型数据的集合，类似List的一个列表，与List不同的是Set不能有重复的数据（像啥？）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71195" y="2971165"/>
            <a:ext cx="78892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常用命令：</a:t>
            </a:r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SADD（SREM）</a:t>
            </a:r>
            <a:r>
              <a:rPr lang="zh-CN" altLang="en-US"/>
              <a:t>：向集合添加一个或多个成员（SADD key member1 [member2] ）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SCARD</a:t>
            </a:r>
            <a:r>
              <a:rPr lang="zh-CN" altLang="en-US"/>
              <a:t>：获取集合的成员数（SCARD key ）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SISMEMBER</a:t>
            </a:r>
            <a:r>
              <a:rPr lang="zh-CN" altLang="en-US"/>
              <a:t>：判断 member 元素是否是集合 key 的成员（SISMEMBER key member ）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>
                <a:solidFill>
                  <a:srgbClr val="00FE00"/>
                </a:solidFill>
              </a:rPr>
              <a:t>SMEMBERS</a:t>
            </a:r>
            <a:r>
              <a:rPr lang="zh-CN" altLang="en-US"/>
              <a:t>：返回集合中的所有成员（SMEMBERS key 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32775" y="1576705"/>
            <a:ext cx="3980815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FFC000"/>
                </a:solidFill>
              </a:rPr>
              <a:t>应用场景？</a:t>
            </a:r>
            <a:endParaRPr lang="zh-CN" altLang="en-US" sz="3600">
              <a:solidFill>
                <a:srgbClr val="FFC000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现有这么一个场景，一个文章页面，页面上展示的要素有以下几个：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1</a:t>
            </a:r>
            <a:r>
              <a:rPr lang="zh-CN" altLang="en-US" sz="1600">
                <a:solidFill>
                  <a:schemeClr val="bg1"/>
                </a:solidFill>
              </a:rPr>
              <a:t>、当前作者昵称、头像、简介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2</a:t>
            </a:r>
            <a:r>
              <a:rPr lang="zh-CN" altLang="en-US" sz="1600">
                <a:solidFill>
                  <a:schemeClr val="bg1"/>
                </a:solidFill>
              </a:rPr>
              <a:t>、文章被浏览次数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3</a:t>
            </a:r>
            <a:r>
              <a:rPr lang="zh-CN" altLang="en-US" sz="1600">
                <a:solidFill>
                  <a:schemeClr val="bg1"/>
                </a:solidFill>
              </a:rPr>
              <a:t>、最近点赞的几个用户昵称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4</a:t>
            </a:r>
            <a:r>
              <a:rPr lang="zh-CN" altLang="en-US" sz="1600">
                <a:solidFill>
                  <a:schemeClr val="bg1"/>
                </a:solidFill>
              </a:rPr>
              <a:t>、显示用户点赞数、浏览次数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5</a:t>
            </a:r>
            <a:r>
              <a:rPr lang="zh-CN" altLang="en-US" sz="1600">
                <a:solidFill>
                  <a:schemeClr val="bg1"/>
                </a:solidFill>
              </a:rPr>
              <a:t>、显示最近点赞的</a:t>
            </a:r>
            <a:r>
              <a:rPr lang="en-US" altLang="zh-CN" sz="1600">
                <a:solidFill>
                  <a:schemeClr val="bg1"/>
                </a:solidFill>
              </a:rPr>
              <a:t>5</a:t>
            </a:r>
            <a:r>
              <a:rPr lang="zh-CN" altLang="en-US" sz="1600">
                <a:solidFill>
                  <a:schemeClr val="bg1"/>
                </a:solidFill>
              </a:rPr>
              <a:t>个用户的头像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rgbClr val="FFFF00"/>
                </a:solidFill>
              </a:rPr>
              <a:t>6</a:t>
            </a:r>
            <a:r>
              <a:rPr lang="zh-CN" altLang="en-US" sz="1600">
                <a:solidFill>
                  <a:srgbClr val="FFFF00"/>
                </a:solidFill>
              </a:rPr>
              <a:t>、对用户点赞需要做限制，只有绑定手机号对才能点赞，是否绑定手机得调用认证中心接口</a:t>
            </a:r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扩展：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1</a:t>
            </a:r>
            <a:r>
              <a:rPr lang="zh-CN" altLang="en-US" sz="1600">
                <a:solidFill>
                  <a:schemeClr val="bg1"/>
                </a:solidFill>
              </a:rPr>
              <a:t>、如何限制用户刷浏览量？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2</a:t>
            </a:r>
            <a:r>
              <a:rPr lang="zh-CN" altLang="en-US" sz="1600">
                <a:solidFill>
                  <a:schemeClr val="bg1"/>
                </a:solidFill>
              </a:rPr>
              <a:t>、后台如何运营文章的浏览量</a:t>
            </a:r>
            <a:endParaRPr lang="zh-CN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74320" y="259080"/>
            <a:ext cx="35096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常用数据结构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370" y="1137920"/>
            <a:ext cx="165671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>
                <a:solidFill>
                  <a:srgbClr val="FFC000"/>
                </a:solidFill>
              </a:rPr>
              <a:t>sortSet</a:t>
            </a:r>
            <a:endParaRPr lang="en-US" altLang="zh-CN" sz="3600"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7380" y="2017395"/>
            <a:ext cx="720344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有序集合和散列一样，都用于存储键值对，有序集合的值则被称为分值（score），分值必须为浮点数。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  <a:sym typeface="+mn-ea"/>
              </a:rPr>
              <a:t>有序集合是redis里面唯一一个既可以根据成员访问元素(这一点和散列一样),又可以根据分值以及分值的排列顺序访问元素的结构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7380" y="3682365"/>
            <a:ext cx="7606665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常用命令：</a:t>
            </a:r>
            <a:endParaRPr lang="zh-CN" altLang="en-US" sz="1600"/>
          </a:p>
          <a:p>
            <a:pPr algn="l"/>
            <a:r>
              <a:rPr lang="zh-CN" altLang="en-US" sz="1600">
                <a:solidFill>
                  <a:srgbClr val="00FE00"/>
                </a:solidFill>
              </a:rPr>
              <a:t>ZADD（ZREM）</a:t>
            </a:r>
            <a:r>
              <a:rPr lang="zh-CN" altLang="en-US" sz="1600"/>
              <a:t>：向有序集合添加一个或多个成员，或者更新已存在成员的分数（ZADD key score1 member1）</a:t>
            </a:r>
            <a:endParaRPr lang="zh-CN" altLang="en-US" sz="1600"/>
          </a:p>
          <a:p>
            <a:pPr algn="l"/>
            <a:r>
              <a:rPr lang="zh-CN" altLang="en-US" sz="1600">
                <a:solidFill>
                  <a:srgbClr val="00FE00"/>
                </a:solidFill>
              </a:rPr>
              <a:t>ZCARD</a:t>
            </a:r>
            <a:r>
              <a:rPr lang="zh-CN" altLang="en-US" sz="1600"/>
              <a:t>：获取有序集合的成员数（ZCARD key ）</a:t>
            </a:r>
            <a:endParaRPr lang="zh-CN" altLang="en-US" sz="1600"/>
          </a:p>
          <a:p>
            <a:pPr algn="l"/>
            <a:r>
              <a:rPr lang="zh-CN" altLang="en-US" sz="1600">
                <a:solidFill>
                  <a:srgbClr val="00FE00"/>
                </a:solidFill>
              </a:rPr>
              <a:t>ZCOUNT</a:t>
            </a:r>
            <a:r>
              <a:rPr lang="zh-CN" altLang="en-US" sz="1600"/>
              <a:t>：计算在有序集合中指定区间分数的成员数（ZCOUNT key min max ）</a:t>
            </a:r>
            <a:endParaRPr lang="zh-CN" altLang="en-US" sz="1600"/>
          </a:p>
          <a:p>
            <a:pPr algn="l"/>
            <a:r>
              <a:rPr lang="zh-CN" altLang="en-US" sz="1600">
                <a:solidFill>
                  <a:srgbClr val="00FE00"/>
                </a:solidFill>
              </a:rPr>
              <a:t>ZINCRBY</a:t>
            </a:r>
            <a:r>
              <a:rPr lang="zh-CN" altLang="en-US" sz="1600"/>
              <a:t>：有序集合中对指定成员的分数加上增量（ZINCRBY key increment member ）</a:t>
            </a:r>
            <a:endParaRPr lang="zh-CN" altLang="en-US" sz="1600"/>
          </a:p>
          <a:p>
            <a:pPr algn="l"/>
            <a:r>
              <a:rPr lang="zh-CN" altLang="en-US" sz="1600">
                <a:solidFill>
                  <a:srgbClr val="00FE00"/>
                </a:solidFill>
              </a:rPr>
              <a:t>ZRANGE</a:t>
            </a:r>
            <a:r>
              <a:rPr lang="zh-CN" altLang="en-US" sz="1600"/>
              <a:t>：通过索引区间返回有序集合指定区间内的成员（ZRANGE key start stop [WITHSCORES] ）</a:t>
            </a:r>
            <a:endParaRPr lang="zh-CN" altLang="en-US" sz="1600"/>
          </a:p>
          <a:p>
            <a:pPr algn="l"/>
            <a:r>
              <a:rPr lang="zh-CN" altLang="en-US" sz="1600">
                <a:solidFill>
                  <a:srgbClr val="00FE00"/>
                </a:solidFill>
              </a:rPr>
              <a:t>ZRANK（</a:t>
            </a:r>
            <a:r>
              <a:rPr lang="zh-CN" altLang="en-US" sz="1600">
                <a:solidFill>
                  <a:srgbClr val="00FE00"/>
                </a:solidFill>
                <a:sym typeface="+mn-ea"/>
              </a:rPr>
              <a:t>ZREVRANK</a:t>
            </a:r>
            <a:r>
              <a:rPr lang="zh-CN" altLang="en-US" sz="1600">
                <a:solidFill>
                  <a:srgbClr val="00FE00"/>
                </a:solidFill>
              </a:rPr>
              <a:t>）</a:t>
            </a:r>
            <a:r>
              <a:rPr lang="zh-CN" altLang="en-US" sz="1600"/>
              <a:t>：返回有序集合中指定成员的排名，有序集成员按分数值递减(从小到大)排序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8387715" y="1589405"/>
            <a:ext cx="398081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FFC000"/>
                </a:solidFill>
              </a:rPr>
              <a:t>应用场景？</a:t>
            </a:r>
            <a:endParaRPr lang="zh-CN" altLang="en-US" sz="3600">
              <a:solidFill>
                <a:srgbClr val="FFC000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现有这么一个场景，一个文章页面，页面上展示的要素有以下几个：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1</a:t>
            </a:r>
            <a:r>
              <a:rPr lang="zh-CN" altLang="en-US" sz="1600">
                <a:solidFill>
                  <a:schemeClr val="bg1"/>
                </a:solidFill>
              </a:rPr>
              <a:t>、当前作者昵称、头像、简介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2</a:t>
            </a:r>
            <a:r>
              <a:rPr lang="zh-CN" altLang="en-US" sz="1600">
                <a:solidFill>
                  <a:schemeClr val="bg1"/>
                </a:solidFill>
              </a:rPr>
              <a:t>、文章被浏览次数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3</a:t>
            </a:r>
            <a:r>
              <a:rPr lang="zh-CN" altLang="en-US" sz="1600">
                <a:solidFill>
                  <a:schemeClr val="bg1"/>
                </a:solidFill>
              </a:rPr>
              <a:t>、最近点赞的几个用户昵称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4</a:t>
            </a:r>
            <a:r>
              <a:rPr lang="zh-CN" altLang="en-US" sz="1600">
                <a:solidFill>
                  <a:schemeClr val="bg1"/>
                </a:solidFill>
              </a:rPr>
              <a:t>、显示用户点赞数、浏览次数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5</a:t>
            </a:r>
            <a:r>
              <a:rPr lang="zh-CN" altLang="en-US" sz="1600">
                <a:solidFill>
                  <a:schemeClr val="bg1"/>
                </a:solidFill>
              </a:rPr>
              <a:t>、显示最近点赞的</a:t>
            </a:r>
            <a:r>
              <a:rPr lang="en-US" altLang="zh-CN" sz="1600">
                <a:solidFill>
                  <a:schemeClr val="bg1"/>
                </a:solidFill>
              </a:rPr>
              <a:t>5</a:t>
            </a:r>
            <a:r>
              <a:rPr lang="zh-CN" altLang="en-US" sz="1600">
                <a:solidFill>
                  <a:schemeClr val="bg1"/>
                </a:solidFill>
              </a:rPr>
              <a:t>个用户的头像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6</a:t>
            </a:r>
            <a:r>
              <a:rPr lang="zh-CN" altLang="en-US" sz="1600">
                <a:solidFill>
                  <a:schemeClr val="bg1"/>
                </a:solidFill>
              </a:rPr>
              <a:t>、对用户点赞需要做限制，只有绑定手机号对才能点赞，是否绑定手机得调用认证中心接口</a:t>
            </a:r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扩展：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1</a:t>
            </a:r>
            <a:r>
              <a:rPr lang="zh-CN" altLang="en-US" sz="1600">
                <a:solidFill>
                  <a:schemeClr val="bg1"/>
                </a:solidFill>
              </a:rPr>
              <a:t>、如何限制用户刷浏览量？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2</a:t>
            </a:r>
            <a:r>
              <a:rPr lang="zh-CN" altLang="en-US" sz="1600">
                <a:solidFill>
                  <a:schemeClr val="bg1"/>
                </a:solidFill>
              </a:rPr>
              <a:t>、后台如何运营文章的浏览量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rgbClr val="FFFF00"/>
                </a:solidFill>
              </a:rPr>
              <a:t>3</a:t>
            </a:r>
            <a:r>
              <a:rPr lang="zh-CN" altLang="en-US" sz="1600">
                <a:solidFill>
                  <a:srgbClr val="FFFF00"/>
                </a:solidFill>
              </a:rPr>
              <a:t>、文章自动运营，定时定点（或指定时间段）增加统计数据</a:t>
            </a:r>
            <a:endParaRPr lang="zh-CN" altLang="en-US" sz="1600">
              <a:solidFill>
                <a:srgbClr val="FFFF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69585" y="373380"/>
            <a:ext cx="24015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n/>
                <a:solidFill>
                  <a:srgbClr val="FF0000"/>
                </a:solidFill>
                <a:effectLst/>
              </a:rPr>
              <a:t>美团外卖红包？</a:t>
            </a:r>
            <a:endParaRPr lang="zh-CN" altLang="en-US" sz="3200">
              <a:ln/>
              <a:solidFill>
                <a:srgbClr val="FF0000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74320" y="259080"/>
            <a:ext cx="35096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常用数据结构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370" y="1137920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>
                <a:solidFill>
                  <a:srgbClr val="FFC000"/>
                </a:solidFill>
              </a:rPr>
              <a:t>其他功能</a:t>
            </a:r>
            <a:endParaRPr lang="zh-CN" altLang="en-US" sz="3600"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635" y="2028825"/>
            <a:ext cx="60540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管道：多命令操作时，使用管道可以提高</a:t>
            </a:r>
            <a:r>
              <a:rPr lang="en-US" altLang="zh-CN"/>
              <a:t>6-7</a:t>
            </a:r>
            <a:r>
              <a:rPr lang="zh-CN" altLang="en-US"/>
              <a:t>倍的</a:t>
            </a:r>
            <a:r>
              <a:rPr lang="en-US" altLang="zh-CN"/>
              <a:t>redis</a:t>
            </a:r>
            <a:r>
              <a:rPr lang="zh-CN" altLang="en-US"/>
              <a:t>性能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15745" y="6366510"/>
            <a:ext cx="38119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事务：</a:t>
            </a:r>
            <a:r>
              <a:rPr lang="en-US" altLang="zh-CN"/>
              <a:t>Emmmmm</a:t>
            </a:r>
            <a:r>
              <a:rPr lang="zh-CN" altLang="en-US"/>
              <a:t>。。集群中不适合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200" y="2487930"/>
            <a:ext cx="5648960" cy="36906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4150169" y="1528093"/>
            <a:ext cx="1826109" cy="1826108"/>
          </a:xfrm>
          <a:prstGeom prst="ellipse">
            <a:avLst/>
          </a:prstGeom>
          <a:gradFill flip="none" rotWithShape="1">
            <a:gsLst>
              <a:gs pos="25000">
                <a:schemeClr val="bg1">
                  <a:shade val="67500"/>
                  <a:satMod val="115000"/>
                </a:schemeClr>
              </a:gs>
              <a:gs pos="62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38100">
            <a:solidFill>
              <a:schemeClr val="bg1"/>
            </a:solidFill>
          </a:ln>
          <a:effectLst>
            <a:outerShdw blurRad="254000" dist="127000" dir="30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46" name="MH_Others_1"/>
          <p:cNvSpPr txBox="1"/>
          <p:nvPr>
            <p:custDataLst>
              <p:tags r:id="rId2"/>
            </p:custDataLst>
          </p:nvPr>
        </p:nvSpPr>
        <p:spPr>
          <a:xfrm>
            <a:off x="4306517" y="1918223"/>
            <a:ext cx="1513416" cy="10458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03</a:t>
            </a:r>
            <a:endParaRPr lang="en-US" altLang="zh-CN" sz="48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CHAPTER</a:t>
            </a:r>
            <a:endParaRPr lang="zh-CN" altLang="en-US" sz="20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535197" y="2086805"/>
            <a:ext cx="3184233" cy="36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redis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常见问题</a:t>
            </a:r>
            <a:endParaRPr lang="zh-CN" altLang="en-US" sz="24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465351" y="2507784"/>
            <a:ext cx="913130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9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双写一致</a:t>
            </a:r>
            <a:endParaRPr lang="zh-CN" altLang="en-US" sz="11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77850" y="2507784"/>
            <a:ext cx="913130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9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缓存穿透</a:t>
            </a:r>
            <a:endParaRPr lang="zh-CN" altLang="en-US" sz="11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6465351" y="2780600"/>
            <a:ext cx="913130" cy="260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1" indent="-171450">
              <a:buFont typeface="Arial" panose="020B0604020202090204" pitchFamily="34" charset="0"/>
              <a:buChar char="•"/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缓存雪崩</a:t>
            </a:r>
            <a:endParaRPr lang="zh-CN" altLang="en-US" sz="11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 spd="slow" advTm="0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87020" y="259080"/>
            <a:ext cx="2696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常见问题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9745" y="1056005"/>
            <a:ext cx="30105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缓存</a:t>
            </a:r>
            <a:r>
              <a:rPr lang="en-US" altLang="zh-CN" sz="2400">
                <a:solidFill>
                  <a:schemeClr val="bg1"/>
                </a:solidFill>
              </a:rPr>
              <a:t>/</a:t>
            </a:r>
            <a:r>
              <a:rPr lang="zh-CN" altLang="en-US" sz="2400">
                <a:solidFill>
                  <a:schemeClr val="bg1"/>
                </a:solidFill>
              </a:rPr>
              <a:t>数据库双写一致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1550" y="2001520"/>
            <a:ext cx="105644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现有这么一个场景：</a:t>
            </a:r>
            <a:endParaRPr lang="zh-CN" altLang="en-US"/>
          </a:p>
          <a:p>
            <a:r>
              <a:rPr lang="zh-CN" altLang="en-US"/>
              <a:t>文章底层页被放到手炒首页</a:t>
            </a:r>
            <a:r>
              <a:rPr lang="en-US" altLang="zh-CN"/>
              <a:t>feed</a:t>
            </a:r>
            <a:r>
              <a:rPr lang="zh-CN" altLang="en-US"/>
              <a:t>上了，量极大，目前排查到获取文章内容是性能瓶颈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如何优化性能？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、文章数据源更新时，如何正确处理缓存？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60145" y="5232400"/>
            <a:ext cx="72777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首先，采取正确更新策略，先更新数据库，再删缓存。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其次，因为可能存在删除缓存失败的问题，提供一个补偿措施即可，例如利用消息队列。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60145" y="3539490"/>
            <a:ext cx="72783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缓存和数据库双写，必然会存在不一致。对于要求</a:t>
            </a:r>
            <a:r>
              <a:rPr lang="zh-CN" altLang="en-US">
                <a:solidFill>
                  <a:srgbClr val="0D69FF"/>
                </a:solidFill>
              </a:rPr>
              <a:t>强一致性</a:t>
            </a:r>
            <a:r>
              <a:rPr lang="zh-CN" altLang="en-US">
                <a:solidFill>
                  <a:schemeClr val="bg1"/>
                </a:solidFill>
              </a:rPr>
              <a:t>到数据不适合放缓存，只能保证</a:t>
            </a:r>
            <a:r>
              <a:rPr lang="zh-CN" altLang="en-US">
                <a:solidFill>
                  <a:srgbClr val="0D69FF"/>
                </a:solidFill>
              </a:rPr>
              <a:t>最终一致性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87020" y="259080"/>
            <a:ext cx="2696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常见问题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9745" y="105600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2400">
                <a:solidFill>
                  <a:schemeClr val="bg1"/>
                </a:solidFill>
              </a:rPr>
              <a:t>缓存穿透</a:t>
            </a:r>
            <a:endParaRPr lang="zh-CN" sz="24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1730" y="2054860"/>
            <a:ext cx="95300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问题升级：</a:t>
            </a:r>
            <a:endParaRPr lang="zh-CN" altLang="en-US"/>
          </a:p>
          <a:p>
            <a:r>
              <a:rPr lang="zh-CN" altLang="en-US"/>
              <a:t>目前所有文章的时效性很强（用户只需要看近两个交易日的文章），加上文章底层页性能很差，决定加上缓存，在获取数据的时候需要注意哪些问题？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13485" y="3602990"/>
            <a:ext cx="6355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00FE00"/>
                </a:solidFill>
              </a:rPr>
              <a:t>拦截机制</a:t>
            </a:r>
            <a:r>
              <a:rPr lang="zh-CN" altLang="en-US"/>
              <a:t>：直接返回为空，对于两个交易日之外的文章的请求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13485" y="4283710"/>
            <a:ext cx="75901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00FE00"/>
                </a:solidFill>
                <a:sym typeface="+mn-ea"/>
              </a:rPr>
              <a:t>互斥锁</a:t>
            </a:r>
            <a:r>
              <a:rPr lang="zh-CN" altLang="en-US">
                <a:sym typeface="+mn-ea"/>
              </a:rPr>
              <a:t>：缓存中取不到，加锁，再从数据库中获取（有何弊端？）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13485" y="4956810"/>
            <a:ext cx="6355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olidFill>
                  <a:srgbClr val="00FE00"/>
                </a:solidFill>
                <a:sym typeface="+mn-ea"/>
              </a:rPr>
              <a:t>异步更新</a:t>
            </a:r>
            <a:r>
              <a:rPr lang="zh-CN" altLang="en-US">
                <a:sym typeface="+mn-ea"/>
              </a:rPr>
              <a:t>：取到则返回，取不到也返回，起异步进程重建缓存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87020" y="259080"/>
            <a:ext cx="2696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常见问题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9745" y="105600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2400">
                <a:solidFill>
                  <a:schemeClr val="bg1"/>
                </a:solidFill>
              </a:rPr>
              <a:t>缓存雪崩</a:t>
            </a:r>
            <a:endParaRPr lang="zh-CN" sz="24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3285" y="1809115"/>
            <a:ext cx="9098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问题升级：</a:t>
            </a:r>
            <a:endParaRPr lang="zh-CN" altLang="en-US"/>
          </a:p>
          <a:p>
            <a:r>
              <a:rPr lang="zh-CN" altLang="en-US"/>
              <a:t>最终确定文章的解决方案为，对近两交易日对文章，脚本定时生成缓存，如何设计缓存？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71550" y="3848100"/>
            <a:ext cx="68789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不同过期时间：在设置缓存对有效期的时候，注意缓存过期时间，避免大面积同时失效，增加后端数据库查询压力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1550" y="4986655"/>
            <a:ext cx="8050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sym typeface="+mn-ea"/>
              </a:rPr>
              <a:t>双缓存：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缓存直接对外，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缓存备用且不会过期，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中获取不到时，转至</a:t>
            </a:r>
            <a:r>
              <a:rPr lang="en-US" altLang="zh-CN">
                <a:sym typeface="+mn-ea"/>
              </a:rPr>
              <a:t>B</a:t>
            </a:r>
            <a:r>
              <a:rPr lang="zh-CN" altLang="en-US">
                <a:sym typeface="+mn-ea"/>
              </a:rPr>
              <a:t>，无论存在与否，直接返回，异步进程更新缓存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B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150169" y="1456085"/>
            <a:ext cx="1826109" cy="1826108"/>
          </a:xfrm>
          <a:prstGeom prst="ellipse">
            <a:avLst/>
          </a:prstGeom>
          <a:gradFill flip="none" rotWithShape="1">
            <a:gsLst>
              <a:gs pos="25000">
                <a:schemeClr val="bg1">
                  <a:shade val="67500"/>
                  <a:satMod val="115000"/>
                </a:schemeClr>
              </a:gs>
              <a:gs pos="62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38100">
            <a:solidFill>
              <a:schemeClr val="bg1"/>
            </a:solidFill>
          </a:ln>
          <a:effectLst>
            <a:outerShdw blurRad="254000" dist="127000" dir="30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MH_Others_1"/>
          <p:cNvSpPr txBox="1"/>
          <p:nvPr>
            <p:custDataLst>
              <p:tags r:id="rId2"/>
            </p:custDataLst>
          </p:nvPr>
        </p:nvSpPr>
        <p:spPr>
          <a:xfrm>
            <a:off x="4306517" y="1845982"/>
            <a:ext cx="1513416" cy="104631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04</a:t>
            </a:r>
            <a:endParaRPr lang="en-US" altLang="zh-CN" sz="48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CHAPTER</a:t>
            </a:r>
            <a:endParaRPr lang="zh-CN" altLang="en-US" sz="20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35197" y="2014797"/>
            <a:ext cx="3184233" cy="368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应用场景</a:t>
            </a:r>
            <a:endParaRPr lang="zh-CN" altLang="en-US" sz="240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 spd="slow" advTm="0">
    <p:push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87020" y="259080"/>
            <a:ext cx="2696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bg1"/>
                </a:solidFill>
              </a:rPr>
              <a:t>redis</a:t>
            </a:r>
            <a:r>
              <a:rPr lang="zh-CN" altLang="en-US" sz="3200">
                <a:solidFill>
                  <a:schemeClr val="bg1"/>
                </a:solidFill>
              </a:rPr>
              <a:t>应用场景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97000" y="2221865"/>
            <a:ext cx="2540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1、缓存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2、排行榜</a:t>
            </a:r>
            <a:br>
              <a:rPr lang="zh-CN" altLang="en-US" sz="2000">
                <a:solidFill>
                  <a:schemeClr val="bg1"/>
                </a:solidFill>
              </a:rPr>
            </a:br>
            <a:r>
              <a:rPr lang="zh-CN" altLang="en-US" sz="2000">
                <a:solidFill>
                  <a:schemeClr val="bg1"/>
                </a:solidFill>
              </a:rPr>
              <a:t>3、计数器（限流器）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4、分布式会话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5</a:t>
            </a:r>
            <a:r>
              <a:rPr lang="zh-CN" altLang="en-US" sz="2000">
                <a:solidFill>
                  <a:schemeClr val="bg1"/>
                </a:solidFill>
              </a:rPr>
              <a:t>、分布式锁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6</a:t>
            </a:r>
            <a:r>
              <a:rPr lang="zh-CN" altLang="en-US" sz="2000">
                <a:solidFill>
                  <a:schemeClr val="bg1"/>
                </a:solidFill>
              </a:rPr>
              <a:t>、最新列表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。。。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2285" y="2361565"/>
            <a:ext cx="48221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思维千万不要局限在这边的两个案例中，</a:t>
            </a:r>
            <a:r>
              <a:rPr lang="en-US" altLang="zh-CN"/>
              <a:t>redis</a:t>
            </a:r>
            <a:r>
              <a:rPr lang="zh-CN" altLang="en-US"/>
              <a:t>之所以强大，丰富的数据类型是很重要的一点。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熟练使用各数据类型，必须得熟知各个数据类型的特点，针对不同业务场景选取合适的数据类型才是</a:t>
            </a:r>
            <a:r>
              <a:rPr lang="en-US" altLang="zh-CN"/>
              <a:t>redis</a:t>
            </a:r>
            <a:r>
              <a:rPr lang="zh-CN" altLang="en-US"/>
              <a:t>之道。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87020" y="25908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>
                <a:solidFill>
                  <a:schemeClr val="bg1"/>
                </a:solidFill>
              </a:rPr>
              <a:t>牛刀小试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30375" y="2249170"/>
            <a:ext cx="79946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请设计一个简单的投票系统，需要包含以下功能：</a:t>
            </a:r>
            <a:endParaRPr lang="zh-CN" altLang="en-US" sz="2400"/>
          </a:p>
          <a:p>
            <a:r>
              <a:rPr lang="en-US" altLang="zh-CN" sz="2400"/>
              <a:t>1</a:t>
            </a:r>
            <a:r>
              <a:rPr lang="zh-CN" altLang="en-US" sz="2400"/>
              <a:t>、创建投票（属性：主题、开始时间、结束时间、选项）</a:t>
            </a:r>
            <a:endParaRPr lang="zh-CN" altLang="en-US" sz="2400"/>
          </a:p>
          <a:p>
            <a:r>
              <a:rPr lang="en-US" altLang="zh-CN" sz="2400"/>
              <a:t>2</a:t>
            </a:r>
            <a:r>
              <a:rPr lang="zh-CN" altLang="en-US" sz="2400"/>
              <a:t>、获取投票基本信息</a:t>
            </a:r>
            <a:endParaRPr lang="zh-CN" altLang="en-US" sz="2400"/>
          </a:p>
          <a:p>
            <a:r>
              <a:rPr lang="en-US" altLang="zh-CN" sz="2400"/>
              <a:t>3</a:t>
            </a:r>
            <a:r>
              <a:rPr lang="zh-CN" altLang="en-US" sz="2400"/>
              <a:t>、投票功能，一个</a:t>
            </a:r>
            <a:r>
              <a:rPr lang="en-US" altLang="zh-CN" sz="2400"/>
              <a:t>ip</a:t>
            </a:r>
            <a:r>
              <a:rPr lang="zh-CN" altLang="en-US" sz="2400"/>
              <a:t>只能投一次</a:t>
            </a:r>
            <a:endParaRPr lang="zh-CN" altLang="en-US" sz="2400"/>
          </a:p>
          <a:p>
            <a:r>
              <a:rPr lang="en-US" altLang="zh-CN" sz="2400"/>
              <a:t>4</a:t>
            </a:r>
            <a:r>
              <a:rPr lang="zh-CN" altLang="en-US" sz="2400"/>
              <a:t>、能统计一个投票的参与人数及各选项比例</a:t>
            </a:r>
            <a:endParaRPr lang="zh-CN" altLang="en-US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259"/>
          <p:cNvSpPr>
            <a:spLocks noChangeArrowheads="1"/>
          </p:cNvSpPr>
          <p:nvPr/>
        </p:nvSpPr>
        <p:spPr bwMode="auto">
          <a:xfrm>
            <a:off x="381000" y="1955800"/>
            <a:ext cx="3766185" cy="144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8800" cap="all" dirty="0">
                <a:solidFill>
                  <a:schemeClr val="bg1"/>
                </a:solidFill>
                <a:latin typeface="Algerian" panose="04020705040A02060702" pitchFamily="82" charset="0"/>
                <a:cs typeface="Arial" panose="020B0604020202090204" pitchFamily="34" charset="0"/>
              </a:rPr>
              <a:t>redis</a:t>
            </a:r>
            <a:endParaRPr lang="en-US" altLang="zh-CN" sz="8800" cap="all" dirty="0">
              <a:solidFill>
                <a:schemeClr val="bg1"/>
              </a:solidFill>
              <a:latin typeface="Algerian" panose="04020705040A02060702" pitchFamily="82" charset="0"/>
              <a:cs typeface="Arial" panose="020B0604020202090204" pitchFamily="34" charset="0"/>
            </a:endParaRP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1720907" y="3674632"/>
            <a:ext cx="4570814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4000" cap="all" dirty="0" smtClean="0">
                <a:solidFill>
                  <a:schemeClr val="bg1"/>
                </a:solidFill>
                <a:cs typeface="Arial" panose="020B0604020202090204" pitchFamily="34" charset="0"/>
              </a:rPr>
              <a:t>感谢聆听</a:t>
            </a:r>
            <a:endParaRPr lang="zh-CN" altLang="en-US" sz="4000" cap="all" dirty="0" smtClean="0">
              <a:solidFill>
                <a:schemeClr val="bg1"/>
              </a:solidFill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1"/>
</p:tagLst>
</file>

<file path=ppt/tags/tag2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3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2"/>
</p:tagLst>
</file>

<file path=ppt/tags/tag4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5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6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7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4"/>
</p:tagLst>
</file>

<file path=ppt/tags/tag8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ags/tag9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第一PPT，www.1ppt.com">
  <a:themeElements>
    <a:clrScheme name="自定义 49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8B2F0"/>
      </a:accent2>
      <a:accent3>
        <a:srgbClr val="0070C0"/>
      </a:accent3>
      <a:accent4>
        <a:srgbClr val="08B2F0"/>
      </a:accent4>
      <a:accent5>
        <a:srgbClr val="0070C0"/>
      </a:accent5>
      <a:accent6>
        <a:srgbClr val="08B2F0"/>
      </a:accent6>
      <a:hlink>
        <a:srgbClr val="0070C0"/>
      </a:hlink>
      <a:folHlink>
        <a:srgbClr val="08B2F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4125</Words>
  <Application>WPS 演示</Application>
  <PresentationFormat>自定义</PresentationFormat>
  <Paragraphs>340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3" baseType="lpstr">
      <vt:lpstr>Arial</vt:lpstr>
      <vt:lpstr>方正书宋_GBK</vt:lpstr>
      <vt:lpstr>Wingdings</vt:lpstr>
      <vt:lpstr>Calibri</vt:lpstr>
      <vt:lpstr>宋体</vt:lpstr>
      <vt:lpstr>Calibri</vt:lpstr>
      <vt:lpstr>宋体</vt:lpstr>
      <vt:lpstr>微软雅黑</vt:lpstr>
      <vt:lpstr>造字工房明黑（非商用）常规体</vt:lpstr>
      <vt:lpstr>Times New Roman</vt:lpstr>
      <vt:lpstr>Wingdings</vt:lpstr>
      <vt:lpstr>Algerian</vt:lpstr>
      <vt:lpstr>Helvetica Neue</vt:lpstr>
      <vt:lpstr>苹方-简</vt:lpstr>
      <vt:lpstr>汉仪旗黑KW</vt:lpstr>
      <vt:lpstr>宋体</vt:lpstr>
      <vt:lpstr>Arial Unicode MS</vt:lpstr>
      <vt:lpstr>汉仪书宋二KW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</dc:title>
  <dc:creator/>
  <cp:keywords>www.1ppt.com</cp:keywords>
  <cp:lastModifiedBy>hejianqiao</cp:lastModifiedBy>
  <cp:revision>58</cp:revision>
  <dcterms:created xsi:type="dcterms:W3CDTF">2019-11-24T15:38:52Z</dcterms:created>
  <dcterms:modified xsi:type="dcterms:W3CDTF">2019-11-24T15:38:52Z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2052-1.2.1.1575</vt:lpwstr>
  </property>
</Properties>
</file>