
<file path=[Content_Types].xml><?xml version="1.0" encoding="utf-8"?>
<Types xmlns="http://schemas.openxmlformats.org/package/2006/content-types">
  <Default Extension="jpeg" ContentType="image/jpe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4"/>
  </p:notesMasterIdLst>
  <p:handoutMasterIdLst>
    <p:handoutMasterId r:id="rId55"/>
  </p:handoutMasterIdLst>
  <p:sldIdLst>
    <p:sldId id="4804" r:id="rId3"/>
    <p:sldId id="4823" r:id="rId5"/>
    <p:sldId id="4824" r:id="rId6"/>
    <p:sldId id="4716" r:id="rId7"/>
    <p:sldId id="4830" r:id="rId8"/>
    <p:sldId id="4831" r:id="rId9"/>
    <p:sldId id="4832" r:id="rId10"/>
    <p:sldId id="4833" r:id="rId11"/>
    <p:sldId id="4834" r:id="rId12"/>
    <p:sldId id="4835" r:id="rId13"/>
    <p:sldId id="4896" r:id="rId14"/>
    <p:sldId id="4857" r:id="rId15"/>
    <p:sldId id="4751" r:id="rId16"/>
    <p:sldId id="4658" r:id="rId17"/>
    <p:sldId id="4860" r:id="rId18"/>
    <p:sldId id="4862" r:id="rId19"/>
    <p:sldId id="4868" r:id="rId20"/>
    <p:sldId id="4864" r:id="rId21"/>
    <p:sldId id="4865" r:id="rId22"/>
    <p:sldId id="4863" r:id="rId23"/>
    <p:sldId id="4869" r:id="rId24"/>
    <p:sldId id="4870" r:id="rId25"/>
    <p:sldId id="4871" r:id="rId26"/>
    <p:sldId id="4874" r:id="rId27"/>
    <p:sldId id="4878" r:id="rId28"/>
    <p:sldId id="4872" r:id="rId29"/>
    <p:sldId id="4876" r:id="rId30"/>
    <p:sldId id="4877" r:id="rId31"/>
    <p:sldId id="4879" r:id="rId32"/>
    <p:sldId id="4880" r:id="rId33"/>
    <p:sldId id="4898" r:id="rId34"/>
    <p:sldId id="4881" r:id="rId35"/>
    <p:sldId id="4936" r:id="rId36"/>
    <p:sldId id="4882" r:id="rId37"/>
    <p:sldId id="4883" r:id="rId38"/>
    <p:sldId id="4884" r:id="rId39"/>
    <p:sldId id="4885" r:id="rId40"/>
    <p:sldId id="4899" r:id="rId41"/>
    <p:sldId id="4887" r:id="rId42"/>
    <p:sldId id="4900" r:id="rId43"/>
    <p:sldId id="4889" r:id="rId44"/>
    <p:sldId id="4901" r:id="rId45"/>
    <p:sldId id="4902" r:id="rId46"/>
    <p:sldId id="4886" r:id="rId47"/>
    <p:sldId id="4890" r:id="rId48"/>
    <p:sldId id="4892" r:id="rId49"/>
    <p:sldId id="4897" r:id="rId50"/>
    <p:sldId id="4893" r:id="rId51"/>
    <p:sldId id="4894" r:id="rId52"/>
    <p:sldId id="4895" r:id="rId53"/>
    <p:sldId id="4828" r:id="rId54"/>
  </p:sldIdLst>
  <p:sldSz cx="12858750" cy="723265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640080" indent="-18288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282700" indent="-3683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925955" indent="-55435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568575" indent="-7397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4B73"/>
    <a:srgbClr val="73A6A3"/>
    <a:srgbClr val="FBB80D"/>
    <a:srgbClr val="ED1C24"/>
    <a:srgbClr val="38AABA"/>
    <a:srgbClr val="1E6C7A"/>
    <a:srgbClr val="BF0000"/>
    <a:srgbClr val="166CA3"/>
    <a:srgbClr val="10517A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42" autoAdjust="0"/>
    <p:restoredTop sz="83822" autoAdjust="0"/>
  </p:normalViewPr>
  <p:slideViewPr>
    <p:cSldViewPr>
      <p:cViewPr varScale="1">
        <p:scale>
          <a:sx n="91" d="100"/>
          <a:sy n="91" d="100"/>
        </p:scale>
        <p:origin x="1104" y="84"/>
      </p:cViewPr>
      <p:guideLst>
        <p:guide orient="horz" pos="302"/>
        <p:guide pos="4050"/>
        <p:guide pos="558"/>
        <p:guide orient="horz" pos="4222"/>
        <p:guide pos="7497"/>
        <p:guide pos="6908"/>
      </p:guideLst>
    </p:cSldViewPr>
  </p:slideViewPr>
  <p:outlineViewPr>
    <p:cViewPr>
      <p:scale>
        <a:sx n="100" d="100"/>
        <a:sy n="100" d="100"/>
      </p:scale>
      <p:origin x="0" y="-1037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 varScale="1">
        <p:scale>
          <a:sx n="65" d="100"/>
          <a:sy n="65" d="100"/>
        </p:scale>
        <p:origin x="2796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9" Type="http://schemas.openxmlformats.org/officeDocument/2006/relationships/commentAuthors" Target="commentAuthors.xml"/><Relationship Id="rId58" Type="http://schemas.openxmlformats.org/officeDocument/2006/relationships/tableStyles" Target="tableStyles.xml"/><Relationship Id="rId57" Type="http://schemas.openxmlformats.org/officeDocument/2006/relationships/viewProps" Target="viewProps.xml"/><Relationship Id="rId56" Type="http://schemas.openxmlformats.org/officeDocument/2006/relationships/presProps" Target="presProps.xml"/><Relationship Id="rId55" Type="http://schemas.openxmlformats.org/officeDocument/2006/relationships/handoutMaster" Target="handoutMasters/handoutMaster1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630DBF-D010-4114-9DE3-41E342A27C18}" type="datetimeFigureOut">
              <a:rPr lang="zh-CN" altLang="en-US" smtClean="0">
                <a:latin typeface="微软雅黑" panose="020B0503020204020204" pitchFamily="34" charset="-122"/>
              </a:rPr>
            </a:fld>
            <a:endParaRPr lang="zh-CN" altLang="en-US" dirty="0">
              <a:latin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D1D107-4CC9-43CA-8CA8-36E1DF70D5F2}" type="slidenum">
              <a:rPr lang="zh-CN" altLang="en-US" smtClean="0">
                <a:latin typeface="微软雅黑" panose="020B0503020204020204" pitchFamily="34" charset="-122"/>
              </a:rPr>
            </a:fld>
            <a:endParaRPr lang="zh-CN" altLang="en-US" dirty="0">
              <a:latin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</a:defRPr>
            </a:lvl1pPr>
          </a:lstStyle>
          <a:p>
            <a:pPr>
              <a:defRPr/>
            </a:pPr>
            <a:fld id="{06024D97-E667-405D-B634-E583E2108D71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dirty="0"/>
              <a:t>单击此处编辑母版文本样式</a:t>
            </a:r>
            <a:endParaRPr lang="zh-CN" altLang="en-US" noProof="0" dirty="0"/>
          </a:p>
          <a:p>
            <a:pPr lvl="1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/>
            <a:r>
              <a:rPr lang="zh-CN" altLang="en-US" noProof="0" dirty="0"/>
              <a:t>第五级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微软雅黑" panose="020B0503020204020204" pitchFamily="34" charset="-122"/>
              </a:defRPr>
            </a:lvl1pPr>
          </a:lstStyle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微软雅黑" panose="020B0503020204020204" pitchFamily="34" charset="-122"/>
        <a:ea typeface="+mn-ea"/>
        <a:cs typeface="+mn-cs"/>
      </a:defRPr>
    </a:lvl1pPr>
    <a:lvl2pPr marL="4559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微软雅黑" panose="020B0503020204020204" pitchFamily="34" charset="-122"/>
        <a:ea typeface="+mn-ea"/>
        <a:cs typeface="+mn-cs"/>
      </a:defRPr>
    </a:lvl2pPr>
    <a:lvl3pPr marL="9131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微软雅黑" panose="020B0503020204020204" pitchFamily="34" charset="-122"/>
        <a:ea typeface="+mn-ea"/>
        <a:cs typeface="+mn-cs"/>
      </a:defRPr>
    </a:lvl3pPr>
    <a:lvl4pPr marL="13703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微软雅黑" panose="020B0503020204020204" pitchFamily="34" charset="-122"/>
        <a:ea typeface="+mn-ea"/>
        <a:cs typeface="+mn-cs"/>
      </a:defRPr>
    </a:lvl4pPr>
    <a:lvl5pPr marL="18275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微软雅黑" panose="020B0503020204020204" pitchFamily="34" charset="-122"/>
        <a:ea typeface="+mn-ea"/>
        <a:cs typeface="+mn-cs"/>
      </a:defRPr>
    </a:lvl5pPr>
    <a:lvl6pPr marL="2285365" algn="l" defTabSz="913765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3765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3765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3765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fld id="{EC530858-BF76-453D-8D3B-E94317EF6EAB}" type="slidenum">
              <a:rPr lang="zh-CN" altLang="en-US" smtClean="0">
                <a:latin typeface="微软雅黑" panose="020B0503020204020204" pitchFamily="34" charset="-122"/>
              </a:rPr>
            </a:fld>
            <a:endParaRPr lang="zh-CN" altLang="en-US" dirty="0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EF2083-0386-4B43-BE3F-5071C6BB4FA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D1495A-DD81-44F4-9F54-1F39867BF2D9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F2CFBE-1407-414C-AC03-95A5BCF50F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F2CFBE-1407-414C-AC03-95A5BCF50F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F2CFBE-1407-414C-AC03-95A5BCF50F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F2CFBE-1407-414C-AC03-95A5BCF50F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F2CFBE-1407-414C-AC03-95A5BCF50F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F2CFBE-1407-414C-AC03-95A5BCF50F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EF2083-0386-4B43-BE3F-5071C6BB4FA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在这个页面上讲一下</a:t>
            </a:r>
            <a:r>
              <a:rPr lang="en-US" altLang="zh-CN"/>
              <a:t>UML</a:t>
            </a:r>
            <a:r>
              <a:rPr lang="zh-CN" altLang="en-US"/>
              <a:t>中类图的几个常用的示例，讲一下组合关系和聚合关系的差别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F2CFBE-1407-414C-AC03-95A5BCF50F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F2CFBE-1407-414C-AC03-95A5BCF50F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6B02EC-97C0-4E19-AA45-E904FCC1D11E}" type="slidenum">
              <a:rPr lang="en-GB" smtClean="0"/>
            </a:fld>
            <a:endParaRPr lang="en-GB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简单介绍一下画线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F2CFBE-1407-414C-AC03-95A5BCF50F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说明一下当时线上出现问题之后情况的紧急情况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6B02EC-97C0-4E19-AA45-E904FCC1D11E}" type="slidenum">
              <a:rPr lang="en-GB" smtClean="0"/>
            </a:fld>
            <a:endParaRPr lang="en-GB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说明一下当时线上出现问题之后情况的紧急情况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6B02EC-97C0-4E19-AA45-E904FCC1D11E}" type="slidenum">
              <a:rPr lang="en-GB" smtClean="0"/>
            </a:fld>
            <a:endParaRPr lang="en-GB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在这个页面说明一下一开始使用文件方案时用到的设计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6B02EC-97C0-4E19-AA45-E904FCC1D11E}" type="slidenum">
              <a:rPr lang="en-GB" smtClean="0"/>
            </a:fld>
            <a:endParaRPr lang="en-GB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在这个页面说明一下文件方案出现问题之后是如何快速切换成</a:t>
            </a:r>
            <a:r>
              <a:rPr lang="en-US" altLang="zh-CN"/>
              <a:t>mongodb</a:t>
            </a:r>
            <a:r>
              <a:rPr lang="zh-CN" altLang="en-US"/>
              <a:t>方案的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6B02EC-97C0-4E19-AA45-E904FCC1D11E}" type="slidenum">
              <a:rPr lang="en-GB" smtClean="0"/>
            </a:fld>
            <a:endParaRPr lang="en-GB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针对接口编程：</a:t>
            </a:r>
            <a:endParaRPr lang="zh-CN" altLang="en-US"/>
          </a:p>
          <a:p>
            <a:r>
              <a:rPr lang="zh-CN" altLang="en-US"/>
              <a:t>对于接口和脚本而言，只需要保证数据管理对象是</a:t>
            </a:r>
            <a:r>
              <a:rPr lang="en-US" altLang="zh-CN"/>
              <a:t>FileManager</a:t>
            </a:r>
            <a:r>
              <a:rPr lang="zh-CN" altLang="zh-CN"/>
              <a:t>超类的子集就可以了，无需关心其内部的实现；</a:t>
            </a:r>
            <a:endParaRPr lang="zh-CN" altLang="zh-CN"/>
          </a:p>
          <a:p>
            <a:r>
              <a:rPr lang="zh-CN" altLang="zh-CN"/>
              <a:t>多用组合，少用继承本次示例未有体现，用</a:t>
            </a:r>
            <a:r>
              <a:rPr lang="en-US" altLang="zh-CN"/>
              <a:t>php mongodb</a:t>
            </a:r>
            <a:r>
              <a:rPr lang="zh-CN" altLang="en-US"/>
              <a:t>扩展更换来引入；</a:t>
            </a:r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以</a:t>
            </a:r>
            <a:r>
              <a:rPr lang="en-US" altLang="zh-CN"/>
              <a:t>mongodbutil</a:t>
            </a:r>
            <a:r>
              <a:rPr lang="zh-CN" altLang="en-US"/>
              <a:t>为例子说明一下切换</a:t>
            </a:r>
            <a:r>
              <a:rPr lang="en-US" altLang="zh-CN"/>
              <a:t>php mongodb</a:t>
            </a:r>
            <a:r>
              <a:rPr lang="zh-CN" altLang="en-US"/>
              <a:t>扩展的过程中组合带来优势</a:t>
            </a:r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dirty="0"/>
              <a:t>讲述一下本次使用设计模式带来的感悟；</a:t>
            </a:r>
            <a:endParaRPr lang="zh-CN" dirty="0"/>
          </a:p>
          <a:p>
            <a:r>
              <a:rPr lang="zh-CN" dirty="0"/>
              <a:t>题外话时间活跃气氛：</a:t>
            </a:r>
            <a:endParaRPr lang="zh-CN" dirty="0"/>
          </a:p>
          <a:p>
            <a:r>
              <a:rPr lang="zh-CN" dirty="0"/>
              <a:t>画线MongoDB的服务器这么2年来一直被运维吐槽负载高（因为请求量大），后来今年年后一波行情的时候达到负载最高，趁着服务器扩容把磁盘换成SSD，此后半年多一片风平浪静。</a:t>
            </a:r>
            <a:endParaRPr lang="zh-CN" dirty="0"/>
          </a:p>
          <a:p>
            <a:r>
              <a:rPr lang="zh-CN" dirty="0"/>
              <a:t>1. 只要肯花钱，没有什么过不去的坎儿；</a:t>
            </a:r>
            <a:endParaRPr lang="zh-CN" dirty="0"/>
          </a:p>
          <a:p>
            <a:r>
              <a:rPr lang="zh-CN" dirty="0"/>
              <a:t>2. 硬件提升真的很重要，有时候算法、程序优化真的挺无助的；</a:t>
            </a:r>
            <a:endParaRPr lang="zh-CN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F2CFBE-1407-414C-AC03-95A5BCF50F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F2CFBE-1407-414C-AC03-95A5BCF50F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F2CFBE-1407-414C-AC03-95A5BCF50F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说明一下这样写造成的连接浪费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F2CFBE-1407-414C-AC03-95A5BCF50F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指出单例原理；</a:t>
            </a:r>
            <a:endParaRPr lang="zh-CN" altLang="en-US"/>
          </a:p>
          <a:p>
            <a:r>
              <a:rPr lang="zh-CN" altLang="en-US"/>
              <a:t>按照单例模式的定义指出全局访问点；</a:t>
            </a:r>
            <a:endParaRPr lang="zh-CN" altLang="en-US"/>
          </a:p>
          <a:p>
            <a:r>
              <a:rPr lang="zh-CN" altLang="en-US"/>
              <a:t>说一下单例模式的注意点；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F2CFBE-1407-414C-AC03-95A5BCF50F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F2CFBE-1407-414C-AC03-95A5BCF50F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说明一下</a:t>
            </a:r>
            <a:r>
              <a:rPr lang="en-US" altLang="zh-CN"/>
              <a:t>PHP</a:t>
            </a:r>
            <a:r>
              <a:rPr lang="zh-CN" altLang="en-US"/>
              <a:t>饿汉式的实现方式，不是很优雅，可以大致地讲一下原因；</a:t>
            </a:r>
            <a:endParaRPr lang="zh-CN" altLang="en-US"/>
          </a:p>
          <a:p>
            <a:r>
              <a:rPr lang="zh-CN" altLang="en-US"/>
              <a:t>提出这样子的单例模式在需要连接不同</a:t>
            </a:r>
            <a:r>
              <a:rPr lang="en-US" altLang="zh-CN"/>
              <a:t>redis</a:t>
            </a:r>
            <a:r>
              <a:rPr lang="zh-CN" altLang="en-US"/>
              <a:t>时的问题，引出登记式「单」例模式；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F2CFBE-1407-414C-AC03-95A5BCF50F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单例模式的扩展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F2CFBE-1407-414C-AC03-95A5BCF50F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说明一下</a:t>
            </a:r>
            <a:r>
              <a:rPr lang="en-US" altLang="zh-CN"/>
              <a:t>PHP</a:t>
            </a:r>
            <a:r>
              <a:rPr lang="zh-CN" altLang="en-US"/>
              <a:t>饿汉式的实现方式，不是很优雅，可以大致地讲一下原因；</a:t>
            </a:r>
            <a:endParaRPr lang="zh-CN" altLang="en-US"/>
          </a:p>
          <a:p>
            <a:r>
              <a:rPr lang="zh-CN" altLang="en-US"/>
              <a:t>提出这样子的单例模式在需要连接不同</a:t>
            </a:r>
            <a:r>
              <a:rPr lang="en-US" altLang="zh-CN"/>
              <a:t>redis</a:t>
            </a:r>
            <a:r>
              <a:rPr lang="zh-CN" altLang="en-US"/>
              <a:t>时的问题，引出登记式「单」例模式；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F2CFBE-1407-414C-AC03-95A5BCF50F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可以讲一下每段时间都会出现一次连接不重用导致的问题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F2CFBE-1407-414C-AC03-95A5BCF50F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说明一下</a:t>
            </a:r>
            <a:r>
              <a:rPr lang="en-US" altLang="zh-CN"/>
              <a:t>PHP</a:t>
            </a:r>
            <a:r>
              <a:rPr lang="zh-CN" altLang="en-US"/>
              <a:t>饿汉式的实现方式，不是很优雅，可以大致地讲一下原因；</a:t>
            </a:r>
            <a:endParaRPr lang="zh-CN" altLang="en-US"/>
          </a:p>
          <a:p>
            <a:r>
              <a:rPr lang="zh-CN" altLang="en-US"/>
              <a:t>提出这样子的单例模式在需要连接不同</a:t>
            </a:r>
            <a:r>
              <a:rPr lang="en-US" altLang="zh-CN"/>
              <a:t>redis</a:t>
            </a:r>
            <a:r>
              <a:rPr lang="zh-CN" altLang="en-US"/>
              <a:t>时的问题，引出登记式「单」例模式；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F2CFBE-1407-414C-AC03-95A5BCF50F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F2CFBE-1407-414C-AC03-95A5BCF50F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F2CFBE-1407-414C-AC03-95A5BCF50F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对照</a:t>
            </a:r>
            <a:r>
              <a:rPr lang="en-US" altLang="zh-CN"/>
              <a:t>UML</a:t>
            </a:r>
            <a:r>
              <a:rPr lang="zh-CN" altLang="en-US"/>
              <a:t>简单说明一下基本的原理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F2CFBE-1407-414C-AC03-95A5BCF50F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简单分析一下需求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F2CFBE-1407-414C-AC03-95A5BCF50F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分析一下现在的代码的缺陷</a:t>
            </a:r>
            <a:endParaRPr lang="zh-CN" altLang="en-US"/>
          </a:p>
          <a:p>
            <a:r>
              <a:rPr lang="zh-CN" altLang="en-US"/>
              <a:t>违反单一职责原则</a:t>
            </a:r>
            <a:endParaRPr lang="zh-CN" altLang="en-US"/>
          </a:p>
          <a:p>
            <a:r>
              <a:rPr lang="zh-CN" altLang="en-US"/>
              <a:t>面向实现变成，新增数据推送需要改类的实现（强耦合）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F2CFBE-1407-414C-AC03-95A5BCF50F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分析一下现在的代码的缺陷</a:t>
            </a:r>
            <a:endParaRPr lang="zh-CN" altLang="en-US"/>
          </a:p>
          <a:p>
            <a:r>
              <a:rPr lang="zh-CN" altLang="en-US"/>
              <a:t>违反单一职责原则</a:t>
            </a:r>
            <a:endParaRPr lang="zh-CN" altLang="en-US"/>
          </a:p>
          <a:p>
            <a:r>
              <a:rPr lang="zh-CN" altLang="en-US"/>
              <a:t>面向实现变成，新增数据推送需要改类的实现（强耦合）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F2CFBE-1407-414C-AC03-95A5BCF50F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分析一下现在的代码的缺陷</a:t>
            </a:r>
            <a:endParaRPr lang="zh-CN" altLang="en-US"/>
          </a:p>
          <a:p>
            <a:r>
              <a:rPr lang="zh-CN" altLang="en-US"/>
              <a:t>违反单一职责原则</a:t>
            </a:r>
            <a:endParaRPr lang="zh-CN" altLang="en-US"/>
          </a:p>
          <a:p>
            <a:r>
              <a:rPr lang="zh-CN" altLang="en-US"/>
              <a:t>面向实现变成，新增数据推送需要改类的实现（强耦合）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F2CFBE-1407-414C-AC03-95A5BCF50F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分析一下现在的代码的缺陷</a:t>
            </a:r>
            <a:endParaRPr lang="zh-CN" altLang="en-US"/>
          </a:p>
          <a:p>
            <a:r>
              <a:rPr lang="zh-CN" altLang="en-US"/>
              <a:t>违反单一职责原则</a:t>
            </a:r>
            <a:endParaRPr lang="zh-CN" altLang="en-US"/>
          </a:p>
          <a:p>
            <a:r>
              <a:rPr lang="zh-CN" altLang="en-US"/>
              <a:t>面向实现变成，新增数据推送需要改类的实现（强耦合）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F2CFBE-1407-414C-AC03-95A5BCF50F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分析一下现在的代码的缺陷</a:t>
            </a:r>
            <a:endParaRPr lang="zh-CN" altLang="en-US"/>
          </a:p>
          <a:p>
            <a:r>
              <a:rPr lang="zh-CN" altLang="en-US"/>
              <a:t>违反单一职责原则</a:t>
            </a:r>
            <a:endParaRPr lang="zh-CN" altLang="en-US"/>
          </a:p>
          <a:p>
            <a:r>
              <a:rPr lang="zh-CN" altLang="en-US"/>
              <a:t>面向实现变成，新增数据推送需要改类的实现（强耦合）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F2CFBE-1407-414C-AC03-95A5BCF50F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分析一下现在的代码的缺陷</a:t>
            </a:r>
            <a:endParaRPr lang="zh-CN" altLang="en-US"/>
          </a:p>
          <a:p>
            <a:r>
              <a:rPr lang="zh-CN" altLang="en-US"/>
              <a:t>违反单一职责原则</a:t>
            </a:r>
            <a:endParaRPr lang="zh-CN" altLang="en-US"/>
          </a:p>
          <a:p>
            <a:r>
              <a:rPr lang="zh-CN" altLang="en-US"/>
              <a:t>面向实现变成，新增数据推送需要改类的实现（强耦合）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F2CFBE-1407-414C-AC03-95A5BCF50F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分析一下现在的代码的缺陷</a:t>
            </a:r>
            <a:endParaRPr lang="zh-CN" altLang="en-US"/>
          </a:p>
          <a:p>
            <a:r>
              <a:rPr lang="zh-CN" altLang="en-US"/>
              <a:t>违反单一职责原则</a:t>
            </a:r>
            <a:endParaRPr lang="zh-CN" altLang="en-US"/>
          </a:p>
          <a:p>
            <a:r>
              <a:rPr lang="zh-CN" altLang="en-US"/>
              <a:t>面向实现变成，新增数据推送需要改类的实现（强耦合）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F2CFBE-1407-414C-AC03-95A5BCF50F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F2CFBE-1407-414C-AC03-95A5BCF50F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F2CFBE-1407-414C-AC03-95A5BCF50F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EF2083-0386-4B43-BE3F-5071C6BB4FA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F2CFBE-1407-414C-AC03-95A5BCF50F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F2CFBE-1407-414C-AC03-95A5BCF50F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F2CFBE-1407-414C-AC03-95A5BCF50F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cover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D87B8-9A4B-45E2-BBE5-FB86ADE287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AA611-6692-4583-86AB-5AB9B972BD4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cover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cover dir="u"/>
  </p:transition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84238" y="385763"/>
            <a:ext cx="11090275" cy="1397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84238" y="1925638"/>
            <a:ext cx="11090275" cy="45894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84238" y="6704013"/>
            <a:ext cx="2892425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</a:defRPr>
            </a:lvl1pPr>
          </a:lstStyle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259263" y="6704013"/>
            <a:ext cx="4340225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082088" y="6704013"/>
            <a:ext cx="2892425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</a:defRPr>
            </a:lvl1pPr>
          </a:lstStyle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>
    <p:cover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1" Type="http://schemas.openxmlformats.org/officeDocument/2006/relationships/notesSlide" Target="../notesSlides/notesSlide2.xml"/><Relationship Id="rId10" Type="http://schemas.openxmlformats.org/officeDocument/2006/relationships/slideLayout" Target="../slideLayouts/slideLayout3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.xml"/><Relationship Id="rId1" Type="http://schemas.openxmlformats.org/officeDocument/2006/relationships/tags" Target="../tags/tag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.xml"/><Relationship Id="rId1" Type="http://schemas.openxmlformats.org/officeDocument/2006/relationships/tags" Target="../tags/tag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e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e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e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em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7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259"/>
          <p:cNvSpPr>
            <a:spLocks noChangeArrowheads="1"/>
          </p:cNvSpPr>
          <p:nvPr/>
        </p:nvSpPr>
        <p:spPr bwMode="auto">
          <a:xfrm>
            <a:off x="4466096" y="3569085"/>
            <a:ext cx="1833910" cy="2933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en-US" altLang="zh-CN" sz="1800" dirty="0">
                <a:solidFill>
                  <a:schemeClr val="accent1"/>
                </a:solidFill>
                <a:cs typeface="Arial" panose="020B0604020202020204" pitchFamily="34" charset="0"/>
              </a:rPr>
              <a:t>—— </a:t>
            </a:r>
            <a:r>
              <a:rPr lang="zh-CN" altLang="zh-CN" sz="1800" dirty="0">
                <a:solidFill>
                  <a:schemeClr val="accent1"/>
                </a:solidFill>
                <a:cs typeface="Arial" panose="020B0604020202020204" pitchFamily="34" charset="0"/>
              </a:rPr>
              <a:t>第一课</a:t>
            </a:r>
            <a:endParaRPr lang="zh-CN" altLang="zh-CN" sz="1800" dirty="0">
              <a:solidFill>
                <a:schemeClr val="accent1"/>
              </a:solidFill>
              <a:cs typeface="Arial" panose="020B0604020202020204" pitchFamily="34" charset="0"/>
            </a:endParaRPr>
          </a:p>
        </p:txBody>
      </p:sp>
      <p:sp>
        <p:nvSpPr>
          <p:cNvPr id="11" name="矩形 259"/>
          <p:cNvSpPr>
            <a:spLocks noChangeArrowheads="1"/>
          </p:cNvSpPr>
          <p:nvPr/>
        </p:nvSpPr>
        <p:spPr bwMode="auto">
          <a:xfrm>
            <a:off x="1028775" y="2271787"/>
            <a:ext cx="540060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en-US" altLang="zh-CN" sz="6000" b="1" dirty="0">
                <a:solidFill>
                  <a:schemeClr val="accent1"/>
                </a:solidFill>
                <a:cs typeface="Arial" panose="020B0604020202020204" pitchFamily="34" charset="0"/>
              </a:rPr>
              <a:t>PHP</a:t>
            </a:r>
            <a:r>
              <a:rPr lang="zh-CN" altLang="en-US" sz="6000" b="1" dirty="0">
                <a:solidFill>
                  <a:schemeClr val="accent1"/>
                </a:solidFill>
                <a:cs typeface="Arial" panose="020B0604020202020204" pitchFamily="34" charset="0"/>
              </a:rPr>
              <a:t>设计模式</a:t>
            </a:r>
            <a:endParaRPr lang="en-US" altLang="zh-CN" sz="6000" b="1" dirty="0">
              <a:solidFill>
                <a:schemeClr val="accent6"/>
              </a:solidFill>
              <a:cs typeface="Arial" panose="020B0604020202020204" pitchFamily="34" charset="0"/>
            </a:endParaRPr>
          </a:p>
        </p:txBody>
      </p:sp>
      <p:sp>
        <p:nvSpPr>
          <p:cNvPr id="12" name="矩形 259"/>
          <p:cNvSpPr>
            <a:spLocks noChangeArrowheads="1"/>
          </p:cNvSpPr>
          <p:nvPr/>
        </p:nvSpPr>
        <p:spPr bwMode="auto">
          <a:xfrm>
            <a:off x="1028775" y="4805513"/>
            <a:ext cx="4176463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1400" dirty="0">
                <a:solidFill>
                  <a:schemeClr val="accent1"/>
                </a:solidFill>
                <a:cs typeface="Arial" panose="020B0604020202020204" pitchFamily="34" charset="0"/>
              </a:rPr>
              <a:t>主讲人：陈聪颖</a:t>
            </a:r>
            <a:r>
              <a:rPr lang="en-US" altLang="zh-CN" sz="1400" dirty="0">
                <a:solidFill>
                  <a:schemeClr val="accent1"/>
                </a:solidFill>
                <a:cs typeface="Arial" panose="020B0604020202020204" pitchFamily="34" charset="0"/>
              </a:rPr>
              <a:t> &lt;chencongying@myhexin.com&gt;</a:t>
            </a:r>
            <a:endParaRPr lang="zh-CN" altLang="en-US" sz="1400" dirty="0">
              <a:solidFill>
                <a:schemeClr val="accent1"/>
              </a:solidFill>
              <a:cs typeface="Arial" panose="020B0604020202020204" pitchFamily="34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40" t="20132"/>
          <a:stretch>
            <a:fillRect/>
          </a:stretch>
        </p:blipFill>
        <p:spPr>
          <a:xfrm>
            <a:off x="6253909" y="1672109"/>
            <a:ext cx="6604488" cy="55605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9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任意多边形 36"/>
          <p:cNvSpPr/>
          <p:nvPr/>
        </p:nvSpPr>
        <p:spPr bwMode="auto">
          <a:xfrm>
            <a:off x="0" y="1840924"/>
            <a:ext cx="5254752" cy="3808859"/>
          </a:xfrm>
          <a:custGeom>
            <a:avLst/>
            <a:gdLst>
              <a:gd name="connsiteX0" fmla="*/ 0 w 5254752"/>
              <a:gd name="connsiteY0" fmla="*/ 0 h 3808859"/>
              <a:gd name="connsiteX1" fmla="*/ 2094866 w 5254752"/>
              <a:gd name="connsiteY1" fmla="*/ 0 h 3808859"/>
              <a:gd name="connsiteX2" fmla="*/ 3657269 w 5254752"/>
              <a:gd name="connsiteY2" fmla="*/ 0 h 3808859"/>
              <a:gd name="connsiteX3" fmla="*/ 3693071 w 5254752"/>
              <a:gd name="connsiteY3" fmla="*/ 0 h 3808859"/>
              <a:gd name="connsiteX4" fmla="*/ 3793929 w 5254752"/>
              <a:gd name="connsiteY4" fmla="*/ 0 h 3808859"/>
              <a:gd name="connsiteX5" fmla="*/ 4797400 w 5254752"/>
              <a:gd name="connsiteY5" fmla="*/ 0 h 3808859"/>
              <a:gd name="connsiteX6" fmla="*/ 5254752 w 5254752"/>
              <a:gd name="connsiteY6" fmla="*/ 457896 h 3808859"/>
              <a:gd name="connsiteX7" fmla="*/ 5254752 w 5254752"/>
              <a:gd name="connsiteY7" fmla="*/ 3350964 h 3808859"/>
              <a:gd name="connsiteX8" fmla="*/ 4797400 w 5254752"/>
              <a:gd name="connsiteY8" fmla="*/ 3808859 h 3808859"/>
              <a:gd name="connsiteX9" fmla="*/ 3718218 w 5254752"/>
              <a:gd name="connsiteY9" fmla="*/ 3808859 h 3808859"/>
              <a:gd name="connsiteX10" fmla="*/ 3693071 w 5254752"/>
              <a:gd name="connsiteY10" fmla="*/ 3808859 h 3808859"/>
              <a:gd name="connsiteX11" fmla="*/ 3544443 w 5254752"/>
              <a:gd name="connsiteY11" fmla="*/ 3808859 h 3808859"/>
              <a:gd name="connsiteX12" fmla="*/ 2094866 w 5254752"/>
              <a:gd name="connsiteY12" fmla="*/ 3808859 h 3808859"/>
              <a:gd name="connsiteX13" fmla="*/ 0 w 5254752"/>
              <a:gd name="connsiteY13" fmla="*/ 3808859 h 3808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254752" h="3808859">
                <a:moveTo>
                  <a:pt x="0" y="0"/>
                </a:moveTo>
                <a:lnTo>
                  <a:pt x="2094866" y="0"/>
                </a:lnTo>
                <a:cubicBezTo>
                  <a:pt x="2770500" y="0"/>
                  <a:pt x="3277225" y="0"/>
                  <a:pt x="3657269" y="0"/>
                </a:cubicBezTo>
                <a:lnTo>
                  <a:pt x="3693071" y="0"/>
                </a:lnTo>
                <a:lnTo>
                  <a:pt x="3793929" y="0"/>
                </a:lnTo>
                <a:cubicBezTo>
                  <a:pt x="4797400" y="0"/>
                  <a:pt x="4797400" y="0"/>
                  <a:pt x="4797400" y="0"/>
                </a:cubicBezTo>
                <a:cubicBezTo>
                  <a:pt x="5046865" y="0"/>
                  <a:pt x="5254752" y="208134"/>
                  <a:pt x="5254752" y="457896"/>
                </a:cubicBezTo>
                <a:lnTo>
                  <a:pt x="5254752" y="3350964"/>
                </a:lnTo>
                <a:cubicBezTo>
                  <a:pt x="5254752" y="3611131"/>
                  <a:pt x="5046865" y="3808859"/>
                  <a:pt x="4797400" y="3808859"/>
                </a:cubicBezTo>
                <a:cubicBezTo>
                  <a:pt x="4375129" y="3808859"/>
                  <a:pt x="4018838" y="3808859"/>
                  <a:pt x="3718218" y="3808859"/>
                </a:cubicBezTo>
                <a:lnTo>
                  <a:pt x="3693071" y="3808859"/>
                </a:lnTo>
                <a:lnTo>
                  <a:pt x="3544443" y="3808859"/>
                </a:lnTo>
                <a:cubicBezTo>
                  <a:pt x="2094866" y="3808859"/>
                  <a:pt x="2094866" y="3808859"/>
                  <a:pt x="2094866" y="3808859"/>
                </a:cubicBezTo>
                <a:lnTo>
                  <a:pt x="0" y="380885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128580" tIns="64290" rIns="128580" bIns="64290" numCol="1" anchor="t" anchorCtr="0" compatLnSpc="1">
            <a:noAutofit/>
          </a:bodyPr>
          <a:lstStyle/>
          <a:p>
            <a:endParaRPr lang="zh-CN" altLang="en-US" dirty="0">
              <a:latin typeface="微软雅黑" panose="020B0503020204020204" pitchFamily="34" charset="-122"/>
            </a:endParaRPr>
          </a:p>
        </p:txBody>
      </p:sp>
      <p:sp>
        <p:nvSpPr>
          <p:cNvPr id="12" name="MH_SubTitle_1"/>
          <p:cNvSpPr/>
          <p:nvPr>
            <p:custDataLst>
              <p:tags r:id="rId1"/>
            </p:custDataLst>
          </p:nvPr>
        </p:nvSpPr>
        <p:spPr>
          <a:xfrm>
            <a:off x="6673753" y="2320181"/>
            <a:ext cx="4090131" cy="805301"/>
          </a:xfrm>
          <a:custGeom>
            <a:avLst/>
            <a:gdLst>
              <a:gd name="connsiteX0" fmla="*/ 2 w 3878508"/>
              <a:gd name="connsiteY0" fmla="*/ 0 h 762904"/>
              <a:gd name="connsiteX1" fmla="*/ 3497056 w 3878508"/>
              <a:gd name="connsiteY1" fmla="*/ 0 h 762904"/>
              <a:gd name="connsiteX2" fmla="*/ 3878508 w 3878508"/>
              <a:gd name="connsiteY2" fmla="*/ 381452 h 762904"/>
              <a:gd name="connsiteX3" fmla="*/ 3878507 w 3878508"/>
              <a:gd name="connsiteY3" fmla="*/ 381452 h 762904"/>
              <a:gd name="connsiteX4" fmla="*/ 3497055 w 3878508"/>
              <a:gd name="connsiteY4" fmla="*/ 762904 h 762904"/>
              <a:gd name="connsiteX5" fmla="*/ 0 w 3878508"/>
              <a:gd name="connsiteY5" fmla="*/ 762903 h 762904"/>
              <a:gd name="connsiteX6" fmla="*/ 51426 w 3878508"/>
              <a:gd name="connsiteY6" fmla="*/ 720474 h 762904"/>
              <a:gd name="connsiteX7" fmla="*/ 191853 w 3878508"/>
              <a:gd name="connsiteY7" fmla="*/ 381451 h 762904"/>
              <a:gd name="connsiteX8" fmla="*/ 51426 w 3878508"/>
              <a:gd name="connsiteY8" fmla="*/ 42429 h 762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78508" h="762904">
                <a:moveTo>
                  <a:pt x="2" y="0"/>
                </a:moveTo>
                <a:lnTo>
                  <a:pt x="3497056" y="0"/>
                </a:lnTo>
                <a:cubicBezTo>
                  <a:pt x="3707726" y="0"/>
                  <a:pt x="3878508" y="170782"/>
                  <a:pt x="3878508" y="381452"/>
                </a:cubicBezTo>
                <a:lnTo>
                  <a:pt x="3878507" y="381452"/>
                </a:lnTo>
                <a:cubicBezTo>
                  <a:pt x="3878507" y="592122"/>
                  <a:pt x="3707725" y="762904"/>
                  <a:pt x="3497055" y="762904"/>
                </a:cubicBezTo>
                <a:lnTo>
                  <a:pt x="0" y="762903"/>
                </a:lnTo>
                <a:lnTo>
                  <a:pt x="51426" y="720474"/>
                </a:lnTo>
                <a:cubicBezTo>
                  <a:pt x="138189" y="633710"/>
                  <a:pt x="191853" y="513848"/>
                  <a:pt x="191853" y="381451"/>
                </a:cubicBezTo>
                <a:cubicBezTo>
                  <a:pt x="191853" y="249055"/>
                  <a:pt x="138189" y="129192"/>
                  <a:pt x="51426" y="42429"/>
                </a:cubicBezTo>
                <a:close/>
              </a:path>
            </a:pathLst>
          </a:cu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什么是设计模式？为什么要用？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ctr"/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WHAT? WHY?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2" name="MH_Other_1"/>
          <p:cNvSpPr/>
          <p:nvPr>
            <p:custDataLst>
              <p:tags r:id="rId2"/>
            </p:custDataLst>
          </p:nvPr>
        </p:nvSpPr>
        <p:spPr>
          <a:xfrm>
            <a:off x="5968904" y="2320181"/>
            <a:ext cx="803628" cy="805301"/>
          </a:xfrm>
          <a:prstGeom prst="ellipse">
            <a:avLst/>
          </a:prstGeom>
          <a:solidFill>
            <a:srgbClr val="FFFFFF"/>
          </a:solidFill>
          <a:ln w="57150" cap="flat" cmpd="sng" algn="ctr">
            <a:solidFill>
              <a:schemeClr val="accent1"/>
            </a:solidFill>
            <a:prstDash val="solid"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r>
              <a:rPr lang="en-US" altLang="zh-CN" sz="4220" kern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1</a:t>
            </a:r>
            <a:endParaRPr lang="en-US" altLang="zh-CN" sz="4220" kern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" name="MH_SubTitle_2"/>
          <p:cNvSpPr/>
          <p:nvPr>
            <p:custDataLst>
              <p:tags r:id="rId3"/>
            </p:custDataLst>
          </p:nvPr>
        </p:nvSpPr>
        <p:spPr>
          <a:xfrm>
            <a:off x="6673753" y="3321367"/>
            <a:ext cx="4090131" cy="805301"/>
          </a:xfrm>
          <a:custGeom>
            <a:avLst/>
            <a:gdLst>
              <a:gd name="connsiteX0" fmla="*/ 2 w 3878508"/>
              <a:gd name="connsiteY0" fmla="*/ 0 h 762904"/>
              <a:gd name="connsiteX1" fmla="*/ 3497056 w 3878508"/>
              <a:gd name="connsiteY1" fmla="*/ 0 h 762904"/>
              <a:gd name="connsiteX2" fmla="*/ 3878508 w 3878508"/>
              <a:gd name="connsiteY2" fmla="*/ 381452 h 762904"/>
              <a:gd name="connsiteX3" fmla="*/ 3878507 w 3878508"/>
              <a:gd name="connsiteY3" fmla="*/ 381452 h 762904"/>
              <a:gd name="connsiteX4" fmla="*/ 3497055 w 3878508"/>
              <a:gd name="connsiteY4" fmla="*/ 762904 h 762904"/>
              <a:gd name="connsiteX5" fmla="*/ 0 w 3878508"/>
              <a:gd name="connsiteY5" fmla="*/ 762903 h 762904"/>
              <a:gd name="connsiteX6" fmla="*/ 51426 w 3878508"/>
              <a:gd name="connsiteY6" fmla="*/ 720474 h 762904"/>
              <a:gd name="connsiteX7" fmla="*/ 191853 w 3878508"/>
              <a:gd name="connsiteY7" fmla="*/ 381451 h 762904"/>
              <a:gd name="connsiteX8" fmla="*/ 51426 w 3878508"/>
              <a:gd name="connsiteY8" fmla="*/ 42429 h 762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78508" h="762904">
                <a:moveTo>
                  <a:pt x="2" y="0"/>
                </a:moveTo>
                <a:lnTo>
                  <a:pt x="3497056" y="0"/>
                </a:lnTo>
                <a:cubicBezTo>
                  <a:pt x="3707726" y="0"/>
                  <a:pt x="3878508" y="170782"/>
                  <a:pt x="3878508" y="381452"/>
                </a:cubicBezTo>
                <a:lnTo>
                  <a:pt x="3878507" y="381452"/>
                </a:lnTo>
                <a:cubicBezTo>
                  <a:pt x="3878507" y="592122"/>
                  <a:pt x="3707725" y="762904"/>
                  <a:pt x="3497055" y="762904"/>
                </a:cubicBezTo>
                <a:lnTo>
                  <a:pt x="0" y="762903"/>
                </a:lnTo>
                <a:lnTo>
                  <a:pt x="51426" y="720474"/>
                </a:lnTo>
                <a:cubicBezTo>
                  <a:pt x="138189" y="633710"/>
                  <a:pt x="191853" y="513848"/>
                  <a:pt x="191853" y="381451"/>
                </a:cubicBezTo>
                <a:cubicBezTo>
                  <a:pt x="191853" y="249055"/>
                  <a:pt x="138189" y="129192"/>
                  <a:pt x="51426" y="42429"/>
                </a:cubicBezTo>
                <a:close/>
              </a:path>
            </a:pathLst>
          </a:cu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/>
          <a:p>
            <a:pPr lvl="0" algn="ctr"/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怎么用？放码过来！</a:t>
            </a:r>
            <a:endParaRPr lang="en-US" altLang="zh-CN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lvl="0" algn="ctr"/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HOW TO USE? SHOW ME YOUR CODE!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4" name="MH_Other_2"/>
          <p:cNvSpPr/>
          <p:nvPr>
            <p:custDataLst>
              <p:tags r:id="rId4"/>
            </p:custDataLst>
          </p:nvPr>
        </p:nvSpPr>
        <p:spPr>
          <a:xfrm>
            <a:off x="5968904" y="3321367"/>
            <a:ext cx="803628" cy="805301"/>
          </a:xfrm>
          <a:prstGeom prst="ellipse">
            <a:avLst/>
          </a:prstGeom>
          <a:solidFill>
            <a:srgbClr val="FFFFFF"/>
          </a:solidFill>
          <a:ln w="57150" cap="flat" cmpd="sng" algn="ctr">
            <a:solidFill>
              <a:schemeClr val="accent2"/>
            </a:solidFill>
            <a:prstDash val="solid"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r>
              <a:rPr lang="en-US" altLang="zh-CN" sz="4220" kern="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2</a:t>
            </a:r>
            <a:endParaRPr lang="en-US" altLang="zh-CN" sz="4220" kern="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5" name="MH_SubTitle_3"/>
          <p:cNvSpPr/>
          <p:nvPr>
            <p:custDataLst>
              <p:tags r:id="rId5"/>
            </p:custDataLst>
          </p:nvPr>
        </p:nvSpPr>
        <p:spPr>
          <a:xfrm>
            <a:off x="6673753" y="4322553"/>
            <a:ext cx="4090131" cy="805301"/>
          </a:xfrm>
          <a:custGeom>
            <a:avLst/>
            <a:gdLst>
              <a:gd name="connsiteX0" fmla="*/ 2 w 3878508"/>
              <a:gd name="connsiteY0" fmla="*/ 0 h 762904"/>
              <a:gd name="connsiteX1" fmla="*/ 3497056 w 3878508"/>
              <a:gd name="connsiteY1" fmla="*/ 0 h 762904"/>
              <a:gd name="connsiteX2" fmla="*/ 3878508 w 3878508"/>
              <a:gd name="connsiteY2" fmla="*/ 381452 h 762904"/>
              <a:gd name="connsiteX3" fmla="*/ 3878507 w 3878508"/>
              <a:gd name="connsiteY3" fmla="*/ 381452 h 762904"/>
              <a:gd name="connsiteX4" fmla="*/ 3497055 w 3878508"/>
              <a:gd name="connsiteY4" fmla="*/ 762904 h 762904"/>
              <a:gd name="connsiteX5" fmla="*/ 0 w 3878508"/>
              <a:gd name="connsiteY5" fmla="*/ 762903 h 762904"/>
              <a:gd name="connsiteX6" fmla="*/ 51426 w 3878508"/>
              <a:gd name="connsiteY6" fmla="*/ 720474 h 762904"/>
              <a:gd name="connsiteX7" fmla="*/ 191853 w 3878508"/>
              <a:gd name="connsiteY7" fmla="*/ 381451 h 762904"/>
              <a:gd name="connsiteX8" fmla="*/ 51426 w 3878508"/>
              <a:gd name="connsiteY8" fmla="*/ 42429 h 762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78508" h="762904">
                <a:moveTo>
                  <a:pt x="2" y="0"/>
                </a:moveTo>
                <a:lnTo>
                  <a:pt x="3497056" y="0"/>
                </a:lnTo>
                <a:cubicBezTo>
                  <a:pt x="3707726" y="0"/>
                  <a:pt x="3878508" y="170782"/>
                  <a:pt x="3878508" y="381452"/>
                </a:cubicBezTo>
                <a:lnTo>
                  <a:pt x="3878507" y="381452"/>
                </a:lnTo>
                <a:cubicBezTo>
                  <a:pt x="3878507" y="592122"/>
                  <a:pt x="3707725" y="762904"/>
                  <a:pt x="3497055" y="762904"/>
                </a:cubicBezTo>
                <a:lnTo>
                  <a:pt x="0" y="762903"/>
                </a:lnTo>
                <a:lnTo>
                  <a:pt x="51426" y="720474"/>
                </a:lnTo>
                <a:cubicBezTo>
                  <a:pt x="138189" y="633710"/>
                  <a:pt x="191853" y="513848"/>
                  <a:pt x="191853" y="381451"/>
                </a:cubicBezTo>
                <a:cubicBezTo>
                  <a:pt x="191853" y="249055"/>
                  <a:pt x="138189" y="129192"/>
                  <a:pt x="51426" y="42429"/>
                </a:cubicBezTo>
                <a:close/>
              </a:path>
            </a:pathLst>
          </a:custGeom>
          <a:solidFill>
            <a:schemeClr val="accent3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/>
          <a:p>
            <a:pPr lvl="0" algn="ctr"/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总结语</a:t>
            </a:r>
            <a:endParaRPr lang="en-US" altLang="zh-CN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lvl="0" algn="ctr"/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SUMMARY 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6" name="MH_Other_3"/>
          <p:cNvSpPr/>
          <p:nvPr>
            <p:custDataLst>
              <p:tags r:id="rId6"/>
            </p:custDataLst>
          </p:nvPr>
        </p:nvSpPr>
        <p:spPr>
          <a:xfrm>
            <a:off x="5968904" y="4322553"/>
            <a:ext cx="803628" cy="805301"/>
          </a:xfrm>
          <a:prstGeom prst="ellipse">
            <a:avLst/>
          </a:prstGeom>
          <a:solidFill>
            <a:srgbClr val="FFFFFF"/>
          </a:solidFill>
          <a:ln w="57150" cap="flat" cmpd="sng" algn="ctr">
            <a:solidFill>
              <a:schemeClr val="accent3"/>
            </a:solidFill>
            <a:prstDash val="solid"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r>
              <a:rPr lang="en-US" altLang="zh-CN" sz="4220" kern="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3</a:t>
            </a:r>
            <a:endParaRPr lang="en-US" altLang="zh-CN" sz="4220" kern="0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MH_Others_1"/>
          <p:cNvSpPr txBox="1"/>
          <p:nvPr>
            <p:custDataLst>
              <p:tags r:id="rId7"/>
            </p:custDataLst>
          </p:nvPr>
        </p:nvSpPr>
        <p:spPr>
          <a:xfrm>
            <a:off x="956767" y="2964274"/>
            <a:ext cx="3997487" cy="101566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zh-CN" altLang="en-US" sz="6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讲些什么</a:t>
            </a:r>
            <a:endParaRPr lang="zh-CN" altLang="en-US" sz="6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7" name="MH_Others_2"/>
          <p:cNvSpPr txBox="1"/>
          <p:nvPr>
            <p:custDataLst>
              <p:tags r:id="rId8"/>
            </p:custDataLst>
          </p:nvPr>
        </p:nvSpPr>
        <p:spPr>
          <a:xfrm>
            <a:off x="2094866" y="3979935"/>
            <a:ext cx="2844872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CONTENTS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9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>
            <p:custDataLst>
              <p:tags r:id="rId1"/>
            </p:custDataLst>
          </p:nvPr>
        </p:nvCxnSpPr>
        <p:spPr>
          <a:xfrm>
            <a:off x="6152391" y="3848208"/>
            <a:ext cx="4143672" cy="0"/>
          </a:xfrm>
          <a:prstGeom prst="line">
            <a:avLst/>
          </a:prstGeom>
          <a:ln w="12700">
            <a:solidFill>
              <a:schemeClr val="tx1">
                <a:lumMod val="20000"/>
                <a:lumOff val="80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5800662" y="2994348"/>
            <a:ext cx="5370436" cy="7829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zh-CN" altLang="en-US" sz="4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什么是设计模式？</a:t>
            </a:r>
            <a:endParaRPr lang="zh-CN" altLang="en-US" sz="4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244799" y="1708340"/>
            <a:ext cx="3828393" cy="4080857"/>
            <a:chOff x="999059" y="1708340"/>
            <a:chExt cx="3828393" cy="4080857"/>
          </a:xfrm>
        </p:grpSpPr>
        <p:grpSp>
          <p:nvGrpSpPr>
            <p:cNvPr id="15" name="组合 14"/>
            <p:cNvGrpSpPr/>
            <p:nvPr/>
          </p:nvGrpSpPr>
          <p:grpSpPr>
            <a:xfrm>
              <a:off x="999059" y="1708340"/>
              <a:ext cx="3828393" cy="4080857"/>
              <a:chOff x="3835400" y="1789113"/>
              <a:chExt cx="1468438" cy="1565275"/>
            </a:xfrm>
          </p:grpSpPr>
          <p:sp>
            <p:nvSpPr>
              <p:cNvPr id="18" name="Freeform 5"/>
              <p:cNvSpPr/>
              <p:nvPr/>
            </p:nvSpPr>
            <p:spPr bwMode="auto">
              <a:xfrm>
                <a:off x="4005263" y="1789113"/>
                <a:ext cx="1298575" cy="1565275"/>
              </a:xfrm>
              <a:custGeom>
                <a:avLst/>
                <a:gdLst>
                  <a:gd name="T0" fmla="*/ 304 w 304"/>
                  <a:gd name="T1" fmla="*/ 322 h 366"/>
                  <a:gd name="T2" fmla="*/ 260 w 304"/>
                  <a:gd name="T3" fmla="*/ 366 h 366"/>
                  <a:gd name="T4" fmla="*/ 0 w 304"/>
                  <a:gd name="T5" fmla="*/ 366 h 366"/>
                  <a:gd name="T6" fmla="*/ 0 w 304"/>
                  <a:gd name="T7" fmla="*/ 0 h 366"/>
                  <a:gd name="T8" fmla="*/ 260 w 304"/>
                  <a:gd name="T9" fmla="*/ 0 h 366"/>
                  <a:gd name="T10" fmla="*/ 304 w 304"/>
                  <a:gd name="T11" fmla="*/ 44 h 366"/>
                  <a:gd name="T12" fmla="*/ 304 w 304"/>
                  <a:gd name="T13" fmla="*/ 322 h 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4" h="366">
                    <a:moveTo>
                      <a:pt x="304" y="322"/>
                    </a:moveTo>
                    <a:cubicBezTo>
                      <a:pt x="304" y="347"/>
                      <a:pt x="285" y="366"/>
                      <a:pt x="260" y="366"/>
                    </a:cubicBezTo>
                    <a:cubicBezTo>
                      <a:pt x="0" y="366"/>
                      <a:pt x="0" y="366"/>
                      <a:pt x="0" y="36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60" y="0"/>
                      <a:pt x="260" y="0"/>
                      <a:pt x="260" y="0"/>
                    </a:cubicBezTo>
                    <a:cubicBezTo>
                      <a:pt x="285" y="0"/>
                      <a:pt x="304" y="20"/>
                      <a:pt x="304" y="44"/>
                    </a:cubicBezTo>
                    <a:lnTo>
                      <a:pt x="304" y="322"/>
                    </a:lnTo>
                    <a:close/>
                  </a:path>
                </a:pathLst>
              </a:cu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8580" tIns="64290" rIns="128580" bIns="64290" numCol="1" anchor="t" anchorCtr="0" compatLnSpc="1"/>
              <a:lstStyle/>
              <a:p>
                <a:endParaRPr lang="zh-CN" altLang="en-US" dirty="0">
                  <a:latin typeface="微软雅黑" panose="020B0503020204020204" pitchFamily="34" charset="-122"/>
                </a:endParaRPr>
              </a:p>
            </p:txBody>
          </p:sp>
          <p:sp>
            <p:nvSpPr>
              <p:cNvPr id="19" name="Freeform 6"/>
              <p:cNvSpPr/>
              <p:nvPr/>
            </p:nvSpPr>
            <p:spPr bwMode="auto">
              <a:xfrm>
                <a:off x="3967163" y="1789113"/>
                <a:ext cx="1298575" cy="1565275"/>
              </a:xfrm>
              <a:custGeom>
                <a:avLst/>
                <a:gdLst>
                  <a:gd name="T0" fmla="*/ 304 w 304"/>
                  <a:gd name="T1" fmla="*/ 322 h 366"/>
                  <a:gd name="T2" fmla="*/ 260 w 304"/>
                  <a:gd name="T3" fmla="*/ 366 h 366"/>
                  <a:gd name="T4" fmla="*/ 0 w 304"/>
                  <a:gd name="T5" fmla="*/ 366 h 366"/>
                  <a:gd name="T6" fmla="*/ 0 w 304"/>
                  <a:gd name="T7" fmla="*/ 0 h 366"/>
                  <a:gd name="T8" fmla="*/ 260 w 304"/>
                  <a:gd name="T9" fmla="*/ 0 h 366"/>
                  <a:gd name="T10" fmla="*/ 304 w 304"/>
                  <a:gd name="T11" fmla="*/ 44 h 366"/>
                  <a:gd name="T12" fmla="*/ 304 w 304"/>
                  <a:gd name="T13" fmla="*/ 322 h 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4" h="366">
                    <a:moveTo>
                      <a:pt x="304" y="322"/>
                    </a:moveTo>
                    <a:cubicBezTo>
                      <a:pt x="304" y="347"/>
                      <a:pt x="284" y="366"/>
                      <a:pt x="260" y="366"/>
                    </a:cubicBezTo>
                    <a:cubicBezTo>
                      <a:pt x="0" y="366"/>
                      <a:pt x="0" y="366"/>
                      <a:pt x="0" y="36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60" y="0"/>
                      <a:pt x="260" y="0"/>
                      <a:pt x="260" y="0"/>
                    </a:cubicBezTo>
                    <a:cubicBezTo>
                      <a:pt x="284" y="0"/>
                      <a:pt x="304" y="20"/>
                      <a:pt x="304" y="44"/>
                    </a:cubicBezTo>
                    <a:lnTo>
                      <a:pt x="304" y="32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8580" tIns="64290" rIns="128580" bIns="64290" numCol="1" anchor="t" anchorCtr="0" compatLnSpc="1"/>
              <a:lstStyle/>
              <a:p>
                <a:endParaRPr lang="zh-CN" altLang="en-US" dirty="0">
                  <a:latin typeface="微软雅黑" panose="020B0503020204020204" pitchFamily="34" charset="-122"/>
                </a:endParaRPr>
              </a:p>
            </p:txBody>
          </p:sp>
          <p:sp>
            <p:nvSpPr>
              <p:cNvPr id="20" name="Rectangle 8"/>
              <p:cNvSpPr>
                <a:spLocks noChangeArrowheads="1"/>
              </p:cNvSpPr>
              <p:nvPr/>
            </p:nvSpPr>
            <p:spPr bwMode="auto">
              <a:xfrm>
                <a:off x="4318000" y="2117726"/>
                <a:ext cx="674688" cy="342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128580" tIns="64290" rIns="128580" bIns="64290" numCol="1" anchor="t" anchorCtr="0" compatLnSpc="1"/>
              <a:lstStyle/>
              <a:p>
                <a:endParaRPr lang="zh-CN" altLang="en-US" dirty="0">
                  <a:latin typeface="微软雅黑" panose="020B0503020204020204" pitchFamily="34" charset="-122"/>
                </a:endParaRPr>
              </a:p>
            </p:txBody>
          </p:sp>
          <p:sp>
            <p:nvSpPr>
              <p:cNvPr id="21" name="Freeform 9"/>
              <p:cNvSpPr/>
              <p:nvPr/>
            </p:nvSpPr>
            <p:spPr bwMode="auto">
              <a:xfrm>
                <a:off x="3835400" y="1839913"/>
                <a:ext cx="234950" cy="73025"/>
              </a:xfrm>
              <a:custGeom>
                <a:avLst/>
                <a:gdLst>
                  <a:gd name="T0" fmla="*/ 55 w 55"/>
                  <a:gd name="T1" fmla="*/ 8 h 17"/>
                  <a:gd name="T2" fmla="*/ 46 w 55"/>
                  <a:gd name="T3" fmla="*/ 17 h 17"/>
                  <a:gd name="T4" fmla="*/ 8 w 55"/>
                  <a:gd name="T5" fmla="*/ 17 h 17"/>
                  <a:gd name="T6" fmla="*/ 0 w 55"/>
                  <a:gd name="T7" fmla="*/ 8 h 17"/>
                  <a:gd name="T8" fmla="*/ 0 w 55"/>
                  <a:gd name="T9" fmla="*/ 8 h 17"/>
                  <a:gd name="T10" fmla="*/ 8 w 55"/>
                  <a:gd name="T11" fmla="*/ 0 h 17"/>
                  <a:gd name="T12" fmla="*/ 46 w 55"/>
                  <a:gd name="T13" fmla="*/ 0 h 17"/>
                  <a:gd name="T14" fmla="*/ 55 w 55"/>
                  <a:gd name="T15" fmla="*/ 8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" h="17">
                    <a:moveTo>
                      <a:pt x="55" y="8"/>
                    </a:moveTo>
                    <a:cubicBezTo>
                      <a:pt x="55" y="13"/>
                      <a:pt x="51" y="17"/>
                      <a:pt x="46" y="17"/>
                    </a:cubicBezTo>
                    <a:cubicBezTo>
                      <a:pt x="8" y="17"/>
                      <a:pt x="8" y="17"/>
                      <a:pt x="8" y="17"/>
                    </a:cubicBezTo>
                    <a:cubicBezTo>
                      <a:pt x="3" y="17"/>
                      <a:pt x="0" y="13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3"/>
                      <a:pt x="3" y="0"/>
                      <a:pt x="8" y="0"/>
                    </a:cubicBezTo>
                    <a:cubicBezTo>
                      <a:pt x="46" y="0"/>
                      <a:pt x="46" y="0"/>
                      <a:pt x="46" y="0"/>
                    </a:cubicBezTo>
                    <a:cubicBezTo>
                      <a:pt x="51" y="0"/>
                      <a:pt x="55" y="3"/>
                      <a:pt x="55" y="8"/>
                    </a:cubicBez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8580" tIns="64290" rIns="128580" bIns="64290" numCol="1" anchor="t" anchorCtr="0" compatLnSpc="1"/>
              <a:lstStyle/>
              <a:p>
                <a:endParaRPr lang="zh-CN" altLang="en-US" dirty="0">
                  <a:latin typeface="微软雅黑" panose="020B0503020204020204" pitchFamily="34" charset="-122"/>
                </a:endParaRPr>
              </a:p>
            </p:txBody>
          </p:sp>
          <p:sp>
            <p:nvSpPr>
              <p:cNvPr id="22" name="Freeform 10"/>
              <p:cNvSpPr/>
              <p:nvPr/>
            </p:nvSpPr>
            <p:spPr bwMode="auto">
              <a:xfrm>
                <a:off x="3835400" y="1976438"/>
                <a:ext cx="234950" cy="73025"/>
              </a:xfrm>
              <a:custGeom>
                <a:avLst/>
                <a:gdLst>
                  <a:gd name="T0" fmla="*/ 55 w 55"/>
                  <a:gd name="T1" fmla="*/ 9 h 17"/>
                  <a:gd name="T2" fmla="*/ 46 w 55"/>
                  <a:gd name="T3" fmla="*/ 17 h 17"/>
                  <a:gd name="T4" fmla="*/ 8 w 55"/>
                  <a:gd name="T5" fmla="*/ 17 h 17"/>
                  <a:gd name="T6" fmla="*/ 0 w 55"/>
                  <a:gd name="T7" fmla="*/ 9 h 17"/>
                  <a:gd name="T8" fmla="*/ 0 w 55"/>
                  <a:gd name="T9" fmla="*/ 9 h 17"/>
                  <a:gd name="T10" fmla="*/ 8 w 55"/>
                  <a:gd name="T11" fmla="*/ 0 h 17"/>
                  <a:gd name="T12" fmla="*/ 46 w 55"/>
                  <a:gd name="T13" fmla="*/ 0 h 17"/>
                  <a:gd name="T14" fmla="*/ 55 w 55"/>
                  <a:gd name="T15" fmla="*/ 9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" h="17">
                    <a:moveTo>
                      <a:pt x="55" y="9"/>
                    </a:moveTo>
                    <a:cubicBezTo>
                      <a:pt x="55" y="13"/>
                      <a:pt x="51" y="17"/>
                      <a:pt x="46" y="17"/>
                    </a:cubicBezTo>
                    <a:cubicBezTo>
                      <a:pt x="8" y="17"/>
                      <a:pt x="8" y="17"/>
                      <a:pt x="8" y="17"/>
                    </a:cubicBezTo>
                    <a:cubicBezTo>
                      <a:pt x="3" y="17"/>
                      <a:pt x="0" y="13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4"/>
                      <a:pt x="3" y="0"/>
                      <a:pt x="8" y="0"/>
                    </a:cubicBezTo>
                    <a:cubicBezTo>
                      <a:pt x="46" y="0"/>
                      <a:pt x="46" y="0"/>
                      <a:pt x="46" y="0"/>
                    </a:cubicBezTo>
                    <a:cubicBezTo>
                      <a:pt x="51" y="0"/>
                      <a:pt x="55" y="4"/>
                      <a:pt x="55" y="9"/>
                    </a:cubicBez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8580" tIns="64290" rIns="128580" bIns="64290" numCol="1" anchor="t" anchorCtr="0" compatLnSpc="1"/>
              <a:lstStyle/>
              <a:p>
                <a:endParaRPr lang="zh-CN" altLang="en-US" dirty="0">
                  <a:latin typeface="微软雅黑" panose="020B0503020204020204" pitchFamily="34" charset="-122"/>
                </a:endParaRPr>
              </a:p>
            </p:txBody>
          </p:sp>
          <p:sp>
            <p:nvSpPr>
              <p:cNvPr id="23" name="Freeform 11"/>
              <p:cNvSpPr/>
              <p:nvPr/>
            </p:nvSpPr>
            <p:spPr bwMode="auto">
              <a:xfrm>
                <a:off x="3835400" y="2117726"/>
                <a:ext cx="234950" cy="73025"/>
              </a:xfrm>
              <a:custGeom>
                <a:avLst/>
                <a:gdLst>
                  <a:gd name="T0" fmla="*/ 55 w 55"/>
                  <a:gd name="T1" fmla="*/ 8 h 17"/>
                  <a:gd name="T2" fmla="*/ 46 w 55"/>
                  <a:gd name="T3" fmla="*/ 17 h 17"/>
                  <a:gd name="T4" fmla="*/ 8 w 55"/>
                  <a:gd name="T5" fmla="*/ 17 h 17"/>
                  <a:gd name="T6" fmla="*/ 0 w 55"/>
                  <a:gd name="T7" fmla="*/ 8 h 17"/>
                  <a:gd name="T8" fmla="*/ 0 w 55"/>
                  <a:gd name="T9" fmla="*/ 8 h 17"/>
                  <a:gd name="T10" fmla="*/ 8 w 55"/>
                  <a:gd name="T11" fmla="*/ 0 h 17"/>
                  <a:gd name="T12" fmla="*/ 46 w 55"/>
                  <a:gd name="T13" fmla="*/ 0 h 17"/>
                  <a:gd name="T14" fmla="*/ 55 w 55"/>
                  <a:gd name="T15" fmla="*/ 8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" h="17">
                    <a:moveTo>
                      <a:pt x="55" y="8"/>
                    </a:moveTo>
                    <a:cubicBezTo>
                      <a:pt x="55" y="13"/>
                      <a:pt x="51" y="17"/>
                      <a:pt x="46" y="17"/>
                    </a:cubicBezTo>
                    <a:cubicBezTo>
                      <a:pt x="8" y="17"/>
                      <a:pt x="8" y="17"/>
                      <a:pt x="8" y="17"/>
                    </a:cubicBezTo>
                    <a:cubicBezTo>
                      <a:pt x="3" y="17"/>
                      <a:pt x="0" y="13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4"/>
                      <a:pt x="3" y="0"/>
                      <a:pt x="8" y="0"/>
                    </a:cubicBezTo>
                    <a:cubicBezTo>
                      <a:pt x="46" y="0"/>
                      <a:pt x="46" y="0"/>
                      <a:pt x="46" y="0"/>
                    </a:cubicBezTo>
                    <a:cubicBezTo>
                      <a:pt x="51" y="0"/>
                      <a:pt x="55" y="4"/>
                      <a:pt x="55" y="8"/>
                    </a:cubicBez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8580" tIns="64290" rIns="128580" bIns="64290" numCol="1" anchor="t" anchorCtr="0" compatLnSpc="1"/>
              <a:lstStyle/>
              <a:p>
                <a:endParaRPr lang="zh-CN" altLang="en-US" dirty="0">
                  <a:latin typeface="微软雅黑" panose="020B0503020204020204" pitchFamily="34" charset="-122"/>
                </a:endParaRPr>
              </a:p>
            </p:txBody>
          </p:sp>
          <p:sp>
            <p:nvSpPr>
              <p:cNvPr id="24" name="Freeform 12"/>
              <p:cNvSpPr/>
              <p:nvPr/>
            </p:nvSpPr>
            <p:spPr bwMode="auto">
              <a:xfrm>
                <a:off x="3835400" y="2259013"/>
                <a:ext cx="234950" cy="73025"/>
              </a:xfrm>
              <a:custGeom>
                <a:avLst/>
                <a:gdLst>
                  <a:gd name="T0" fmla="*/ 55 w 55"/>
                  <a:gd name="T1" fmla="*/ 8 h 17"/>
                  <a:gd name="T2" fmla="*/ 46 w 55"/>
                  <a:gd name="T3" fmla="*/ 17 h 17"/>
                  <a:gd name="T4" fmla="*/ 8 w 55"/>
                  <a:gd name="T5" fmla="*/ 17 h 17"/>
                  <a:gd name="T6" fmla="*/ 0 w 55"/>
                  <a:gd name="T7" fmla="*/ 8 h 17"/>
                  <a:gd name="T8" fmla="*/ 0 w 55"/>
                  <a:gd name="T9" fmla="*/ 8 h 17"/>
                  <a:gd name="T10" fmla="*/ 8 w 55"/>
                  <a:gd name="T11" fmla="*/ 0 h 17"/>
                  <a:gd name="T12" fmla="*/ 46 w 55"/>
                  <a:gd name="T13" fmla="*/ 0 h 17"/>
                  <a:gd name="T14" fmla="*/ 55 w 55"/>
                  <a:gd name="T15" fmla="*/ 8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" h="17">
                    <a:moveTo>
                      <a:pt x="55" y="8"/>
                    </a:moveTo>
                    <a:cubicBezTo>
                      <a:pt x="55" y="13"/>
                      <a:pt x="51" y="17"/>
                      <a:pt x="46" y="17"/>
                    </a:cubicBezTo>
                    <a:cubicBezTo>
                      <a:pt x="8" y="17"/>
                      <a:pt x="8" y="17"/>
                      <a:pt x="8" y="17"/>
                    </a:cubicBezTo>
                    <a:cubicBezTo>
                      <a:pt x="3" y="17"/>
                      <a:pt x="0" y="13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3"/>
                      <a:pt x="3" y="0"/>
                      <a:pt x="8" y="0"/>
                    </a:cubicBezTo>
                    <a:cubicBezTo>
                      <a:pt x="46" y="0"/>
                      <a:pt x="46" y="0"/>
                      <a:pt x="46" y="0"/>
                    </a:cubicBezTo>
                    <a:cubicBezTo>
                      <a:pt x="51" y="0"/>
                      <a:pt x="55" y="3"/>
                      <a:pt x="55" y="8"/>
                    </a:cubicBez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8580" tIns="64290" rIns="128580" bIns="64290" numCol="1" anchor="t" anchorCtr="0" compatLnSpc="1"/>
              <a:lstStyle/>
              <a:p>
                <a:endParaRPr lang="zh-CN" altLang="en-US" dirty="0">
                  <a:latin typeface="微软雅黑" panose="020B0503020204020204" pitchFamily="34" charset="-122"/>
                </a:endParaRPr>
              </a:p>
            </p:txBody>
          </p:sp>
          <p:sp>
            <p:nvSpPr>
              <p:cNvPr id="25" name="Freeform 13"/>
              <p:cNvSpPr/>
              <p:nvPr/>
            </p:nvSpPr>
            <p:spPr bwMode="auto">
              <a:xfrm>
                <a:off x="3835400" y="2397126"/>
                <a:ext cx="234950" cy="71438"/>
              </a:xfrm>
              <a:custGeom>
                <a:avLst/>
                <a:gdLst>
                  <a:gd name="T0" fmla="*/ 55 w 55"/>
                  <a:gd name="T1" fmla="*/ 9 h 17"/>
                  <a:gd name="T2" fmla="*/ 46 w 55"/>
                  <a:gd name="T3" fmla="*/ 17 h 17"/>
                  <a:gd name="T4" fmla="*/ 8 w 55"/>
                  <a:gd name="T5" fmla="*/ 17 h 17"/>
                  <a:gd name="T6" fmla="*/ 0 w 55"/>
                  <a:gd name="T7" fmla="*/ 9 h 17"/>
                  <a:gd name="T8" fmla="*/ 0 w 55"/>
                  <a:gd name="T9" fmla="*/ 9 h 17"/>
                  <a:gd name="T10" fmla="*/ 8 w 55"/>
                  <a:gd name="T11" fmla="*/ 0 h 17"/>
                  <a:gd name="T12" fmla="*/ 46 w 55"/>
                  <a:gd name="T13" fmla="*/ 0 h 17"/>
                  <a:gd name="T14" fmla="*/ 55 w 55"/>
                  <a:gd name="T15" fmla="*/ 9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" h="17">
                    <a:moveTo>
                      <a:pt x="55" y="9"/>
                    </a:moveTo>
                    <a:cubicBezTo>
                      <a:pt x="55" y="13"/>
                      <a:pt x="51" y="17"/>
                      <a:pt x="46" y="17"/>
                    </a:cubicBezTo>
                    <a:cubicBezTo>
                      <a:pt x="8" y="17"/>
                      <a:pt x="8" y="17"/>
                      <a:pt x="8" y="17"/>
                    </a:cubicBezTo>
                    <a:cubicBezTo>
                      <a:pt x="3" y="17"/>
                      <a:pt x="0" y="13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4"/>
                      <a:pt x="3" y="0"/>
                      <a:pt x="8" y="0"/>
                    </a:cubicBezTo>
                    <a:cubicBezTo>
                      <a:pt x="46" y="0"/>
                      <a:pt x="46" y="0"/>
                      <a:pt x="46" y="0"/>
                    </a:cubicBezTo>
                    <a:cubicBezTo>
                      <a:pt x="51" y="0"/>
                      <a:pt x="55" y="4"/>
                      <a:pt x="55" y="9"/>
                    </a:cubicBez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8580" tIns="64290" rIns="128580" bIns="64290" numCol="1" anchor="t" anchorCtr="0" compatLnSpc="1"/>
              <a:lstStyle/>
              <a:p>
                <a:endParaRPr lang="zh-CN" altLang="en-US" dirty="0">
                  <a:latin typeface="微软雅黑" panose="020B0503020204020204" pitchFamily="34" charset="-122"/>
                </a:endParaRPr>
              </a:p>
            </p:txBody>
          </p:sp>
          <p:sp>
            <p:nvSpPr>
              <p:cNvPr id="26" name="Freeform 14"/>
              <p:cNvSpPr/>
              <p:nvPr/>
            </p:nvSpPr>
            <p:spPr bwMode="auto">
              <a:xfrm>
                <a:off x="3835400" y="2536826"/>
                <a:ext cx="234950" cy="73025"/>
              </a:xfrm>
              <a:custGeom>
                <a:avLst/>
                <a:gdLst>
                  <a:gd name="T0" fmla="*/ 55 w 55"/>
                  <a:gd name="T1" fmla="*/ 8 h 17"/>
                  <a:gd name="T2" fmla="*/ 46 w 55"/>
                  <a:gd name="T3" fmla="*/ 17 h 17"/>
                  <a:gd name="T4" fmla="*/ 8 w 55"/>
                  <a:gd name="T5" fmla="*/ 17 h 17"/>
                  <a:gd name="T6" fmla="*/ 0 w 55"/>
                  <a:gd name="T7" fmla="*/ 8 h 17"/>
                  <a:gd name="T8" fmla="*/ 0 w 55"/>
                  <a:gd name="T9" fmla="*/ 8 h 17"/>
                  <a:gd name="T10" fmla="*/ 8 w 55"/>
                  <a:gd name="T11" fmla="*/ 0 h 17"/>
                  <a:gd name="T12" fmla="*/ 46 w 55"/>
                  <a:gd name="T13" fmla="*/ 0 h 17"/>
                  <a:gd name="T14" fmla="*/ 55 w 55"/>
                  <a:gd name="T15" fmla="*/ 8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" h="17">
                    <a:moveTo>
                      <a:pt x="55" y="8"/>
                    </a:moveTo>
                    <a:cubicBezTo>
                      <a:pt x="55" y="13"/>
                      <a:pt x="51" y="17"/>
                      <a:pt x="46" y="17"/>
                    </a:cubicBezTo>
                    <a:cubicBezTo>
                      <a:pt x="8" y="17"/>
                      <a:pt x="8" y="17"/>
                      <a:pt x="8" y="17"/>
                    </a:cubicBezTo>
                    <a:cubicBezTo>
                      <a:pt x="3" y="17"/>
                      <a:pt x="0" y="13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4"/>
                      <a:pt x="3" y="0"/>
                      <a:pt x="8" y="0"/>
                    </a:cubicBezTo>
                    <a:cubicBezTo>
                      <a:pt x="46" y="0"/>
                      <a:pt x="46" y="0"/>
                      <a:pt x="46" y="0"/>
                    </a:cubicBezTo>
                    <a:cubicBezTo>
                      <a:pt x="51" y="0"/>
                      <a:pt x="55" y="4"/>
                      <a:pt x="55" y="8"/>
                    </a:cubicBez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8580" tIns="64290" rIns="128580" bIns="64290" numCol="1" anchor="t" anchorCtr="0" compatLnSpc="1"/>
              <a:lstStyle/>
              <a:p>
                <a:endParaRPr lang="zh-CN" altLang="en-US" dirty="0">
                  <a:latin typeface="微软雅黑" panose="020B0503020204020204" pitchFamily="34" charset="-122"/>
                </a:endParaRPr>
              </a:p>
            </p:txBody>
          </p:sp>
          <p:sp>
            <p:nvSpPr>
              <p:cNvPr id="27" name="Freeform 15"/>
              <p:cNvSpPr/>
              <p:nvPr/>
            </p:nvSpPr>
            <p:spPr bwMode="auto">
              <a:xfrm>
                <a:off x="3835400" y="2678113"/>
                <a:ext cx="234950" cy="73025"/>
              </a:xfrm>
              <a:custGeom>
                <a:avLst/>
                <a:gdLst>
                  <a:gd name="T0" fmla="*/ 55 w 55"/>
                  <a:gd name="T1" fmla="*/ 8 h 17"/>
                  <a:gd name="T2" fmla="*/ 46 w 55"/>
                  <a:gd name="T3" fmla="*/ 17 h 17"/>
                  <a:gd name="T4" fmla="*/ 8 w 55"/>
                  <a:gd name="T5" fmla="*/ 17 h 17"/>
                  <a:gd name="T6" fmla="*/ 0 w 55"/>
                  <a:gd name="T7" fmla="*/ 8 h 17"/>
                  <a:gd name="T8" fmla="*/ 0 w 55"/>
                  <a:gd name="T9" fmla="*/ 8 h 17"/>
                  <a:gd name="T10" fmla="*/ 8 w 55"/>
                  <a:gd name="T11" fmla="*/ 0 h 17"/>
                  <a:gd name="T12" fmla="*/ 46 w 55"/>
                  <a:gd name="T13" fmla="*/ 0 h 17"/>
                  <a:gd name="T14" fmla="*/ 55 w 55"/>
                  <a:gd name="T15" fmla="*/ 8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" h="17">
                    <a:moveTo>
                      <a:pt x="55" y="8"/>
                    </a:moveTo>
                    <a:cubicBezTo>
                      <a:pt x="55" y="13"/>
                      <a:pt x="51" y="17"/>
                      <a:pt x="46" y="17"/>
                    </a:cubicBezTo>
                    <a:cubicBezTo>
                      <a:pt x="8" y="17"/>
                      <a:pt x="8" y="17"/>
                      <a:pt x="8" y="17"/>
                    </a:cubicBezTo>
                    <a:cubicBezTo>
                      <a:pt x="3" y="17"/>
                      <a:pt x="0" y="13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3"/>
                      <a:pt x="3" y="0"/>
                      <a:pt x="8" y="0"/>
                    </a:cubicBezTo>
                    <a:cubicBezTo>
                      <a:pt x="46" y="0"/>
                      <a:pt x="46" y="0"/>
                      <a:pt x="46" y="0"/>
                    </a:cubicBezTo>
                    <a:cubicBezTo>
                      <a:pt x="51" y="0"/>
                      <a:pt x="55" y="3"/>
                      <a:pt x="55" y="8"/>
                    </a:cubicBez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8580" tIns="64290" rIns="128580" bIns="64290" numCol="1" anchor="t" anchorCtr="0" compatLnSpc="1"/>
              <a:lstStyle/>
              <a:p>
                <a:endParaRPr lang="zh-CN" altLang="en-US" dirty="0">
                  <a:latin typeface="微软雅黑" panose="020B0503020204020204" pitchFamily="34" charset="-122"/>
                </a:endParaRPr>
              </a:p>
            </p:txBody>
          </p:sp>
          <p:sp>
            <p:nvSpPr>
              <p:cNvPr id="28" name="Freeform 16"/>
              <p:cNvSpPr/>
              <p:nvPr/>
            </p:nvSpPr>
            <p:spPr bwMode="auto">
              <a:xfrm>
                <a:off x="3835400" y="2816226"/>
                <a:ext cx="234950" cy="71438"/>
              </a:xfrm>
              <a:custGeom>
                <a:avLst/>
                <a:gdLst>
                  <a:gd name="T0" fmla="*/ 55 w 55"/>
                  <a:gd name="T1" fmla="*/ 9 h 17"/>
                  <a:gd name="T2" fmla="*/ 46 w 55"/>
                  <a:gd name="T3" fmla="*/ 17 h 17"/>
                  <a:gd name="T4" fmla="*/ 8 w 55"/>
                  <a:gd name="T5" fmla="*/ 17 h 17"/>
                  <a:gd name="T6" fmla="*/ 0 w 55"/>
                  <a:gd name="T7" fmla="*/ 9 h 17"/>
                  <a:gd name="T8" fmla="*/ 0 w 55"/>
                  <a:gd name="T9" fmla="*/ 9 h 17"/>
                  <a:gd name="T10" fmla="*/ 8 w 55"/>
                  <a:gd name="T11" fmla="*/ 0 h 17"/>
                  <a:gd name="T12" fmla="*/ 46 w 55"/>
                  <a:gd name="T13" fmla="*/ 0 h 17"/>
                  <a:gd name="T14" fmla="*/ 55 w 55"/>
                  <a:gd name="T15" fmla="*/ 9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" h="17">
                    <a:moveTo>
                      <a:pt x="55" y="9"/>
                    </a:moveTo>
                    <a:cubicBezTo>
                      <a:pt x="55" y="13"/>
                      <a:pt x="51" y="17"/>
                      <a:pt x="46" y="17"/>
                    </a:cubicBezTo>
                    <a:cubicBezTo>
                      <a:pt x="8" y="17"/>
                      <a:pt x="8" y="17"/>
                      <a:pt x="8" y="17"/>
                    </a:cubicBezTo>
                    <a:cubicBezTo>
                      <a:pt x="3" y="17"/>
                      <a:pt x="0" y="13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4"/>
                      <a:pt x="3" y="0"/>
                      <a:pt x="8" y="0"/>
                    </a:cubicBezTo>
                    <a:cubicBezTo>
                      <a:pt x="46" y="0"/>
                      <a:pt x="46" y="0"/>
                      <a:pt x="46" y="0"/>
                    </a:cubicBezTo>
                    <a:cubicBezTo>
                      <a:pt x="51" y="0"/>
                      <a:pt x="55" y="4"/>
                      <a:pt x="55" y="9"/>
                    </a:cubicBez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8580" tIns="64290" rIns="128580" bIns="64290" numCol="1" anchor="t" anchorCtr="0" compatLnSpc="1"/>
              <a:lstStyle/>
              <a:p>
                <a:endParaRPr lang="zh-CN" altLang="en-US" dirty="0">
                  <a:latin typeface="微软雅黑" panose="020B0503020204020204" pitchFamily="34" charset="-122"/>
                </a:endParaRPr>
              </a:p>
            </p:txBody>
          </p:sp>
          <p:sp>
            <p:nvSpPr>
              <p:cNvPr id="29" name="Freeform 17"/>
              <p:cNvSpPr/>
              <p:nvPr/>
            </p:nvSpPr>
            <p:spPr bwMode="auto">
              <a:xfrm>
                <a:off x="3835400" y="2955926"/>
                <a:ext cx="234950" cy="73025"/>
              </a:xfrm>
              <a:custGeom>
                <a:avLst/>
                <a:gdLst>
                  <a:gd name="T0" fmla="*/ 55 w 55"/>
                  <a:gd name="T1" fmla="*/ 8 h 17"/>
                  <a:gd name="T2" fmla="*/ 46 w 55"/>
                  <a:gd name="T3" fmla="*/ 17 h 17"/>
                  <a:gd name="T4" fmla="*/ 8 w 55"/>
                  <a:gd name="T5" fmla="*/ 17 h 17"/>
                  <a:gd name="T6" fmla="*/ 0 w 55"/>
                  <a:gd name="T7" fmla="*/ 8 h 17"/>
                  <a:gd name="T8" fmla="*/ 0 w 55"/>
                  <a:gd name="T9" fmla="*/ 8 h 17"/>
                  <a:gd name="T10" fmla="*/ 8 w 55"/>
                  <a:gd name="T11" fmla="*/ 0 h 17"/>
                  <a:gd name="T12" fmla="*/ 46 w 55"/>
                  <a:gd name="T13" fmla="*/ 0 h 17"/>
                  <a:gd name="T14" fmla="*/ 55 w 55"/>
                  <a:gd name="T15" fmla="*/ 8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" h="17">
                    <a:moveTo>
                      <a:pt x="55" y="8"/>
                    </a:moveTo>
                    <a:cubicBezTo>
                      <a:pt x="55" y="13"/>
                      <a:pt x="51" y="17"/>
                      <a:pt x="46" y="17"/>
                    </a:cubicBezTo>
                    <a:cubicBezTo>
                      <a:pt x="8" y="17"/>
                      <a:pt x="8" y="17"/>
                      <a:pt x="8" y="17"/>
                    </a:cubicBezTo>
                    <a:cubicBezTo>
                      <a:pt x="3" y="17"/>
                      <a:pt x="0" y="13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4"/>
                      <a:pt x="3" y="0"/>
                      <a:pt x="8" y="0"/>
                    </a:cubicBezTo>
                    <a:cubicBezTo>
                      <a:pt x="46" y="0"/>
                      <a:pt x="46" y="0"/>
                      <a:pt x="46" y="0"/>
                    </a:cubicBezTo>
                    <a:cubicBezTo>
                      <a:pt x="51" y="0"/>
                      <a:pt x="55" y="4"/>
                      <a:pt x="55" y="8"/>
                    </a:cubicBez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8580" tIns="64290" rIns="128580" bIns="64290" numCol="1" anchor="t" anchorCtr="0" compatLnSpc="1"/>
              <a:lstStyle/>
              <a:p>
                <a:endParaRPr lang="zh-CN" altLang="en-US" dirty="0">
                  <a:latin typeface="微软雅黑" panose="020B0503020204020204" pitchFamily="34" charset="-122"/>
                </a:endParaRPr>
              </a:p>
            </p:txBody>
          </p:sp>
          <p:sp>
            <p:nvSpPr>
              <p:cNvPr id="30" name="Freeform 18"/>
              <p:cNvSpPr/>
              <p:nvPr/>
            </p:nvSpPr>
            <p:spPr bwMode="auto">
              <a:xfrm>
                <a:off x="3835400" y="3097213"/>
                <a:ext cx="234950" cy="73025"/>
              </a:xfrm>
              <a:custGeom>
                <a:avLst/>
                <a:gdLst>
                  <a:gd name="T0" fmla="*/ 55 w 55"/>
                  <a:gd name="T1" fmla="*/ 8 h 17"/>
                  <a:gd name="T2" fmla="*/ 46 w 55"/>
                  <a:gd name="T3" fmla="*/ 17 h 17"/>
                  <a:gd name="T4" fmla="*/ 8 w 55"/>
                  <a:gd name="T5" fmla="*/ 17 h 17"/>
                  <a:gd name="T6" fmla="*/ 0 w 55"/>
                  <a:gd name="T7" fmla="*/ 8 h 17"/>
                  <a:gd name="T8" fmla="*/ 0 w 55"/>
                  <a:gd name="T9" fmla="*/ 8 h 17"/>
                  <a:gd name="T10" fmla="*/ 8 w 55"/>
                  <a:gd name="T11" fmla="*/ 0 h 17"/>
                  <a:gd name="T12" fmla="*/ 46 w 55"/>
                  <a:gd name="T13" fmla="*/ 0 h 17"/>
                  <a:gd name="T14" fmla="*/ 55 w 55"/>
                  <a:gd name="T15" fmla="*/ 8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" h="17">
                    <a:moveTo>
                      <a:pt x="55" y="8"/>
                    </a:moveTo>
                    <a:cubicBezTo>
                      <a:pt x="55" y="13"/>
                      <a:pt x="51" y="17"/>
                      <a:pt x="46" y="17"/>
                    </a:cubicBezTo>
                    <a:cubicBezTo>
                      <a:pt x="8" y="17"/>
                      <a:pt x="8" y="17"/>
                      <a:pt x="8" y="17"/>
                    </a:cubicBezTo>
                    <a:cubicBezTo>
                      <a:pt x="3" y="17"/>
                      <a:pt x="0" y="13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3"/>
                      <a:pt x="3" y="0"/>
                      <a:pt x="8" y="0"/>
                    </a:cubicBezTo>
                    <a:cubicBezTo>
                      <a:pt x="46" y="0"/>
                      <a:pt x="46" y="0"/>
                      <a:pt x="46" y="0"/>
                    </a:cubicBezTo>
                    <a:cubicBezTo>
                      <a:pt x="51" y="0"/>
                      <a:pt x="55" y="3"/>
                      <a:pt x="55" y="8"/>
                    </a:cubicBez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8580" tIns="64290" rIns="128580" bIns="64290" numCol="1" anchor="t" anchorCtr="0" compatLnSpc="1"/>
              <a:lstStyle/>
              <a:p>
                <a:endParaRPr lang="zh-CN" altLang="en-US" dirty="0">
                  <a:latin typeface="微软雅黑" panose="020B0503020204020204" pitchFamily="34" charset="-122"/>
                </a:endParaRPr>
              </a:p>
            </p:txBody>
          </p:sp>
          <p:sp>
            <p:nvSpPr>
              <p:cNvPr id="31" name="Freeform 19"/>
              <p:cNvSpPr/>
              <p:nvPr/>
            </p:nvSpPr>
            <p:spPr bwMode="auto">
              <a:xfrm>
                <a:off x="3835400" y="3235326"/>
                <a:ext cx="234950" cy="71438"/>
              </a:xfrm>
              <a:custGeom>
                <a:avLst/>
                <a:gdLst>
                  <a:gd name="T0" fmla="*/ 55 w 55"/>
                  <a:gd name="T1" fmla="*/ 9 h 17"/>
                  <a:gd name="T2" fmla="*/ 46 w 55"/>
                  <a:gd name="T3" fmla="*/ 17 h 17"/>
                  <a:gd name="T4" fmla="*/ 8 w 55"/>
                  <a:gd name="T5" fmla="*/ 17 h 17"/>
                  <a:gd name="T6" fmla="*/ 0 w 55"/>
                  <a:gd name="T7" fmla="*/ 9 h 17"/>
                  <a:gd name="T8" fmla="*/ 0 w 55"/>
                  <a:gd name="T9" fmla="*/ 9 h 17"/>
                  <a:gd name="T10" fmla="*/ 8 w 55"/>
                  <a:gd name="T11" fmla="*/ 0 h 17"/>
                  <a:gd name="T12" fmla="*/ 46 w 55"/>
                  <a:gd name="T13" fmla="*/ 0 h 17"/>
                  <a:gd name="T14" fmla="*/ 55 w 55"/>
                  <a:gd name="T15" fmla="*/ 9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" h="17">
                    <a:moveTo>
                      <a:pt x="55" y="9"/>
                    </a:moveTo>
                    <a:cubicBezTo>
                      <a:pt x="55" y="13"/>
                      <a:pt x="51" y="17"/>
                      <a:pt x="46" y="17"/>
                    </a:cubicBezTo>
                    <a:cubicBezTo>
                      <a:pt x="8" y="17"/>
                      <a:pt x="8" y="17"/>
                      <a:pt x="8" y="17"/>
                    </a:cubicBezTo>
                    <a:cubicBezTo>
                      <a:pt x="3" y="17"/>
                      <a:pt x="0" y="13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4"/>
                      <a:pt x="3" y="0"/>
                      <a:pt x="8" y="0"/>
                    </a:cubicBezTo>
                    <a:cubicBezTo>
                      <a:pt x="46" y="0"/>
                      <a:pt x="46" y="0"/>
                      <a:pt x="46" y="0"/>
                    </a:cubicBezTo>
                    <a:cubicBezTo>
                      <a:pt x="51" y="0"/>
                      <a:pt x="55" y="4"/>
                      <a:pt x="55" y="9"/>
                    </a:cubicBez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8580" tIns="64290" rIns="128580" bIns="64290" numCol="1" anchor="t" anchorCtr="0" compatLnSpc="1"/>
              <a:lstStyle/>
              <a:p>
                <a:endParaRPr lang="zh-CN" altLang="en-US" dirty="0">
                  <a:latin typeface="微软雅黑" panose="020B0503020204020204" pitchFamily="34" charset="-122"/>
                </a:endParaRPr>
              </a:p>
            </p:txBody>
          </p:sp>
        </p:grpSp>
        <p:sp>
          <p:nvSpPr>
            <p:cNvPr id="16" name="矩形 259"/>
            <p:cNvSpPr>
              <a:spLocks noChangeArrowheads="1"/>
            </p:cNvSpPr>
            <p:nvPr/>
          </p:nvSpPr>
          <p:spPr bwMode="auto">
            <a:xfrm>
              <a:off x="2306379" y="2775471"/>
              <a:ext cx="1656605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9pPr>
            </a:lstStyle>
            <a:p>
              <a:pPr algn="ctr">
                <a:buNone/>
              </a:pPr>
              <a:r>
                <a:rPr lang="en-US" altLang="zh-CN" sz="3600" dirty="0">
                  <a:solidFill>
                    <a:srgbClr val="4D4D4D"/>
                  </a:solidFill>
                  <a:cs typeface="Arial" panose="020B0604020202020204" pitchFamily="34" charset="0"/>
                </a:rPr>
                <a:t>01</a:t>
              </a:r>
              <a:endParaRPr lang="zh-CN" altLang="en-US" sz="1800" dirty="0">
                <a:solidFill>
                  <a:srgbClr val="4D4D4D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7" name="矩形 259"/>
            <p:cNvSpPr>
              <a:spLocks noChangeArrowheads="1"/>
            </p:cNvSpPr>
            <p:nvPr/>
          </p:nvSpPr>
          <p:spPr bwMode="auto">
            <a:xfrm>
              <a:off x="2438403" y="3696145"/>
              <a:ext cx="1392558" cy="10218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9pPr>
            </a:lstStyle>
            <a:p>
              <a:pPr algn="ctr">
                <a:buNone/>
              </a:pPr>
              <a:r>
                <a:rPr lang="zh-CN" altLang="en-US" sz="2800" dirty="0">
                  <a:solidFill>
                    <a:schemeClr val="bg1"/>
                  </a:solidFill>
                  <a:cs typeface="Arial" panose="020B0604020202020204" pitchFamily="34" charset="0"/>
                </a:rPr>
                <a:t>章节</a:t>
              </a:r>
              <a:endParaRPr lang="en-US" altLang="zh-CN" sz="1400" dirty="0">
                <a:solidFill>
                  <a:schemeClr val="bg1"/>
                </a:solidFill>
                <a:cs typeface="Arial" panose="020B0604020202020204" pitchFamily="34" charset="0"/>
              </a:endParaRPr>
            </a:p>
            <a:p>
              <a:pPr algn="ctr">
                <a:buNone/>
              </a:pPr>
              <a:r>
                <a:rPr lang="en-US" altLang="zh-CN" dirty="0">
                  <a:solidFill>
                    <a:schemeClr val="bg1"/>
                  </a:solidFill>
                  <a:cs typeface="Arial" panose="020B0604020202020204" pitchFamily="34" charset="0"/>
                </a:rPr>
                <a:t>PART</a:t>
              </a:r>
              <a:endParaRPr lang="en-US" altLang="zh-CN" sz="5400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</p:grp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9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Box 50"/>
          <p:cNvSpPr txBox="1"/>
          <p:nvPr/>
        </p:nvSpPr>
        <p:spPr>
          <a:xfrm>
            <a:off x="5633955" y="2233681"/>
            <a:ext cx="1590846" cy="22711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zh-CN" altLang="en-US" sz="147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请替换文字内容</a:t>
            </a:r>
            <a:endParaRPr lang="en-AU" sz="1475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6" name="TextBox 8"/>
          <p:cNvSpPr txBox="1"/>
          <p:nvPr/>
        </p:nvSpPr>
        <p:spPr>
          <a:xfrm>
            <a:off x="3981103" y="320350"/>
            <a:ext cx="4839716" cy="29337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我的智慧，让我在不知不觉之间就进行了设计</a:t>
            </a:r>
            <a:endParaRPr lang="zh-CN" altLang="en-US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886327" y="591989"/>
            <a:ext cx="11086097" cy="0"/>
            <a:chOff x="1028775" y="591989"/>
            <a:chExt cx="11086097" cy="0"/>
          </a:xfrm>
        </p:grpSpPr>
        <p:cxnSp>
          <p:nvCxnSpPr>
            <p:cNvPr id="19" name="直接连接符 18"/>
            <p:cNvCxnSpPr/>
            <p:nvPr/>
          </p:nvCxnSpPr>
          <p:spPr>
            <a:xfrm>
              <a:off x="1028775" y="591989"/>
              <a:ext cx="3094776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9020095" y="591989"/>
              <a:ext cx="309477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6" name="直接箭头连接符 25"/>
          <p:cNvCxnSpPr>
            <a:stCxn id="5" idx="3"/>
            <a:endCxn id="6" idx="1"/>
          </p:cNvCxnSpPr>
          <p:nvPr/>
        </p:nvCxnSpPr>
        <p:spPr>
          <a:xfrm>
            <a:off x="5977255" y="3422650"/>
            <a:ext cx="8439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8165615" y="5441582"/>
            <a:ext cx="1378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封装、复用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8"/>
          <p:cNvSpPr txBox="1"/>
          <p:nvPr/>
        </p:nvSpPr>
        <p:spPr>
          <a:xfrm>
            <a:off x="5025514" y="737266"/>
            <a:ext cx="2876303" cy="22796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DESIGN IS EVERYWHERE</a:t>
            </a:r>
            <a:endParaRPr lang="en-US" altLang="zh-CN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93420" y="1548130"/>
            <a:ext cx="5283835" cy="37490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indent="0" algn="l"/>
            <a:r>
              <a:rPr lang="en-US" altLang="zh-CN" sz="12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&lt;?php</a:t>
            </a:r>
            <a:endParaRPr lang="en-US" altLang="zh-CN" sz="1200" b="0" u="none">
              <a:solidFill>
                <a:srgbClr val="B386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2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$pdo</a:t>
            </a:r>
            <a:r>
              <a:rPr lang="en-US" altLang="zh-CN" sz="12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2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zh-CN" sz="12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200" b="0" u="none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new</a:t>
            </a:r>
            <a:r>
              <a:rPr lang="en-US" altLang="zh-CN" sz="12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2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\</a:t>
            </a:r>
            <a:r>
              <a:rPr lang="en-US" altLang="zh-CN" sz="12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PDO</a:t>
            </a:r>
            <a:r>
              <a:rPr lang="en-US" altLang="zh-CN" sz="12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(...);</a:t>
            </a:r>
            <a:endParaRPr lang="en-US" altLang="zh-CN" sz="1200" b="0" u="none">
              <a:solidFill>
                <a:srgbClr val="B386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2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$sql</a:t>
            </a:r>
            <a:r>
              <a:rPr lang="en-US" altLang="zh-CN" sz="12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2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zh-CN" sz="12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200" b="0" u="none">
                <a:solidFill>
                  <a:srgbClr val="913618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"SELECT * FROM `test` WHERE `date` = :date;"</a:t>
            </a:r>
            <a:r>
              <a:rPr lang="en-US" altLang="zh-CN" sz="12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;</a:t>
            </a:r>
            <a:endParaRPr lang="en-US" altLang="zh-CN" sz="1200" b="0" u="none">
              <a:solidFill>
                <a:srgbClr val="B386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2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$date</a:t>
            </a:r>
            <a:r>
              <a:rPr lang="en-US" altLang="zh-CN" sz="12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2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zh-CN" sz="12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200" b="0" u="none">
                <a:solidFill>
                  <a:srgbClr val="913618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"20190915"</a:t>
            </a:r>
            <a:r>
              <a:rPr lang="en-US" altLang="zh-CN" sz="12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;</a:t>
            </a:r>
            <a:endParaRPr lang="en-US" altLang="zh-CN" sz="1200" b="0" u="none">
              <a:solidFill>
                <a:srgbClr val="B386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2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$stmt</a:t>
            </a:r>
            <a:r>
              <a:rPr lang="en-US" altLang="zh-CN" sz="12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2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zh-CN" sz="12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2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$pdo-&gt;prepare</a:t>
            </a:r>
            <a:r>
              <a:rPr lang="en-US" altLang="zh-CN" sz="12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zh-CN" sz="12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$sql</a:t>
            </a:r>
            <a:r>
              <a:rPr lang="en-US" altLang="zh-CN" sz="12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);</a:t>
            </a:r>
            <a:endParaRPr lang="en-US" altLang="zh-CN" sz="1200" b="0" u="none">
              <a:solidFill>
                <a:srgbClr val="B386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2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$stmt-&gt;bindValue</a:t>
            </a:r>
            <a:r>
              <a:rPr lang="en-US" altLang="zh-CN" sz="12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zh-CN" sz="1200" b="0" u="none">
                <a:solidFill>
                  <a:srgbClr val="913618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":date"</a:t>
            </a:r>
            <a:r>
              <a:rPr lang="en-US" altLang="zh-CN" sz="12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,</a:t>
            </a:r>
            <a:r>
              <a:rPr lang="en-US" altLang="zh-CN" sz="12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2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$date</a:t>
            </a:r>
            <a:r>
              <a:rPr lang="en-US" altLang="zh-CN" sz="12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);</a:t>
            </a:r>
            <a:endParaRPr lang="en-US" altLang="zh-CN" sz="1200" b="0" u="none">
              <a:solidFill>
                <a:srgbClr val="B386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2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$stmt-&gt;exec</a:t>
            </a:r>
            <a:r>
              <a:rPr lang="en-US" altLang="zh-CN" sz="12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();</a:t>
            </a:r>
            <a:endParaRPr lang="en-US" altLang="zh-CN" sz="1200" b="0" u="none">
              <a:solidFill>
                <a:srgbClr val="B386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2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$data1</a:t>
            </a:r>
            <a:r>
              <a:rPr lang="en-US" altLang="zh-CN" sz="12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2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zh-CN" sz="12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2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$stmt-&gt;fetchAll</a:t>
            </a:r>
            <a:r>
              <a:rPr lang="en-US" altLang="zh-CN" sz="12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(\PDO::FETCH_ASSOC);</a:t>
            </a:r>
            <a:endParaRPr lang="en-US" altLang="zh-CN" sz="1200" b="0" u="none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2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endParaRPr lang="en-US" altLang="zh-CN" sz="1200" b="0" u="none">
              <a:solidFill>
                <a:srgbClr val="B386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2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$date</a:t>
            </a:r>
            <a:r>
              <a:rPr lang="en-US" altLang="zh-CN" sz="12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2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zh-CN" sz="12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200" b="0" u="none">
                <a:solidFill>
                  <a:srgbClr val="913618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"20190916"</a:t>
            </a:r>
            <a:r>
              <a:rPr lang="en-US" altLang="zh-CN" sz="12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;</a:t>
            </a:r>
            <a:endParaRPr lang="en-US" altLang="zh-CN" sz="1200" b="0" u="none">
              <a:solidFill>
                <a:srgbClr val="B386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2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$stmt</a:t>
            </a:r>
            <a:r>
              <a:rPr lang="en-US" altLang="zh-CN" sz="12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2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zh-CN" sz="12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2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$pdo-&gt;prepare</a:t>
            </a:r>
            <a:r>
              <a:rPr lang="en-US" altLang="zh-CN" sz="12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zh-CN" sz="12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$sql</a:t>
            </a:r>
            <a:r>
              <a:rPr lang="en-US" altLang="zh-CN" sz="12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);</a:t>
            </a:r>
            <a:endParaRPr lang="en-US" altLang="zh-CN" sz="1200" b="0" u="none">
              <a:solidFill>
                <a:srgbClr val="B386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2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$stmt-&gt;bindValue</a:t>
            </a:r>
            <a:r>
              <a:rPr lang="en-US" altLang="zh-CN" sz="12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zh-CN" sz="1200" b="0" u="none">
                <a:solidFill>
                  <a:srgbClr val="913618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":date"</a:t>
            </a:r>
            <a:r>
              <a:rPr lang="en-US" altLang="zh-CN" sz="12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,</a:t>
            </a:r>
            <a:r>
              <a:rPr lang="en-US" altLang="zh-CN" sz="12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2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$date</a:t>
            </a:r>
            <a:r>
              <a:rPr lang="en-US" altLang="zh-CN" sz="12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);</a:t>
            </a:r>
            <a:endParaRPr lang="en-US" altLang="zh-CN" sz="1200" b="0" u="none">
              <a:solidFill>
                <a:srgbClr val="B386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2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$stmt-&gt;exec</a:t>
            </a:r>
            <a:r>
              <a:rPr lang="en-US" altLang="zh-CN" sz="12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();</a:t>
            </a:r>
            <a:endParaRPr lang="en-US" altLang="zh-CN" sz="1200" b="0" u="none">
              <a:solidFill>
                <a:srgbClr val="B386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2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$data2</a:t>
            </a:r>
            <a:r>
              <a:rPr lang="en-US" altLang="zh-CN" sz="12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2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zh-CN" sz="12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2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$stmt-&gt;fetchAll</a:t>
            </a:r>
            <a:r>
              <a:rPr lang="en-US" altLang="zh-CN" sz="12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(\PDO::FETCH_ASSOC);</a:t>
            </a:r>
            <a:endParaRPr lang="en-US" altLang="zh-CN" sz="1200" b="0" u="none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2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endParaRPr lang="en-US" altLang="zh-CN" sz="1200" b="0" u="none">
              <a:solidFill>
                <a:srgbClr val="B386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2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$date</a:t>
            </a:r>
            <a:r>
              <a:rPr lang="en-US" altLang="zh-CN" sz="12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2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zh-CN" sz="12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200" b="0" u="none">
                <a:solidFill>
                  <a:srgbClr val="913618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"20190917"</a:t>
            </a:r>
            <a:r>
              <a:rPr lang="en-US" altLang="zh-CN" sz="12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;</a:t>
            </a:r>
            <a:endParaRPr lang="en-US" altLang="zh-CN" sz="1200" b="0" u="none">
              <a:solidFill>
                <a:srgbClr val="B386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2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$stmt</a:t>
            </a:r>
            <a:r>
              <a:rPr lang="en-US" altLang="zh-CN" sz="12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2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zh-CN" sz="12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2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$pdo-&gt;prepare</a:t>
            </a:r>
            <a:r>
              <a:rPr lang="en-US" altLang="zh-CN" sz="12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zh-CN" sz="12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$sql</a:t>
            </a:r>
            <a:r>
              <a:rPr lang="en-US" altLang="zh-CN" sz="12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);</a:t>
            </a:r>
            <a:endParaRPr lang="en-US" altLang="zh-CN" sz="1200" b="0" u="none">
              <a:solidFill>
                <a:srgbClr val="B386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2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$stmt-&gt;bindValue</a:t>
            </a:r>
            <a:r>
              <a:rPr lang="en-US" altLang="zh-CN" sz="12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zh-CN" sz="1200" b="0" u="none">
                <a:solidFill>
                  <a:srgbClr val="913618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":date"</a:t>
            </a:r>
            <a:r>
              <a:rPr lang="en-US" altLang="zh-CN" sz="12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,</a:t>
            </a:r>
            <a:r>
              <a:rPr lang="en-US" altLang="zh-CN" sz="12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2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$date</a:t>
            </a:r>
            <a:r>
              <a:rPr lang="en-US" altLang="zh-CN" sz="12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);</a:t>
            </a:r>
            <a:endParaRPr lang="en-US" altLang="zh-CN" sz="1200" b="0" u="none">
              <a:solidFill>
                <a:srgbClr val="B386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2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$stmt-&gt;exec</a:t>
            </a:r>
            <a:r>
              <a:rPr lang="en-US" altLang="zh-CN" sz="12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();</a:t>
            </a:r>
            <a:endParaRPr lang="en-US" altLang="zh-CN" sz="1200" b="0" u="none">
              <a:solidFill>
                <a:srgbClr val="B386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2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$data3</a:t>
            </a:r>
            <a:r>
              <a:rPr lang="en-US" altLang="zh-CN" sz="12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2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zh-CN" sz="12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2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$stmt-&gt;fetchAll</a:t>
            </a:r>
            <a:r>
              <a:rPr lang="en-US" altLang="zh-CN" sz="12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(\PDO::FETCH_ASSOC);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821170" y="2279650"/>
            <a:ext cx="5080000" cy="2286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marL="0" indent="0" algn="l"/>
            <a:r>
              <a:rPr lang="en-US" altLang="zh-CN" sz="12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&lt;?php</a:t>
            </a:r>
            <a:endParaRPr lang="en-US" altLang="zh-CN" sz="1200" b="0" u="none">
              <a:solidFill>
                <a:srgbClr val="B386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2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$pdo</a:t>
            </a:r>
            <a:r>
              <a:rPr lang="en-US" altLang="zh-CN" sz="12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2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zh-CN" sz="12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200" b="0" u="none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new</a:t>
            </a:r>
            <a:r>
              <a:rPr lang="en-US" altLang="zh-CN" sz="12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2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\</a:t>
            </a:r>
            <a:r>
              <a:rPr lang="en-US" altLang="zh-CN" sz="12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PDO</a:t>
            </a:r>
            <a:r>
              <a:rPr lang="en-US" altLang="zh-CN" sz="12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(...);</a:t>
            </a:r>
            <a:endParaRPr lang="en-US" altLang="zh-CN" sz="1200" b="0" u="none">
              <a:solidFill>
                <a:srgbClr val="5D1DA7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200" b="0" u="none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function</a:t>
            </a:r>
            <a:r>
              <a:rPr lang="en-US" altLang="zh-CN" sz="12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2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query</a:t>
            </a:r>
            <a:r>
              <a:rPr lang="en-US" altLang="zh-CN" sz="12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zh-CN" sz="12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$date</a:t>
            </a:r>
            <a:r>
              <a:rPr lang="en-US" altLang="zh-CN" sz="12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) {</a:t>
            </a:r>
            <a:endParaRPr lang="en-US" altLang="zh-CN" sz="1200" b="0" u="none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2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200" b="0" u="none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global</a:t>
            </a:r>
            <a:r>
              <a:rPr lang="en-US" altLang="zh-CN" sz="12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2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$pdo</a:t>
            </a:r>
            <a:r>
              <a:rPr lang="en-US" altLang="zh-CN" sz="12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;</a:t>
            </a:r>
            <a:endParaRPr lang="en-US" altLang="zh-CN" sz="1200" b="0" u="none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2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2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$sql</a:t>
            </a:r>
            <a:r>
              <a:rPr lang="en-US" altLang="zh-CN" sz="12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2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zh-CN" sz="12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200" b="0" u="none">
                <a:solidFill>
                  <a:srgbClr val="913618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"SELECT * FROM `test` WHERE `date` = :date;"</a:t>
            </a:r>
            <a:r>
              <a:rPr lang="en-US" altLang="zh-CN" sz="12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;</a:t>
            </a:r>
            <a:endParaRPr lang="en-US" altLang="zh-CN" sz="1200" b="0" u="none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2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2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$stmt-&gt;bindValue</a:t>
            </a:r>
            <a:r>
              <a:rPr lang="en-US" altLang="zh-CN" sz="12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zh-CN" sz="1200" b="0" u="none">
                <a:solidFill>
                  <a:srgbClr val="913618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":date"</a:t>
            </a:r>
            <a:r>
              <a:rPr lang="en-US" altLang="zh-CN" sz="12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,</a:t>
            </a:r>
            <a:r>
              <a:rPr lang="en-US" altLang="zh-CN" sz="12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2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$date</a:t>
            </a:r>
            <a:r>
              <a:rPr lang="en-US" altLang="zh-CN" sz="12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);</a:t>
            </a:r>
            <a:endParaRPr lang="en-US" altLang="zh-CN" sz="1200" b="0" u="none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2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2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$stmt-&gt;exec</a:t>
            </a:r>
            <a:r>
              <a:rPr lang="en-US" altLang="zh-CN" sz="12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();</a:t>
            </a:r>
            <a:endParaRPr lang="en-US" altLang="zh-CN" sz="1200" b="0" u="none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2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200" b="0" u="none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return</a:t>
            </a:r>
            <a:r>
              <a:rPr lang="en-US" altLang="zh-CN" sz="12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2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$stmt-&gt;fetchAll</a:t>
            </a:r>
            <a:r>
              <a:rPr lang="en-US" altLang="zh-CN" sz="12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(\PDO::FETCH_ASSOC);</a:t>
            </a:r>
            <a:endParaRPr lang="en-US" altLang="zh-CN" sz="1200" b="0" u="none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2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}</a:t>
            </a:r>
            <a:endParaRPr lang="en-US" altLang="zh-CN" sz="1200" b="0" u="none">
              <a:solidFill>
                <a:srgbClr val="B386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2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$data1</a:t>
            </a:r>
            <a:r>
              <a:rPr lang="en-US" altLang="zh-CN" sz="12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2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zh-CN" sz="12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2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query</a:t>
            </a:r>
            <a:r>
              <a:rPr lang="en-US" altLang="zh-CN" sz="12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zh-CN" sz="1200" b="0" u="none">
                <a:solidFill>
                  <a:srgbClr val="913618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"20190915"</a:t>
            </a:r>
            <a:r>
              <a:rPr lang="en-US" altLang="zh-CN" sz="12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);</a:t>
            </a:r>
            <a:endParaRPr lang="en-US" altLang="zh-CN" sz="1200" b="0" u="none">
              <a:solidFill>
                <a:srgbClr val="B386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2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$data2</a:t>
            </a:r>
            <a:r>
              <a:rPr lang="en-US" altLang="zh-CN" sz="12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2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zh-CN" sz="12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2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query</a:t>
            </a:r>
            <a:r>
              <a:rPr lang="en-US" altLang="zh-CN" sz="12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zh-CN" sz="1200" b="0" u="none">
                <a:solidFill>
                  <a:srgbClr val="913618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"20190916"</a:t>
            </a:r>
            <a:r>
              <a:rPr lang="en-US" altLang="zh-CN" sz="12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);</a:t>
            </a:r>
            <a:endParaRPr lang="en-US" altLang="zh-CN" sz="1200" b="0" u="none">
              <a:solidFill>
                <a:srgbClr val="B386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2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$data3</a:t>
            </a:r>
            <a:r>
              <a:rPr lang="en-US" altLang="zh-CN" sz="12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2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zh-CN" sz="12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2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query</a:t>
            </a:r>
            <a:r>
              <a:rPr lang="en-US" altLang="zh-CN" sz="12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zh-CN" sz="1200" b="0" u="none">
                <a:solidFill>
                  <a:srgbClr val="913618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"20190917"</a:t>
            </a:r>
            <a:r>
              <a:rPr lang="en-US" altLang="zh-CN" sz="12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);</a:t>
            </a:r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740410" y="2320290"/>
            <a:ext cx="4032250" cy="864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740410" y="3422650"/>
            <a:ext cx="4032250" cy="864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40410" y="4565650"/>
            <a:ext cx="4032250" cy="864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9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7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8"/>
          <p:cNvSpPr txBox="1"/>
          <p:nvPr/>
        </p:nvSpPr>
        <p:spPr>
          <a:xfrm>
            <a:off x="4454798" y="233568"/>
            <a:ext cx="3949155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设计模式</a:t>
            </a:r>
            <a:endParaRPr lang="zh-CN" altLang="en-US" sz="3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1" name="TextBox 8"/>
          <p:cNvSpPr txBox="1"/>
          <p:nvPr/>
        </p:nvSpPr>
        <p:spPr>
          <a:xfrm>
            <a:off x="5025514" y="743527"/>
            <a:ext cx="2876303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DESIGN PATTERNS</a:t>
            </a:r>
            <a:endParaRPr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886327" y="591989"/>
            <a:ext cx="11086097" cy="0"/>
            <a:chOff x="1028775" y="591989"/>
            <a:chExt cx="11086097" cy="0"/>
          </a:xfrm>
        </p:grpSpPr>
        <p:cxnSp>
          <p:nvCxnSpPr>
            <p:cNvPr id="33" name="直接连接符 32"/>
            <p:cNvCxnSpPr/>
            <p:nvPr/>
          </p:nvCxnSpPr>
          <p:spPr>
            <a:xfrm>
              <a:off x="10287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>
              <a:off x="86106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文本框 1"/>
          <p:cNvSpPr txBox="1"/>
          <p:nvPr/>
        </p:nvSpPr>
        <p:spPr>
          <a:xfrm>
            <a:off x="1460823" y="2492940"/>
            <a:ext cx="9937104" cy="3078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设计模式指给定上下文（环境）中某个经常出现的问题得出的一种</a:t>
            </a:r>
            <a:r>
              <a:rPr lang="zh-CN" altLang="en-US" sz="2800" b="1" dirty="0">
                <a:solidFill>
                  <a:schemeClr val="accent4">
                    <a:lumMod val="75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一般性可重用</a:t>
            </a:r>
            <a:r>
              <a:rPr lang="zh-CN" altLang="en-US" sz="28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的解决方案。</a:t>
            </a:r>
            <a:endParaRPr lang="zh-CN" altLang="en-US" sz="28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endParaRPr lang="zh-CN" altLang="en-US" sz="28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en-US" altLang="zh-CN" sz="28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PHP</a:t>
            </a:r>
            <a:r>
              <a:rPr lang="zh-CN" altLang="en-US" sz="28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设计模式就是针对在编写</a:t>
            </a:r>
            <a:r>
              <a:rPr lang="en-US" altLang="zh-CN" sz="28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PHP</a:t>
            </a:r>
            <a:r>
              <a:rPr lang="zh-CN" altLang="en-US" sz="28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程序过程中经常出现的问题的一组解决方案。</a:t>
            </a:r>
            <a:endParaRPr lang="zh-CN" altLang="en-US" sz="28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endParaRPr lang="en-US" altLang="zh-CN" sz="2800" dirty="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endParaRPr lang="zh-CN" altLang="en-US" sz="2800" dirty="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9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8"/>
          <p:cNvSpPr txBox="1"/>
          <p:nvPr/>
        </p:nvSpPr>
        <p:spPr>
          <a:xfrm>
            <a:off x="4454798" y="233568"/>
            <a:ext cx="3949155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面向过程真是太南了</a:t>
            </a:r>
            <a:endParaRPr lang="zh-CN" altLang="en-US" sz="3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1" name="TextBox 8"/>
          <p:cNvSpPr txBox="1"/>
          <p:nvPr/>
        </p:nvSpPr>
        <p:spPr>
          <a:xfrm>
            <a:off x="5025514" y="743527"/>
            <a:ext cx="2876303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POP IS TROUBLING ME!</a:t>
            </a:r>
            <a:endParaRPr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886327" y="591989"/>
            <a:ext cx="11086097" cy="0"/>
            <a:chOff x="1028775" y="591989"/>
            <a:chExt cx="11086097" cy="0"/>
          </a:xfrm>
        </p:grpSpPr>
        <p:cxnSp>
          <p:nvCxnSpPr>
            <p:cNvPr id="33" name="直接连接符 32"/>
            <p:cNvCxnSpPr/>
            <p:nvPr/>
          </p:nvCxnSpPr>
          <p:spPr>
            <a:xfrm>
              <a:off x="10287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>
              <a:off x="86106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文本框 2"/>
          <p:cNvSpPr txBox="1"/>
          <p:nvPr/>
        </p:nvSpPr>
        <p:spPr>
          <a:xfrm>
            <a:off x="6715840" y="4888368"/>
            <a:ext cx="5256584" cy="1188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黑体" panose="02010609060101010101" charset="-122"/>
                <a:ea typeface="黑体" panose="02010609060101010101" charset="-122"/>
              </a:rPr>
              <a:t>1. </a:t>
            </a:r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功能集中于一个</a:t>
            </a:r>
            <a:r>
              <a:rPr lang="en-US" altLang="zh-CN" dirty="0">
                <a:latin typeface="黑体" panose="02010609060101010101" charset="-122"/>
                <a:ea typeface="黑体" panose="02010609060101010101" charset="-122"/>
              </a:rPr>
              <a:t>PHP</a:t>
            </a:r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文件，代码庞大；</a:t>
            </a:r>
            <a:endParaRPr lang="en-US" altLang="zh-CN" dirty="0"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en-US" altLang="zh-CN" dirty="0">
                <a:latin typeface="黑体" panose="02010609060101010101" charset="-122"/>
                <a:ea typeface="黑体" panose="02010609060101010101" charset="-122"/>
              </a:rPr>
              <a:t>2. </a:t>
            </a:r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高耦合，维护太艰难；</a:t>
            </a:r>
            <a:endParaRPr lang="en-US" altLang="zh-CN" dirty="0"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en-US" altLang="zh-CN" dirty="0">
                <a:latin typeface="黑体" panose="02010609060101010101" charset="-122"/>
                <a:ea typeface="黑体" panose="02010609060101010101" charset="-122"/>
              </a:rPr>
              <a:t>3. </a:t>
            </a:r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多人一起开发，合并代码是噩梦；</a:t>
            </a:r>
            <a:endParaRPr lang="en-US" altLang="zh-CN" dirty="0"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en-US" altLang="zh-CN" dirty="0">
                <a:latin typeface="黑体" panose="02010609060101010101" charset="-122"/>
                <a:ea typeface="黑体" panose="02010609060101010101" charset="-122"/>
              </a:rPr>
              <a:t>4. IDE</a:t>
            </a:r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太卡了，代码写不动；</a:t>
            </a:r>
            <a:endParaRPr lang="en-US" altLang="zh-CN" dirty="0">
              <a:latin typeface="黑体" panose="02010609060101010101" charset="-122"/>
              <a:ea typeface="黑体" panose="02010609060101010101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018540" y="1839595"/>
            <a:ext cx="3834130" cy="2192655"/>
            <a:chOff x="1604" y="2897"/>
            <a:chExt cx="6038" cy="3453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604" y="2897"/>
              <a:ext cx="6037" cy="2537"/>
            </a:xfrm>
            <a:prstGeom prst="rect">
              <a:avLst/>
            </a:prstGeom>
          </p:spPr>
        </p:pic>
        <p:sp>
          <p:nvSpPr>
            <p:cNvPr id="6" name="文本框 5"/>
            <p:cNvSpPr txBox="1"/>
            <p:nvPr/>
          </p:nvSpPr>
          <p:spPr>
            <a:xfrm>
              <a:off x="1604" y="5774"/>
              <a:ext cx="6038" cy="5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>
                  <a:latin typeface="黑体" panose="02010609060101010101" charset="-122"/>
                  <a:ea typeface="黑体" panose="02010609060101010101" charset="-122"/>
                </a:rPr>
                <a:t>手机短线宝 </a:t>
              </a:r>
              <a:r>
                <a:rPr lang="en-US" altLang="zh-CN">
                  <a:latin typeface="黑体" panose="02010609060101010101" charset="-122"/>
                  <a:ea typeface="黑体" panose="02010609060101010101" charset="-122"/>
                </a:rPr>
                <a:t>tool_cats.php</a:t>
              </a:r>
              <a:endParaRPr lang="en-US" altLang="zh-CN">
                <a:latin typeface="黑体" panose="02010609060101010101" charset="-122"/>
                <a:ea typeface="黑体" panose="02010609060101010101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6118860" y="1902460"/>
            <a:ext cx="6247130" cy="2089150"/>
            <a:chOff x="9636" y="2996"/>
            <a:chExt cx="9838" cy="329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636" y="2996"/>
              <a:ext cx="9838" cy="2340"/>
            </a:xfrm>
            <a:prstGeom prst="rect">
              <a:avLst/>
            </a:prstGeom>
          </p:spPr>
        </p:pic>
        <p:sp>
          <p:nvSpPr>
            <p:cNvPr id="8" name="文本框 7"/>
            <p:cNvSpPr txBox="1"/>
            <p:nvPr/>
          </p:nvSpPr>
          <p:spPr>
            <a:xfrm>
              <a:off x="9636" y="5710"/>
              <a:ext cx="9837" cy="5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>
                  <a:latin typeface="黑体" panose="02010609060101010101" charset="-122"/>
                  <a:ea typeface="黑体" panose="02010609060101010101" charset="-122"/>
                </a:rPr>
                <a:t>手机支付 </a:t>
              </a:r>
              <a:r>
                <a:rPr lang="en-US" altLang="zh-CN">
                  <a:latin typeface="黑体" panose="02010609060101010101" charset="-122"/>
                  <a:ea typeface="黑体" panose="02010609060101010101" charset="-122"/>
                </a:rPr>
                <a:t>eq3_release.php</a:t>
              </a:r>
              <a:endParaRPr lang="en-US" altLang="zh-CN">
                <a:latin typeface="黑体" panose="02010609060101010101" charset="-122"/>
                <a:ea typeface="黑体" panose="02010609060101010101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9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8"/>
          <p:cNvSpPr txBox="1"/>
          <p:nvPr/>
        </p:nvSpPr>
        <p:spPr>
          <a:xfrm>
            <a:off x="4454798" y="233568"/>
            <a:ext cx="3949155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猜猜我是谁</a:t>
            </a:r>
            <a:endParaRPr lang="zh-CN" altLang="en-US" sz="3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1" name="TextBox 8"/>
          <p:cNvSpPr txBox="1"/>
          <p:nvPr/>
        </p:nvSpPr>
        <p:spPr>
          <a:xfrm>
            <a:off x="5025514" y="743527"/>
            <a:ext cx="2876303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WHITCH IS OOP?</a:t>
            </a:r>
            <a:endParaRPr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886327" y="591989"/>
            <a:ext cx="11086097" cy="0"/>
            <a:chOff x="1028775" y="591989"/>
            <a:chExt cx="11086097" cy="0"/>
          </a:xfrm>
        </p:grpSpPr>
        <p:cxnSp>
          <p:nvCxnSpPr>
            <p:cNvPr id="33" name="直接连接符 32"/>
            <p:cNvCxnSpPr/>
            <p:nvPr/>
          </p:nvCxnSpPr>
          <p:spPr>
            <a:xfrm>
              <a:off x="10287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>
              <a:off x="86106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文本框 5"/>
          <p:cNvSpPr txBox="1"/>
          <p:nvPr/>
        </p:nvSpPr>
        <p:spPr>
          <a:xfrm>
            <a:off x="8707090" y="4418707"/>
            <a:ext cx="3168352" cy="1463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严格来讲都</a:t>
            </a:r>
            <a:r>
              <a:rPr lang="zh-CN" altLang="en-US" b="1" dirty="0">
                <a:latin typeface="黑体" panose="02010609060101010101" charset="-122"/>
                <a:ea typeface="黑体" panose="02010609060101010101" charset="-122"/>
              </a:rPr>
              <a:t>不是</a:t>
            </a:r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。</a:t>
            </a:r>
            <a:endParaRPr lang="en-US" altLang="zh-CN" dirty="0"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用了</a:t>
            </a:r>
            <a:r>
              <a:rPr lang="en-US" altLang="zh-CN" dirty="0">
                <a:latin typeface="黑体" panose="02010609060101010101" charset="-122"/>
                <a:ea typeface="黑体" panose="02010609060101010101" charset="-122"/>
              </a:rPr>
              <a:t>class</a:t>
            </a:r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不代表就是面向对象，准确地来讲还是面向事件。</a:t>
            </a:r>
            <a:endParaRPr lang="en-US" altLang="zh-CN" dirty="0"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面向对象需要充分地使用</a:t>
            </a:r>
            <a:r>
              <a:rPr lang="en-US" altLang="zh-CN" dirty="0">
                <a:latin typeface="黑体" panose="02010609060101010101" charset="-122"/>
                <a:ea typeface="黑体" panose="02010609060101010101" charset="-122"/>
              </a:rPr>
              <a:t>class</a:t>
            </a:r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的抽象、多态等性质。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1517015" y="1025525"/>
            <a:ext cx="3924935" cy="29565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indent="0" algn="l"/>
            <a:r>
              <a:rPr lang="en-US" altLang="zh-CN" sz="16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&lt;?php</a:t>
            </a:r>
            <a:endParaRPr lang="en-US" altLang="zh-CN" sz="1600" b="0" u="none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>
                <a:solidFill>
                  <a:schemeClr val="tx1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// </a:t>
            </a:r>
            <a:r>
              <a:rPr lang="zh-CN" altLang="en-US" sz="1600" b="0" u="none">
                <a:solidFill>
                  <a:schemeClr val="tx1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一号选手 从数据库查询数据</a:t>
            </a:r>
            <a:endParaRPr lang="zh-CN" altLang="en-US" sz="1600" b="0" u="none">
              <a:solidFill>
                <a:schemeClr val="tx1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$m</a:t>
            </a:r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mysqli_connect</a:t>
            </a:r>
            <a:r>
              <a:rPr lang="en-US" altLang="zh-CN" sz="16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(...);</a:t>
            </a:r>
            <a:endParaRPr lang="en-US" altLang="zh-CN" sz="1600" b="0" u="none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$res</a:t>
            </a:r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mysqli_query</a:t>
            </a:r>
            <a:r>
              <a:rPr lang="en-US" altLang="zh-CN" sz="14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zh-CN" sz="14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$m</a:t>
            </a:r>
            <a:r>
              <a:rPr lang="en-US" altLang="zh-CN" sz="14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,</a:t>
            </a:r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$sql</a:t>
            </a:r>
            <a:r>
              <a:rPr lang="en-US" altLang="zh-CN" sz="16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);</a:t>
            </a:r>
            <a:endParaRPr lang="en-US" altLang="zh-CN" sz="1600" b="0" u="none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$results</a:t>
            </a:r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6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= [];</a:t>
            </a:r>
            <a:endParaRPr lang="en-US" altLang="zh-CN" sz="1600" b="0" u="none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while</a:t>
            </a:r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zh-CN" sz="1400" b="0" u="none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true</a:t>
            </a:r>
            <a:r>
              <a:rPr lang="en-US" altLang="zh-CN" sz="16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) {</a:t>
            </a:r>
            <a:endParaRPr lang="en-US" altLang="zh-CN" sz="1600" b="0" u="none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4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$row</a:t>
            </a:r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mysqli_fetch_assioc</a:t>
            </a:r>
            <a:r>
              <a:rPr lang="en-US" altLang="zh-CN" sz="14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zh-CN" sz="14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$res</a:t>
            </a:r>
            <a:r>
              <a:rPr lang="en-US" altLang="zh-CN" sz="16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);</a:t>
            </a:r>
            <a:endParaRPr lang="en-US" altLang="zh-CN" sz="1600" b="0" u="none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400" b="0" u="none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if</a:t>
            </a:r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zh-CN" sz="1400" b="0" u="none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empty</a:t>
            </a:r>
            <a:r>
              <a:rPr lang="en-US" altLang="zh-CN" sz="14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zh-CN" sz="14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$row</a:t>
            </a:r>
            <a:r>
              <a:rPr lang="en-US" altLang="zh-CN" sz="16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)) {</a:t>
            </a:r>
            <a:endParaRPr lang="en-US" altLang="zh-CN" sz="1600" b="0" u="none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zh-CN" sz="1400" b="0" u="none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break</a:t>
            </a:r>
            <a:r>
              <a:rPr lang="en-US" altLang="zh-CN" sz="16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;</a:t>
            </a:r>
            <a:endParaRPr lang="en-US" altLang="zh-CN" sz="1600" b="0" u="none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6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}</a:t>
            </a:r>
            <a:endParaRPr lang="en-US" altLang="zh-CN" sz="1600" b="0" u="none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4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$results</a:t>
            </a:r>
            <a:r>
              <a:rPr lang="en-US" altLang="zh-CN" sz="14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[] =</a:t>
            </a:r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$row</a:t>
            </a:r>
            <a:r>
              <a:rPr lang="en-US" altLang="zh-CN" sz="14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;</a:t>
            </a:r>
            <a:endParaRPr lang="en-US" altLang="zh-CN" sz="1400" b="0" u="none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}</a:t>
            </a:r>
            <a:endParaRPr lang="en-US" altLang="zh-CN" sz="1400" b="0" u="none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604000" y="1391285"/>
            <a:ext cx="4239260" cy="23164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indent="0" algn="l"/>
            <a:r>
              <a:rPr lang="en-US" altLang="zh-CN" sz="18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&lt;?php</a:t>
            </a:r>
            <a:endParaRPr lang="en-US" altLang="zh-CN" sz="1800" b="0" u="none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600" b="0" u="none">
                <a:solidFill>
                  <a:schemeClr val="tx1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// </a:t>
            </a:r>
            <a:r>
              <a:rPr lang="zh-CN" altLang="en-US" sz="1600" b="0" u="none">
                <a:solidFill>
                  <a:schemeClr val="tx1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二号选手 </a:t>
            </a:r>
            <a:r>
              <a:rPr lang="zh-CN" altLang="en-US" sz="1600">
                <a:solidFill>
                  <a:schemeClr val="tx1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  <a:sym typeface="+mn-ea"/>
              </a:rPr>
              <a:t>从数据库查询数据</a:t>
            </a:r>
            <a:endParaRPr lang="zh-CN" altLang="en-US" sz="1600" b="0" u="none">
              <a:solidFill>
                <a:schemeClr val="tx1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  <a:sym typeface="+mn-ea"/>
            </a:endParaRPr>
          </a:p>
          <a:p>
            <a:pPr marL="0" indent="0" algn="l"/>
            <a:r>
              <a:rPr lang="en-US" altLang="zh-CN" sz="16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$m</a:t>
            </a:r>
            <a:r>
              <a:rPr lang="en-US" altLang="zh-CN" sz="16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6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zh-CN" sz="16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600" b="0" u="none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new</a:t>
            </a:r>
            <a:r>
              <a:rPr lang="en-US" altLang="zh-CN" sz="16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6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MySQLi</a:t>
            </a:r>
            <a:r>
              <a:rPr lang="en-US" altLang="zh-CN" sz="16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(...);</a:t>
            </a:r>
            <a:r>
              <a:rPr lang="en-US" altLang="zh-CN" sz="16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endParaRPr lang="en-US" altLang="zh-CN" sz="1800" b="0" u="none">
              <a:solidFill>
                <a:srgbClr val="B386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6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$res</a:t>
            </a:r>
            <a:r>
              <a:rPr lang="en-US" altLang="zh-CN" sz="16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6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zh-CN" sz="16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6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$m-&gt;query</a:t>
            </a:r>
            <a:r>
              <a:rPr lang="en-US" altLang="zh-CN" sz="16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zh-CN" sz="16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</a:t>
            </a:r>
            <a:r>
              <a:rPr lang="en-US" altLang="zh-CN" sz="16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sql</a:t>
            </a:r>
            <a:r>
              <a:rPr lang="en-US" altLang="zh-CN" sz="16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);</a:t>
            </a:r>
            <a:r>
              <a:rPr lang="en-US" altLang="zh-CN" sz="16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endParaRPr lang="en-US" altLang="zh-CN" sz="1800" b="0" u="none">
              <a:solidFill>
                <a:srgbClr val="B386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6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$results</a:t>
            </a:r>
            <a:r>
              <a:rPr lang="en-US" altLang="zh-CN" sz="16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6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zh-CN" sz="16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[]</a:t>
            </a:r>
            <a:r>
              <a:rPr lang="en-US" altLang="zh-CN" sz="16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;</a:t>
            </a:r>
            <a:r>
              <a:rPr lang="en-US" altLang="zh-CN" sz="16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endParaRPr lang="en-US" altLang="zh-CN" sz="1800" b="0" u="none">
              <a:solidFill>
                <a:srgbClr val="5D1DA7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600" b="0" u="none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while</a:t>
            </a:r>
            <a:r>
              <a:rPr lang="en-US" altLang="zh-CN" sz="16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6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zh-CN" sz="16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$row</a:t>
            </a:r>
            <a:r>
              <a:rPr lang="en-US" altLang="zh-CN" sz="16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6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zh-CN" sz="16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6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$m-&gt;fetch_assoc</a:t>
            </a:r>
            <a:r>
              <a:rPr lang="en-US" altLang="zh-CN" sz="16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zh-CN" sz="16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$res</a:t>
            </a:r>
            <a:r>
              <a:rPr lang="en-US" altLang="zh-CN" sz="16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)) {</a:t>
            </a:r>
            <a:r>
              <a:rPr lang="en-US" altLang="zh-CN" sz="16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endParaRPr lang="en-US" altLang="zh-CN" sz="1600" b="0" u="none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6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6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$results</a:t>
            </a:r>
            <a:r>
              <a:rPr lang="en-US" altLang="zh-CN" sz="16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[] =</a:t>
            </a:r>
            <a:r>
              <a:rPr lang="en-US" altLang="zh-CN" sz="16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6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$row</a:t>
            </a:r>
            <a:r>
              <a:rPr lang="en-US" altLang="zh-CN" sz="16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;</a:t>
            </a:r>
            <a:r>
              <a:rPr lang="en-US" altLang="zh-CN" sz="16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endParaRPr lang="en-US" altLang="zh-CN" sz="1800" b="0" u="none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6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}</a:t>
            </a:r>
            <a:r>
              <a:rPr lang="en-US" altLang="zh-CN" sz="16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endParaRPr lang="en-US" altLang="zh-CN" sz="1600" b="0" u="none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047490" y="3776345"/>
            <a:ext cx="4102735" cy="31394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indent="0" algn="l"/>
            <a:r>
              <a:rPr lang="en-US" altLang="zh-CN" sz="16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&lt;?php</a:t>
            </a:r>
            <a:endParaRPr lang="en-US" altLang="zh-CN" sz="1600" b="0" u="none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>
                <a:solidFill>
                  <a:schemeClr val="tx1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// </a:t>
            </a:r>
            <a:r>
              <a:rPr lang="zh-CN" altLang="en-US" sz="1400" b="0" u="none">
                <a:solidFill>
                  <a:schemeClr val="tx1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三号选手</a:t>
            </a:r>
            <a:r>
              <a:rPr lang="zh-CN" altLang="en-US" sz="1400">
                <a:solidFill>
                  <a:schemeClr val="tx1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  <a:sym typeface="+mn-ea"/>
              </a:rPr>
              <a:t> 从数据库查询数据</a:t>
            </a:r>
            <a:endParaRPr lang="zh-CN" altLang="en-US" sz="1400" b="0" u="none">
              <a:solidFill>
                <a:schemeClr val="tx1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  <a:sym typeface="+mn-ea"/>
            </a:endParaRPr>
          </a:p>
          <a:p>
            <a:pPr marL="0" indent="0" algn="l"/>
            <a:r>
              <a:rPr lang="en-US" altLang="zh-CN" sz="1400" b="0" u="none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GetResults</a:t>
            </a:r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{</a:t>
            </a:r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endParaRPr lang="en-US" altLang="zh-CN" sz="1400" b="0" u="none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400" b="0" u="none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public function</a:t>
            </a:r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getResults</a:t>
            </a:r>
            <a:r>
              <a:rPr lang="en-US" altLang="zh-CN" sz="16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() {</a:t>
            </a:r>
            <a:endParaRPr lang="en-US" altLang="zh-CN" sz="1600" b="0" u="none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zh-CN" sz="14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$m</a:t>
            </a:r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new</a:t>
            </a:r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MySQLi</a:t>
            </a:r>
            <a:r>
              <a:rPr lang="en-US" altLang="zh-CN" sz="14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(...);</a:t>
            </a:r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endParaRPr lang="en-US" altLang="zh-CN" sz="1400" b="0" u="none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zh-CN" sz="14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$res</a:t>
            </a:r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$m-&gt;query</a:t>
            </a:r>
            <a:r>
              <a:rPr lang="en-US" altLang="zh-CN" sz="14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zh-CN" sz="14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$query</a:t>
            </a:r>
            <a:r>
              <a:rPr lang="en-US" altLang="zh-CN" sz="14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);</a:t>
            </a:r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endParaRPr lang="en-US" altLang="zh-CN" sz="1400" b="0" u="none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zh-CN" sz="14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$results</a:t>
            </a:r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[]</a:t>
            </a:r>
            <a:r>
              <a:rPr lang="en-US" altLang="zh-CN" sz="14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;</a:t>
            </a:r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endParaRPr lang="en-US" altLang="zh-CN" sz="1400" b="0" u="none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zh-CN" sz="1400" b="0" u="none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while</a:t>
            </a:r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zh-CN" sz="14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$row</a:t>
            </a:r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$m-&gt;fetch_assoc</a:t>
            </a:r>
            <a:r>
              <a:rPr lang="en-US" altLang="zh-CN" sz="14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zh-CN" sz="14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$res</a:t>
            </a:r>
            <a:r>
              <a:rPr lang="en-US" altLang="zh-CN" sz="14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)) {</a:t>
            </a:r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endParaRPr lang="en-US" altLang="zh-CN" sz="1400" b="0" u="none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        </a:t>
            </a:r>
            <a:r>
              <a:rPr lang="en-US" altLang="zh-CN" sz="14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$results</a:t>
            </a:r>
            <a:r>
              <a:rPr lang="en-US" altLang="zh-CN" sz="14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[] =</a:t>
            </a:r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$row</a:t>
            </a:r>
            <a:r>
              <a:rPr lang="en-US" altLang="zh-CN" sz="14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;</a:t>
            </a:r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endParaRPr lang="en-US" altLang="zh-CN" sz="1400" b="0" u="none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zh-CN" sz="14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}</a:t>
            </a:r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endParaRPr lang="en-US" altLang="zh-CN" sz="1400" b="0" u="none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zh-CN" sz="1400" b="0" u="none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return</a:t>
            </a:r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$results</a:t>
            </a:r>
            <a:r>
              <a:rPr lang="en-US" altLang="zh-CN" sz="14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;</a:t>
            </a:r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endParaRPr lang="en-US" altLang="zh-CN" sz="1400" b="0" u="none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4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}</a:t>
            </a:r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endParaRPr lang="en-US" altLang="zh-CN" sz="1600" b="0" u="none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}</a:t>
            </a:r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endParaRPr lang="en-US" altLang="zh-CN" sz="1400" b="0" u="none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9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8"/>
          <p:cNvSpPr txBox="1"/>
          <p:nvPr/>
        </p:nvSpPr>
        <p:spPr>
          <a:xfrm>
            <a:off x="4454798" y="233568"/>
            <a:ext cx="3949155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我才是</a:t>
            </a:r>
            <a:r>
              <a:rPr lang="en-US" altLang="zh-CN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OOP</a:t>
            </a:r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！</a:t>
            </a:r>
            <a:endParaRPr lang="zh-CN" altLang="en-US" sz="3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1" name="TextBox 8"/>
          <p:cNvSpPr txBox="1"/>
          <p:nvPr/>
        </p:nvSpPr>
        <p:spPr>
          <a:xfrm>
            <a:off x="5025514" y="712750"/>
            <a:ext cx="287630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I AM THE OOP!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886327" y="591989"/>
            <a:ext cx="11086097" cy="0"/>
            <a:chOff x="1028775" y="591989"/>
            <a:chExt cx="11086097" cy="0"/>
          </a:xfrm>
        </p:grpSpPr>
        <p:cxnSp>
          <p:nvCxnSpPr>
            <p:cNvPr id="33" name="直接连接符 32"/>
            <p:cNvCxnSpPr/>
            <p:nvPr/>
          </p:nvCxnSpPr>
          <p:spPr>
            <a:xfrm>
              <a:off x="10287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>
              <a:off x="86106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文本框 5"/>
          <p:cNvSpPr txBox="1"/>
          <p:nvPr/>
        </p:nvSpPr>
        <p:spPr>
          <a:xfrm>
            <a:off x="8085559" y="5163333"/>
            <a:ext cx="3168352" cy="640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对数据进行抽象</a:t>
            </a:r>
            <a:endParaRPr lang="en-US" altLang="zh-CN" dirty="0"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使用到多态（继承）</a:t>
            </a:r>
            <a:endParaRPr lang="en-US" altLang="zh-CN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886460" y="1117600"/>
            <a:ext cx="5873750" cy="54559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indent="0" algn="l"/>
            <a:r>
              <a:rPr lang="en-US" altLang="zh-CN" sz="11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&lt;?php</a:t>
            </a:r>
            <a:endParaRPr lang="en-US" altLang="zh-CN" sz="1100" b="0" u="none" dirty="0">
              <a:solidFill>
                <a:srgbClr val="5D1DA7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100" b="0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abstract class</a:t>
            </a:r>
            <a:r>
              <a:rPr lang="en-US" altLang="zh-CN" sz="11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1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Base</a:t>
            </a:r>
            <a:r>
              <a:rPr lang="en-US" altLang="zh-CN" sz="11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1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{</a:t>
            </a:r>
            <a:endParaRPr lang="en-US" altLang="zh-CN" sz="1100" b="0" u="none" dirty="0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1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100" b="0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protected</a:t>
            </a:r>
            <a:r>
              <a:rPr lang="en-US" altLang="zh-CN" sz="11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100" b="0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$table</a:t>
            </a:r>
            <a:r>
              <a:rPr lang="en-US" altLang="zh-CN" sz="11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1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zh-CN" sz="11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100" b="0" u="none" dirty="0">
                <a:solidFill>
                  <a:srgbClr val="913618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""</a:t>
            </a:r>
            <a:r>
              <a:rPr lang="en-US" altLang="zh-CN" sz="11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;</a:t>
            </a:r>
            <a:endParaRPr lang="en-US" altLang="zh-CN" sz="1100" b="0" u="none" dirty="0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1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100" b="0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protected</a:t>
            </a:r>
            <a:r>
              <a:rPr lang="en-US" altLang="zh-CN" sz="11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100" b="0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$attributes</a:t>
            </a:r>
            <a:r>
              <a:rPr lang="en-US" altLang="zh-CN" sz="11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1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= [];</a:t>
            </a:r>
            <a:endParaRPr lang="en-US" altLang="zh-CN" sz="1100" b="0" u="none" dirty="0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1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100" b="0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static protected</a:t>
            </a:r>
            <a:r>
              <a:rPr lang="en-US" altLang="zh-CN" sz="11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100" b="0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</a:t>
            </a:r>
            <a:r>
              <a:rPr lang="en-US" altLang="zh-CN" sz="1100" b="0" u="none" dirty="0" err="1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dbConnection</a:t>
            </a:r>
            <a:r>
              <a:rPr lang="en-US" altLang="zh-CN" sz="11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1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zh-CN" sz="11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100" b="0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null</a:t>
            </a:r>
            <a:r>
              <a:rPr lang="en-US" altLang="zh-CN" sz="11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;</a:t>
            </a:r>
            <a:endParaRPr lang="en-US" altLang="zh-CN" sz="1100" b="0" u="none" dirty="0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1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100" b="0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public function</a:t>
            </a:r>
            <a:r>
              <a:rPr lang="en-US" altLang="zh-CN" sz="11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100" b="0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__construct</a:t>
            </a:r>
            <a:r>
              <a:rPr lang="en-US" altLang="zh-CN" sz="11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zh-CN" sz="1100" b="0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array</a:t>
            </a:r>
            <a:r>
              <a:rPr lang="en-US" altLang="zh-CN" sz="11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100" b="0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$attributes</a:t>
            </a:r>
            <a:r>
              <a:rPr lang="en-US" altLang="zh-CN" sz="11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) {</a:t>
            </a:r>
            <a:endParaRPr lang="en-US" altLang="zh-CN" sz="1100" b="0" u="none" dirty="0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1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zh-CN" sz="1100" b="0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$this-&gt;attributes</a:t>
            </a:r>
            <a:r>
              <a:rPr lang="en-US" altLang="zh-CN" sz="11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1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zh-CN" sz="11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100" b="0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$attributes</a:t>
            </a:r>
            <a:r>
              <a:rPr lang="en-US" altLang="zh-CN" sz="11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;</a:t>
            </a:r>
            <a:endParaRPr lang="en-US" altLang="zh-CN" sz="1100" b="0" u="none" dirty="0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1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1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}</a:t>
            </a:r>
            <a:endParaRPr lang="en-US" altLang="zh-CN" sz="1100" b="0" u="none" dirty="0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1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endParaRPr lang="en-US" altLang="zh-CN" sz="1100" b="0" u="none" dirty="0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1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100" b="0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protected static function</a:t>
            </a:r>
            <a:r>
              <a:rPr lang="en-US" altLang="zh-CN" sz="11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100" b="0" u="none" dirty="0" err="1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getDBConnection</a:t>
            </a:r>
            <a:r>
              <a:rPr lang="en-US" altLang="zh-CN" sz="11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() {</a:t>
            </a:r>
            <a:endParaRPr lang="en-US" altLang="zh-CN" sz="1100" b="0" u="none" dirty="0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1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zh-CN" sz="1100" b="0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if</a:t>
            </a:r>
            <a:r>
              <a:rPr lang="en-US" altLang="zh-CN" sz="11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1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(self::</a:t>
            </a:r>
            <a:r>
              <a:rPr lang="en-US" altLang="zh-CN" sz="1100" b="0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</a:t>
            </a:r>
            <a:r>
              <a:rPr lang="en-US" altLang="zh-CN" sz="1100" b="0" u="none" dirty="0" err="1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dbConnection</a:t>
            </a:r>
            <a:r>
              <a:rPr lang="en-US" altLang="zh-CN" sz="11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1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===</a:t>
            </a:r>
            <a:r>
              <a:rPr lang="en-US" altLang="zh-CN" sz="11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100" b="0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null</a:t>
            </a:r>
            <a:r>
              <a:rPr lang="en-US" altLang="zh-CN" sz="11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) {</a:t>
            </a:r>
            <a:endParaRPr lang="en-US" altLang="zh-CN" sz="1100" b="0" u="none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1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        self::</a:t>
            </a:r>
            <a:r>
              <a:rPr lang="en-US" altLang="zh-CN" sz="1100" b="0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</a:t>
            </a:r>
            <a:r>
              <a:rPr lang="en-US" altLang="zh-CN" sz="1100" b="0" u="none" dirty="0" err="1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dbConnection</a:t>
            </a:r>
            <a:r>
              <a:rPr lang="en-US" altLang="zh-CN" sz="11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1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zh-CN" sz="11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100" b="0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new</a:t>
            </a:r>
            <a:r>
              <a:rPr lang="en-US" altLang="zh-CN" sz="11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1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\</a:t>
            </a:r>
            <a:r>
              <a:rPr lang="en-US" altLang="zh-CN" sz="1100" b="0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PDO</a:t>
            </a:r>
            <a:r>
              <a:rPr lang="en-US" altLang="zh-CN" sz="11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(...);</a:t>
            </a:r>
            <a:endParaRPr lang="en-US" altLang="zh-CN" sz="1100" b="0" u="none" dirty="0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1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zh-CN" sz="11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}</a:t>
            </a:r>
            <a:endParaRPr lang="en-US" altLang="zh-CN" sz="1100" b="0" u="none" dirty="0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1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zh-CN" sz="1100" b="0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return</a:t>
            </a:r>
            <a:r>
              <a:rPr lang="en-US" altLang="zh-CN" sz="11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1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self::</a:t>
            </a:r>
            <a:r>
              <a:rPr lang="en-US" altLang="zh-CN" sz="1100" b="0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</a:t>
            </a:r>
            <a:r>
              <a:rPr lang="en-US" altLang="zh-CN" sz="1100" b="0" u="none" dirty="0" err="1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dbConnection</a:t>
            </a:r>
            <a:r>
              <a:rPr lang="en-US" altLang="zh-CN" sz="11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;</a:t>
            </a:r>
            <a:endParaRPr lang="en-US" altLang="zh-CN" sz="1100" b="0" u="none" dirty="0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1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1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}</a:t>
            </a:r>
            <a:endParaRPr lang="en-US" altLang="zh-CN" sz="1100" b="0" u="none" dirty="0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1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endParaRPr lang="en-US" altLang="zh-CN" sz="1100" b="0" u="none" dirty="0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1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100" b="0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public static function</a:t>
            </a:r>
            <a:r>
              <a:rPr lang="en-US" altLang="zh-CN" sz="11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100" b="0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query</a:t>
            </a:r>
            <a:r>
              <a:rPr lang="en-US" altLang="zh-CN" sz="11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zh-CN" sz="1100" b="0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$condition</a:t>
            </a:r>
            <a:r>
              <a:rPr lang="en-US" altLang="zh-CN" sz="11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) {</a:t>
            </a:r>
            <a:endParaRPr lang="en-US" altLang="zh-CN" sz="1100" b="0" u="none" dirty="0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1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zh-CN" sz="1100" b="0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</a:t>
            </a:r>
            <a:r>
              <a:rPr lang="en-US" altLang="zh-CN" sz="1100" b="0" u="none" dirty="0" err="1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dbConnection</a:t>
            </a:r>
            <a:r>
              <a:rPr lang="en-US" altLang="zh-CN" sz="11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1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zh-CN" sz="11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1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self::</a:t>
            </a:r>
            <a:r>
              <a:rPr lang="en-US" altLang="zh-CN" sz="1100" b="0" u="none" dirty="0" err="1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getDBConnection</a:t>
            </a:r>
            <a:r>
              <a:rPr lang="en-US" altLang="zh-CN" sz="11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();</a:t>
            </a:r>
            <a:endParaRPr lang="en-US" altLang="zh-CN" sz="1100" b="0" u="none" dirty="0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1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zh-CN" sz="1100" b="0" u="none" dirty="0">
                <a:solidFill>
                  <a:srgbClr val="969896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/* </a:t>
            </a:r>
            <a:r>
              <a:rPr lang="zh-CN" altLang="en-US" sz="1100" b="0" u="none" dirty="0">
                <a:solidFill>
                  <a:srgbClr val="969896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使用</a:t>
            </a:r>
            <a:r>
              <a:rPr lang="en-US" altLang="zh-CN" sz="1100" b="0" u="none" dirty="0">
                <a:solidFill>
                  <a:srgbClr val="969896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$condition </a:t>
            </a:r>
            <a:r>
              <a:rPr lang="zh-CN" altLang="en-US" sz="1100" b="0" u="none" dirty="0">
                <a:solidFill>
                  <a:srgbClr val="969896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和 </a:t>
            </a:r>
            <a:r>
              <a:rPr lang="en-US" altLang="zh-CN" sz="1100" b="0" u="none" dirty="0">
                <a:solidFill>
                  <a:srgbClr val="969896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$table </a:t>
            </a:r>
            <a:r>
              <a:rPr lang="zh-CN" altLang="en-US" sz="1100" b="0" u="none" dirty="0">
                <a:solidFill>
                  <a:srgbClr val="969896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查询得到数据库查询结果 </a:t>
            </a:r>
            <a:r>
              <a:rPr lang="en-US" altLang="zh-CN" sz="1100" b="0" u="none" dirty="0">
                <a:solidFill>
                  <a:srgbClr val="969896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*/</a:t>
            </a:r>
            <a:endParaRPr lang="en-US" altLang="zh-CN" sz="1100" b="0" u="none" dirty="0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1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   </a:t>
            </a:r>
            <a:r>
              <a:rPr lang="en-US" altLang="zh-CN" sz="1100" b="0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$result</a:t>
            </a:r>
            <a:r>
              <a:rPr lang="en-US" altLang="zh-CN" sz="11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1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= [];</a:t>
            </a:r>
            <a:endParaRPr lang="en-US" altLang="zh-CN" sz="1100" b="0" u="none" dirty="0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1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   </a:t>
            </a:r>
            <a:r>
              <a:rPr lang="en-US" altLang="zh-CN" sz="1100" b="0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</a:t>
            </a:r>
            <a:r>
              <a:rPr lang="en-US" altLang="zh-CN" sz="1100" b="0" u="none" dirty="0" err="1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className</a:t>
            </a:r>
            <a:r>
              <a:rPr lang="en-US" altLang="zh-CN" sz="11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1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zh-CN" sz="11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100" b="0" u="none" dirty="0" err="1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get_called_class</a:t>
            </a:r>
            <a:r>
              <a:rPr lang="en-US" altLang="zh-CN" sz="11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();</a:t>
            </a:r>
            <a:endParaRPr lang="en-US" altLang="zh-CN" sz="1100" b="0" u="none" dirty="0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1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zh-CN" sz="1100" b="0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while</a:t>
            </a:r>
            <a:r>
              <a:rPr lang="en-US" altLang="zh-CN" sz="11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zh-CN" sz="1100" b="0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$record</a:t>
            </a:r>
            <a:r>
              <a:rPr lang="en-US" altLang="zh-CN" sz="11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1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zh-CN" sz="11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100" b="0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</a:t>
            </a:r>
            <a:r>
              <a:rPr lang="en-US" altLang="zh-CN" sz="1100" b="0" u="none" dirty="0" err="1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stmt</a:t>
            </a:r>
            <a:r>
              <a:rPr lang="en-US" altLang="zh-CN" sz="1100" b="0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-&gt;fetch</a:t>
            </a:r>
            <a:r>
              <a:rPr lang="en-US" altLang="zh-CN" sz="11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(\PDO::FETCH_ASSOC)) {</a:t>
            </a:r>
            <a:endParaRPr lang="en-US" altLang="zh-CN" sz="1100" b="0" u="none" dirty="0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1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          </a:t>
            </a:r>
            <a:r>
              <a:rPr lang="en-US" altLang="zh-CN" sz="1100" b="0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$result[]</a:t>
            </a:r>
            <a:r>
              <a:rPr lang="en-US" altLang="zh-CN" sz="11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1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zh-CN" sz="11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100" b="0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new</a:t>
            </a:r>
            <a:r>
              <a:rPr lang="en-US" altLang="zh-CN" sz="11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100" b="0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</a:t>
            </a:r>
            <a:r>
              <a:rPr lang="en-US" altLang="zh-CN" sz="1100" b="0" u="none" dirty="0" err="1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className</a:t>
            </a:r>
            <a:r>
              <a:rPr lang="en-US" altLang="zh-CN" sz="11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zh-CN" sz="1100" b="0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$record</a:t>
            </a:r>
            <a:r>
              <a:rPr lang="en-US" altLang="zh-CN" sz="11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);</a:t>
            </a:r>
            <a:endParaRPr lang="en-US" altLang="zh-CN" sz="1100" b="0" u="none" dirty="0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1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zh-CN" sz="11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}</a:t>
            </a:r>
            <a:endParaRPr lang="en-US" altLang="zh-CN" sz="1100" b="0" u="none" dirty="0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1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   </a:t>
            </a:r>
            <a:r>
              <a:rPr lang="en-US" altLang="zh-CN" sz="1100" b="0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return</a:t>
            </a:r>
            <a:r>
              <a:rPr lang="en-US" altLang="zh-CN" sz="11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100" b="0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$result</a:t>
            </a:r>
            <a:r>
              <a:rPr lang="en-US" altLang="zh-CN" sz="11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;</a:t>
            </a:r>
            <a:endParaRPr lang="en-US" altLang="zh-CN" sz="1100" b="0" u="none" dirty="0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1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1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}</a:t>
            </a:r>
            <a:endParaRPr lang="en-US" altLang="zh-CN" sz="1100" b="0" u="none" dirty="0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1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endParaRPr lang="en-US" altLang="zh-CN" sz="1100" b="0" u="none" dirty="0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1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100" b="0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public function</a:t>
            </a:r>
            <a:r>
              <a:rPr lang="en-US" altLang="zh-CN" sz="11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100" b="0" u="none" dirty="0" err="1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getAttribute</a:t>
            </a:r>
            <a:r>
              <a:rPr lang="en-US" altLang="zh-CN" sz="11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zh-CN" sz="1100" b="0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$key</a:t>
            </a:r>
            <a:r>
              <a:rPr lang="en-US" altLang="zh-CN" sz="11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) {</a:t>
            </a:r>
            <a:endParaRPr lang="en-US" altLang="zh-CN" sz="1100" b="0" u="none" dirty="0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1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zh-CN" sz="1100" b="0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return </a:t>
            </a:r>
            <a:r>
              <a:rPr lang="en-US" altLang="zh-CN" sz="1100" b="0" u="none" dirty="0" err="1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isset</a:t>
            </a:r>
            <a:r>
              <a:rPr lang="en-US" altLang="zh-CN" sz="11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zh-CN" sz="1100" b="0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$this-&gt;attributes</a:t>
            </a:r>
            <a:r>
              <a:rPr lang="en-US" altLang="zh-CN" sz="11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[</a:t>
            </a:r>
            <a:r>
              <a:rPr lang="en-US" altLang="zh-CN" sz="1100" b="0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$key</a:t>
            </a:r>
            <a:r>
              <a:rPr lang="en-US" altLang="zh-CN" sz="11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])</a:t>
            </a:r>
            <a:r>
              <a:rPr lang="en-US" altLang="zh-CN" sz="11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1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?</a:t>
            </a:r>
            <a:r>
              <a:rPr lang="en-US" altLang="zh-CN" sz="11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100" b="0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$this-&gt;attributes</a:t>
            </a:r>
            <a:r>
              <a:rPr lang="en-US" altLang="zh-CN" sz="11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[</a:t>
            </a:r>
            <a:r>
              <a:rPr lang="en-US" altLang="zh-CN" sz="1100" b="0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$key</a:t>
            </a:r>
            <a:r>
              <a:rPr lang="en-US" altLang="zh-CN" sz="11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] :</a:t>
            </a:r>
            <a:r>
              <a:rPr lang="en-US" altLang="zh-CN" sz="11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100" b="0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null</a:t>
            </a:r>
            <a:r>
              <a:rPr lang="en-US" altLang="zh-CN" sz="11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;</a:t>
            </a:r>
            <a:endParaRPr lang="en-US" altLang="zh-CN" sz="1100" b="0" u="none" dirty="0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1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1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}</a:t>
            </a:r>
            <a:endParaRPr lang="en-US" altLang="zh-CN" sz="1100" b="0" u="none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1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}</a:t>
            </a:r>
            <a:endParaRPr lang="zh-CN" altLang="en-US" sz="1100" dirty="0"/>
          </a:p>
        </p:txBody>
      </p:sp>
      <p:sp>
        <p:nvSpPr>
          <p:cNvPr id="2" name="文本框 1"/>
          <p:cNvSpPr txBox="1"/>
          <p:nvPr/>
        </p:nvSpPr>
        <p:spPr>
          <a:xfrm>
            <a:off x="6974205" y="1117600"/>
            <a:ext cx="5080000" cy="33832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marL="0" indent="0" algn="l"/>
            <a:r>
              <a:rPr lang="en-US" altLang="zh-CN" sz="12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&lt;?php</a:t>
            </a:r>
            <a:endParaRPr lang="en-US" altLang="zh-CN" sz="1200" b="0" u="none" dirty="0">
              <a:solidFill>
                <a:srgbClr val="5D1DA7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200" b="0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zh-CN" sz="12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2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Stock</a:t>
            </a:r>
            <a:r>
              <a:rPr lang="en-US" altLang="zh-CN" sz="12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2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{</a:t>
            </a:r>
            <a:endParaRPr lang="en-US" altLang="zh-CN" sz="1200" b="0" u="none" dirty="0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2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200" b="0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protected</a:t>
            </a:r>
            <a:r>
              <a:rPr lang="en-US" altLang="zh-CN" sz="12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200" b="0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$table</a:t>
            </a:r>
            <a:r>
              <a:rPr lang="en-US" altLang="zh-CN" sz="12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2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zh-CN" sz="12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200" b="0" u="none" dirty="0">
                <a:solidFill>
                  <a:srgbClr val="913618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"stock"</a:t>
            </a:r>
            <a:r>
              <a:rPr lang="en-US" altLang="zh-CN" sz="12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;</a:t>
            </a:r>
            <a:endParaRPr lang="en-US" altLang="zh-CN" sz="1200" b="0" u="none" dirty="0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2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200" b="0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public function</a:t>
            </a:r>
            <a:r>
              <a:rPr lang="en-US" altLang="zh-CN" sz="12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200" b="0" u="none" dirty="0" err="1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getMarketId</a:t>
            </a:r>
            <a:r>
              <a:rPr lang="en-US" altLang="zh-CN" sz="12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() {</a:t>
            </a:r>
            <a:endParaRPr lang="en-US" altLang="zh-CN" sz="1200" b="0" u="none" dirty="0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2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zh-CN" sz="1200" b="0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return</a:t>
            </a:r>
            <a:r>
              <a:rPr lang="en-US" altLang="zh-CN" sz="12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200" b="0" u="none" dirty="0" err="1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intval</a:t>
            </a:r>
            <a:r>
              <a:rPr lang="en-US" altLang="zh-CN" sz="12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zh-CN" sz="1200" b="0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$this-&gt;</a:t>
            </a:r>
            <a:r>
              <a:rPr lang="en-US" altLang="zh-CN" sz="1200" b="0" u="none" dirty="0" err="1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getAttribute</a:t>
            </a:r>
            <a:r>
              <a:rPr lang="en-US" altLang="zh-CN" sz="12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[</a:t>
            </a:r>
            <a:r>
              <a:rPr lang="en-US" altLang="zh-CN" sz="1200" b="0" u="none" dirty="0">
                <a:solidFill>
                  <a:srgbClr val="913618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"</a:t>
            </a:r>
            <a:r>
              <a:rPr lang="en-US" altLang="zh-CN" sz="1200" b="0" u="none" dirty="0" err="1">
                <a:solidFill>
                  <a:srgbClr val="913618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market_id</a:t>
            </a:r>
            <a:r>
              <a:rPr lang="en-US" altLang="zh-CN" sz="1200" b="0" u="none" dirty="0">
                <a:solidFill>
                  <a:srgbClr val="913618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"</a:t>
            </a:r>
            <a:r>
              <a:rPr lang="en-US" altLang="zh-CN" sz="12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]);</a:t>
            </a:r>
            <a:endParaRPr lang="en-US" altLang="zh-CN" sz="1200" b="0" u="none" dirty="0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2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2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}</a:t>
            </a:r>
            <a:endParaRPr lang="en-US" altLang="zh-CN" sz="1200" b="0" u="none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2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}</a:t>
            </a:r>
            <a:endParaRPr lang="en-US" altLang="zh-CN" sz="1200" b="0" u="none" dirty="0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2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endParaRPr lang="en-US" altLang="zh-CN" sz="1200" b="0" u="none" dirty="0">
              <a:solidFill>
                <a:srgbClr val="5D1DA7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200" b="0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zh-CN" sz="12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2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Block</a:t>
            </a:r>
            <a:r>
              <a:rPr lang="en-US" altLang="zh-CN" sz="12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2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{</a:t>
            </a:r>
            <a:endParaRPr lang="en-US" altLang="zh-CN" sz="1200" b="0" u="none" dirty="0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2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200" b="0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protected</a:t>
            </a:r>
            <a:r>
              <a:rPr lang="en-US" altLang="zh-CN" sz="12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200" b="0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$table</a:t>
            </a:r>
            <a:r>
              <a:rPr lang="en-US" altLang="zh-CN" sz="12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2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zh-CN" sz="12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200" b="0" u="none" dirty="0">
                <a:solidFill>
                  <a:srgbClr val="913618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"block"</a:t>
            </a:r>
            <a:r>
              <a:rPr lang="en-US" altLang="zh-CN" sz="12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;</a:t>
            </a:r>
            <a:endParaRPr lang="en-US" altLang="zh-CN" sz="1200" b="0" u="none" dirty="0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2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200" b="0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public function</a:t>
            </a:r>
            <a:r>
              <a:rPr lang="en-US" altLang="zh-CN" sz="12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200" b="0" u="none" dirty="0" err="1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getMarketId</a:t>
            </a:r>
            <a:r>
              <a:rPr lang="en-US" altLang="zh-CN" sz="12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() {</a:t>
            </a:r>
            <a:endParaRPr lang="en-US" altLang="zh-CN" sz="1200" b="0" u="none" dirty="0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2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zh-CN" sz="1200" b="0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return</a:t>
            </a:r>
            <a:r>
              <a:rPr lang="en-US" altLang="zh-CN" sz="12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200" b="0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48</a:t>
            </a:r>
            <a:r>
              <a:rPr lang="en-US" altLang="zh-CN" sz="12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;</a:t>
            </a:r>
            <a:endParaRPr lang="en-US" altLang="zh-CN" sz="1200" b="0" u="none" dirty="0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2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2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}</a:t>
            </a:r>
            <a:endParaRPr lang="en-US" altLang="zh-CN" sz="1200" b="0" u="none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2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}</a:t>
            </a:r>
            <a:endParaRPr lang="en-US" altLang="zh-CN" sz="1200" b="0" u="none" dirty="0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2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endParaRPr lang="en-US" altLang="zh-CN" sz="1200" b="0" u="none" dirty="0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2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endParaRPr lang="en-US" altLang="zh-CN" sz="1200" b="0" u="none" dirty="0">
              <a:solidFill>
                <a:srgbClr val="B386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200" b="0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$stocks</a:t>
            </a:r>
            <a:r>
              <a:rPr lang="en-US" altLang="zh-CN" sz="12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2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zh-CN" sz="12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2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Stock::</a:t>
            </a:r>
            <a:r>
              <a:rPr lang="en-US" altLang="zh-CN" sz="1200" b="0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query</a:t>
            </a:r>
            <a:r>
              <a:rPr lang="en-US" altLang="zh-CN" sz="12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(...);</a:t>
            </a:r>
            <a:endParaRPr lang="en-US" altLang="zh-CN" sz="1200" b="0" u="none" dirty="0">
              <a:solidFill>
                <a:srgbClr val="B386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200" b="0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$block</a:t>
            </a:r>
            <a:r>
              <a:rPr lang="en-US" altLang="zh-CN" sz="12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2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zh-CN" sz="12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Bl</a:t>
            </a:r>
            <a:r>
              <a:rPr lang="en-US" altLang="zh-CN" sz="12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ock::</a:t>
            </a:r>
            <a:r>
              <a:rPr lang="en-US" altLang="zh-CN" sz="1200" b="0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query</a:t>
            </a:r>
            <a:r>
              <a:rPr lang="en-US" altLang="zh-CN" sz="12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(...);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9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8"/>
          <p:cNvSpPr txBox="1"/>
          <p:nvPr/>
        </p:nvSpPr>
        <p:spPr>
          <a:xfrm>
            <a:off x="4454798" y="233568"/>
            <a:ext cx="3949155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CN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POP</a:t>
            </a:r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和</a:t>
            </a:r>
            <a:r>
              <a:rPr lang="en-US" altLang="zh-CN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OOP</a:t>
            </a:r>
            <a:endParaRPr lang="en-US" altLang="zh-CN" sz="3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1" name="TextBox 8"/>
          <p:cNvSpPr txBox="1"/>
          <p:nvPr/>
        </p:nvSpPr>
        <p:spPr>
          <a:xfrm>
            <a:off x="5025514" y="743527"/>
            <a:ext cx="2876303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POP AND OOP</a:t>
            </a:r>
            <a:endParaRPr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886327" y="591989"/>
            <a:ext cx="11086097" cy="0"/>
            <a:chOff x="1028775" y="591989"/>
            <a:chExt cx="11086097" cy="0"/>
          </a:xfrm>
        </p:grpSpPr>
        <p:cxnSp>
          <p:nvCxnSpPr>
            <p:cNvPr id="33" name="直接连接符 32"/>
            <p:cNvCxnSpPr/>
            <p:nvPr/>
          </p:nvCxnSpPr>
          <p:spPr>
            <a:xfrm>
              <a:off x="10287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>
              <a:off x="86106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文本框 1"/>
          <p:cNvSpPr txBox="1"/>
          <p:nvPr/>
        </p:nvSpPr>
        <p:spPr>
          <a:xfrm>
            <a:off x="1460823" y="1744117"/>
            <a:ext cx="9937104" cy="2651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POP</a:t>
            </a:r>
            <a:r>
              <a:rPr lang="zh-CN" altLang="en-US" sz="28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注重完成事件的过程，顺序实现</a:t>
            </a:r>
            <a:endParaRPr lang="zh-CN" altLang="en-US" sz="28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endParaRPr lang="zh-CN" altLang="en-US" sz="28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en-US" altLang="zh-CN" sz="28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OOP</a:t>
            </a:r>
            <a:r>
              <a:rPr lang="zh-CN" altLang="en-US" sz="28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注重于将事件抽象化，从而达到复用</a:t>
            </a:r>
            <a:endParaRPr lang="zh-CN" altLang="en-US" sz="28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endParaRPr lang="zh-CN" altLang="en-US" sz="28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zh-CN" altLang="en-US" sz="28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从</a:t>
            </a:r>
            <a:r>
              <a:rPr lang="en-US" altLang="zh-CN" sz="28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PHP 5 (2004</a:t>
            </a:r>
            <a:r>
              <a:rPr lang="zh-CN" altLang="en-US" sz="28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年</a:t>
            </a:r>
            <a:r>
              <a:rPr lang="en-US" altLang="zh-CN" sz="28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) </a:t>
            </a:r>
            <a:r>
              <a:rPr lang="zh-CN" altLang="en-US" sz="28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开始，</a:t>
            </a:r>
            <a:r>
              <a:rPr lang="en-US" altLang="zh-CN" sz="28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PHP</a:t>
            </a:r>
            <a:r>
              <a:rPr lang="zh-CN" altLang="en-US" sz="28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支持完整的面向对象特性，更加赋能了在</a:t>
            </a:r>
            <a:r>
              <a:rPr lang="en-US" altLang="zh-CN" sz="28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PHP</a:t>
            </a:r>
            <a:r>
              <a:rPr lang="zh-CN" altLang="en-US" sz="28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程序中使用面向对象的设计模式</a:t>
            </a:r>
            <a:endParaRPr lang="zh-CN" altLang="en-US" sz="28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9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8"/>
          <p:cNvSpPr txBox="1"/>
          <p:nvPr/>
        </p:nvSpPr>
        <p:spPr>
          <a:xfrm>
            <a:off x="4540933" y="238468"/>
            <a:ext cx="3949155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为什么用？</a:t>
            </a:r>
            <a:endParaRPr lang="zh-CN" altLang="en-US" sz="3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1" name="TextBox 8"/>
          <p:cNvSpPr txBox="1"/>
          <p:nvPr/>
        </p:nvSpPr>
        <p:spPr>
          <a:xfrm>
            <a:off x="5025514" y="743527"/>
            <a:ext cx="2876303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WHY?</a:t>
            </a:r>
            <a:endParaRPr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886327" y="591989"/>
            <a:ext cx="11086097" cy="0"/>
            <a:chOff x="1028775" y="591989"/>
            <a:chExt cx="11086097" cy="0"/>
          </a:xfrm>
        </p:grpSpPr>
        <p:cxnSp>
          <p:nvCxnSpPr>
            <p:cNvPr id="33" name="直接连接符 32"/>
            <p:cNvCxnSpPr/>
            <p:nvPr/>
          </p:nvCxnSpPr>
          <p:spPr>
            <a:xfrm>
              <a:off x="10287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>
              <a:off x="86106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文本框 1"/>
          <p:cNvSpPr txBox="1"/>
          <p:nvPr/>
        </p:nvSpPr>
        <p:spPr>
          <a:xfrm>
            <a:off x="1460823" y="1744117"/>
            <a:ext cx="8928992" cy="2651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传统的面向过程开发面对规模稍大的需求显得力不从心；</a:t>
            </a:r>
            <a:endParaRPr lang="zh-CN" altLang="en-US" sz="28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endParaRPr lang="zh-CN" altLang="en-US" sz="28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zh-CN" altLang="en-US" sz="28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提高代码质量，降低维护成本；</a:t>
            </a:r>
            <a:endParaRPr lang="zh-CN" altLang="en-US" sz="28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endParaRPr lang="zh-CN" altLang="en-US" sz="28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zh-CN" altLang="en-US" sz="28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降低沟通成本；</a:t>
            </a:r>
            <a:endParaRPr lang="zh-CN" altLang="en-US" sz="28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endParaRPr lang="zh-CN" altLang="en-US" sz="28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9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>
            <p:custDataLst>
              <p:tags r:id="rId1"/>
            </p:custDataLst>
          </p:nvPr>
        </p:nvCxnSpPr>
        <p:spPr>
          <a:xfrm>
            <a:off x="6152391" y="3848208"/>
            <a:ext cx="4143672" cy="0"/>
          </a:xfrm>
          <a:prstGeom prst="line">
            <a:avLst/>
          </a:prstGeom>
          <a:ln w="12700">
            <a:solidFill>
              <a:schemeClr val="tx1">
                <a:lumMod val="20000"/>
                <a:lumOff val="80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6267450" y="2995295"/>
            <a:ext cx="3913505" cy="7829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zh-CN" altLang="en-US" sz="4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设计模式介绍</a:t>
            </a:r>
            <a:endParaRPr lang="zh-CN" altLang="en-US" sz="4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244799" y="1708340"/>
            <a:ext cx="3828393" cy="4080857"/>
            <a:chOff x="999059" y="1708340"/>
            <a:chExt cx="3828393" cy="4080857"/>
          </a:xfrm>
        </p:grpSpPr>
        <p:grpSp>
          <p:nvGrpSpPr>
            <p:cNvPr id="15" name="组合 14"/>
            <p:cNvGrpSpPr/>
            <p:nvPr/>
          </p:nvGrpSpPr>
          <p:grpSpPr>
            <a:xfrm>
              <a:off x="999059" y="1708340"/>
              <a:ext cx="3828393" cy="4080857"/>
              <a:chOff x="3835400" y="1789113"/>
              <a:chExt cx="1468438" cy="1565275"/>
            </a:xfrm>
          </p:grpSpPr>
          <p:sp>
            <p:nvSpPr>
              <p:cNvPr id="18" name="Freeform 5"/>
              <p:cNvSpPr/>
              <p:nvPr/>
            </p:nvSpPr>
            <p:spPr bwMode="auto">
              <a:xfrm>
                <a:off x="4005263" y="1789113"/>
                <a:ext cx="1298575" cy="1565275"/>
              </a:xfrm>
              <a:custGeom>
                <a:avLst/>
                <a:gdLst>
                  <a:gd name="T0" fmla="*/ 304 w 304"/>
                  <a:gd name="T1" fmla="*/ 322 h 366"/>
                  <a:gd name="T2" fmla="*/ 260 w 304"/>
                  <a:gd name="T3" fmla="*/ 366 h 366"/>
                  <a:gd name="T4" fmla="*/ 0 w 304"/>
                  <a:gd name="T5" fmla="*/ 366 h 366"/>
                  <a:gd name="T6" fmla="*/ 0 w 304"/>
                  <a:gd name="T7" fmla="*/ 0 h 366"/>
                  <a:gd name="T8" fmla="*/ 260 w 304"/>
                  <a:gd name="T9" fmla="*/ 0 h 366"/>
                  <a:gd name="T10" fmla="*/ 304 w 304"/>
                  <a:gd name="T11" fmla="*/ 44 h 366"/>
                  <a:gd name="T12" fmla="*/ 304 w 304"/>
                  <a:gd name="T13" fmla="*/ 322 h 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4" h="366">
                    <a:moveTo>
                      <a:pt x="304" y="322"/>
                    </a:moveTo>
                    <a:cubicBezTo>
                      <a:pt x="304" y="347"/>
                      <a:pt x="285" y="366"/>
                      <a:pt x="260" y="366"/>
                    </a:cubicBezTo>
                    <a:cubicBezTo>
                      <a:pt x="0" y="366"/>
                      <a:pt x="0" y="366"/>
                      <a:pt x="0" y="36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60" y="0"/>
                      <a:pt x="260" y="0"/>
                      <a:pt x="260" y="0"/>
                    </a:cubicBezTo>
                    <a:cubicBezTo>
                      <a:pt x="285" y="0"/>
                      <a:pt x="304" y="20"/>
                      <a:pt x="304" y="44"/>
                    </a:cubicBezTo>
                    <a:lnTo>
                      <a:pt x="304" y="322"/>
                    </a:lnTo>
                    <a:close/>
                  </a:path>
                </a:pathLst>
              </a:cu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8580" tIns="64290" rIns="128580" bIns="64290" numCol="1" anchor="t" anchorCtr="0" compatLnSpc="1"/>
              <a:lstStyle/>
              <a:p>
                <a:endParaRPr lang="zh-CN" altLang="en-US" dirty="0">
                  <a:latin typeface="微软雅黑" panose="020B0503020204020204" pitchFamily="34" charset="-122"/>
                </a:endParaRPr>
              </a:p>
            </p:txBody>
          </p:sp>
          <p:sp>
            <p:nvSpPr>
              <p:cNvPr id="19" name="Freeform 6"/>
              <p:cNvSpPr/>
              <p:nvPr/>
            </p:nvSpPr>
            <p:spPr bwMode="auto">
              <a:xfrm>
                <a:off x="3967163" y="1789113"/>
                <a:ext cx="1298575" cy="1565275"/>
              </a:xfrm>
              <a:custGeom>
                <a:avLst/>
                <a:gdLst>
                  <a:gd name="T0" fmla="*/ 304 w 304"/>
                  <a:gd name="T1" fmla="*/ 322 h 366"/>
                  <a:gd name="T2" fmla="*/ 260 w 304"/>
                  <a:gd name="T3" fmla="*/ 366 h 366"/>
                  <a:gd name="T4" fmla="*/ 0 w 304"/>
                  <a:gd name="T5" fmla="*/ 366 h 366"/>
                  <a:gd name="T6" fmla="*/ 0 w 304"/>
                  <a:gd name="T7" fmla="*/ 0 h 366"/>
                  <a:gd name="T8" fmla="*/ 260 w 304"/>
                  <a:gd name="T9" fmla="*/ 0 h 366"/>
                  <a:gd name="T10" fmla="*/ 304 w 304"/>
                  <a:gd name="T11" fmla="*/ 44 h 366"/>
                  <a:gd name="T12" fmla="*/ 304 w 304"/>
                  <a:gd name="T13" fmla="*/ 322 h 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4" h="366">
                    <a:moveTo>
                      <a:pt x="304" y="322"/>
                    </a:moveTo>
                    <a:cubicBezTo>
                      <a:pt x="304" y="347"/>
                      <a:pt x="284" y="366"/>
                      <a:pt x="260" y="366"/>
                    </a:cubicBezTo>
                    <a:cubicBezTo>
                      <a:pt x="0" y="366"/>
                      <a:pt x="0" y="366"/>
                      <a:pt x="0" y="36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60" y="0"/>
                      <a:pt x="260" y="0"/>
                      <a:pt x="260" y="0"/>
                    </a:cubicBezTo>
                    <a:cubicBezTo>
                      <a:pt x="284" y="0"/>
                      <a:pt x="304" y="20"/>
                      <a:pt x="304" y="44"/>
                    </a:cubicBezTo>
                    <a:lnTo>
                      <a:pt x="304" y="32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8580" tIns="64290" rIns="128580" bIns="64290" numCol="1" anchor="t" anchorCtr="0" compatLnSpc="1"/>
              <a:lstStyle/>
              <a:p>
                <a:endParaRPr lang="zh-CN" altLang="en-US" dirty="0">
                  <a:latin typeface="微软雅黑" panose="020B0503020204020204" pitchFamily="34" charset="-122"/>
                </a:endParaRPr>
              </a:p>
            </p:txBody>
          </p:sp>
          <p:sp>
            <p:nvSpPr>
              <p:cNvPr id="20" name="Rectangle 8"/>
              <p:cNvSpPr>
                <a:spLocks noChangeArrowheads="1"/>
              </p:cNvSpPr>
              <p:nvPr/>
            </p:nvSpPr>
            <p:spPr bwMode="auto">
              <a:xfrm>
                <a:off x="4318000" y="2117726"/>
                <a:ext cx="674688" cy="342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128580" tIns="64290" rIns="128580" bIns="64290" numCol="1" anchor="t" anchorCtr="0" compatLnSpc="1"/>
              <a:lstStyle/>
              <a:p>
                <a:endParaRPr lang="zh-CN" altLang="en-US" dirty="0">
                  <a:latin typeface="微软雅黑" panose="020B0503020204020204" pitchFamily="34" charset="-122"/>
                </a:endParaRPr>
              </a:p>
            </p:txBody>
          </p:sp>
          <p:sp>
            <p:nvSpPr>
              <p:cNvPr id="21" name="Freeform 9"/>
              <p:cNvSpPr/>
              <p:nvPr/>
            </p:nvSpPr>
            <p:spPr bwMode="auto">
              <a:xfrm>
                <a:off x="3835400" y="1839913"/>
                <a:ext cx="234950" cy="73025"/>
              </a:xfrm>
              <a:custGeom>
                <a:avLst/>
                <a:gdLst>
                  <a:gd name="T0" fmla="*/ 55 w 55"/>
                  <a:gd name="T1" fmla="*/ 8 h 17"/>
                  <a:gd name="T2" fmla="*/ 46 w 55"/>
                  <a:gd name="T3" fmla="*/ 17 h 17"/>
                  <a:gd name="T4" fmla="*/ 8 w 55"/>
                  <a:gd name="T5" fmla="*/ 17 h 17"/>
                  <a:gd name="T6" fmla="*/ 0 w 55"/>
                  <a:gd name="T7" fmla="*/ 8 h 17"/>
                  <a:gd name="T8" fmla="*/ 0 w 55"/>
                  <a:gd name="T9" fmla="*/ 8 h 17"/>
                  <a:gd name="T10" fmla="*/ 8 w 55"/>
                  <a:gd name="T11" fmla="*/ 0 h 17"/>
                  <a:gd name="T12" fmla="*/ 46 w 55"/>
                  <a:gd name="T13" fmla="*/ 0 h 17"/>
                  <a:gd name="T14" fmla="*/ 55 w 55"/>
                  <a:gd name="T15" fmla="*/ 8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" h="17">
                    <a:moveTo>
                      <a:pt x="55" y="8"/>
                    </a:moveTo>
                    <a:cubicBezTo>
                      <a:pt x="55" y="13"/>
                      <a:pt x="51" y="17"/>
                      <a:pt x="46" y="17"/>
                    </a:cubicBezTo>
                    <a:cubicBezTo>
                      <a:pt x="8" y="17"/>
                      <a:pt x="8" y="17"/>
                      <a:pt x="8" y="17"/>
                    </a:cubicBezTo>
                    <a:cubicBezTo>
                      <a:pt x="3" y="17"/>
                      <a:pt x="0" y="13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3"/>
                      <a:pt x="3" y="0"/>
                      <a:pt x="8" y="0"/>
                    </a:cubicBezTo>
                    <a:cubicBezTo>
                      <a:pt x="46" y="0"/>
                      <a:pt x="46" y="0"/>
                      <a:pt x="46" y="0"/>
                    </a:cubicBezTo>
                    <a:cubicBezTo>
                      <a:pt x="51" y="0"/>
                      <a:pt x="55" y="3"/>
                      <a:pt x="55" y="8"/>
                    </a:cubicBez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8580" tIns="64290" rIns="128580" bIns="64290" numCol="1" anchor="t" anchorCtr="0" compatLnSpc="1"/>
              <a:lstStyle/>
              <a:p>
                <a:endParaRPr lang="zh-CN" altLang="en-US" dirty="0">
                  <a:latin typeface="微软雅黑" panose="020B0503020204020204" pitchFamily="34" charset="-122"/>
                </a:endParaRPr>
              </a:p>
            </p:txBody>
          </p:sp>
          <p:sp>
            <p:nvSpPr>
              <p:cNvPr id="22" name="Freeform 10"/>
              <p:cNvSpPr/>
              <p:nvPr/>
            </p:nvSpPr>
            <p:spPr bwMode="auto">
              <a:xfrm>
                <a:off x="3835400" y="1976438"/>
                <a:ext cx="234950" cy="73025"/>
              </a:xfrm>
              <a:custGeom>
                <a:avLst/>
                <a:gdLst>
                  <a:gd name="T0" fmla="*/ 55 w 55"/>
                  <a:gd name="T1" fmla="*/ 9 h 17"/>
                  <a:gd name="T2" fmla="*/ 46 w 55"/>
                  <a:gd name="T3" fmla="*/ 17 h 17"/>
                  <a:gd name="T4" fmla="*/ 8 w 55"/>
                  <a:gd name="T5" fmla="*/ 17 h 17"/>
                  <a:gd name="T6" fmla="*/ 0 w 55"/>
                  <a:gd name="T7" fmla="*/ 9 h 17"/>
                  <a:gd name="T8" fmla="*/ 0 w 55"/>
                  <a:gd name="T9" fmla="*/ 9 h 17"/>
                  <a:gd name="T10" fmla="*/ 8 w 55"/>
                  <a:gd name="T11" fmla="*/ 0 h 17"/>
                  <a:gd name="T12" fmla="*/ 46 w 55"/>
                  <a:gd name="T13" fmla="*/ 0 h 17"/>
                  <a:gd name="T14" fmla="*/ 55 w 55"/>
                  <a:gd name="T15" fmla="*/ 9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" h="17">
                    <a:moveTo>
                      <a:pt x="55" y="9"/>
                    </a:moveTo>
                    <a:cubicBezTo>
                      <a:pt x="55" y="13"/>
                      <a:pt x="51" y="17"/>
                      <a:pt x="46" y="17"/>
                    </a:cubicBezTo>
                    <a:cubicBezTo>
                      <a:pt x="8" y="17"/>
                      <a:pt x="8" y="17"/>
                      <a:pt x="8" y="17"/>
                    </a:cubicBezTo>
                    <a:cubicBezTo>
                      <a:pt x="3" y="17"/>
                      <a:pt x="0" y="13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4"/>
                      <a:pt x="3" y="0"/>
                      <a:pt x="8" y="0"/>
                    </a:cubicBezTo>
                    <a:cubicBezTo>
                      <a:pt x="46" y="0"/>
                      <a:pt x="46" y="0"/>
                      <a:pt x="46" y="0"/>
                    </a:cubicBezTo>
                    <a:cubicBezTo>
                      <a:pt x="51" y="0"/>
                      <a:pt x="55" y="4"/>
                      <a:pt x="55" y="9"/>
                    </a:cubicBez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8580" tIns="64290" rIns="128580" bIns="64290" numCol="1" anchor="t" anchorCtr="0" compatLnSpc="1"/>
              <a:lstStyle/>
              <a:p>
                <a:endParaRPr lang="zh-CN" altLang="en-US" dirty="0">
                  <a:latin typeface="微软雅黑" panose="020B0503020204020204" pitchFamily="34" charset="-122"/>
                </a:endParaRPr>
              </a:p>
            </p:txBody>
          </p:sp>
          <p:sp>
            <p:nvSpPr>
              <p:cNvPr id="23" name="Freeform 11"/>
              <p:cNvSpPr/>
              <p:nvPr/>
            </p:nvSpPr>
            <p:spPr bwMode="auto">
              <a:xfrm>
                <a:off x="3835400" y="2117726"/>
                <a:ext cx="234950" cy="73025"/>
              </a:xfrm>
              <a:custGeom>
                <a:avLst/>
                <a:gdLst>
                  <a:gd name="T0" fmla="*/ 55 w 55"/>
                  <a:gd name="T1" fmla="*/ 8 h 17"/>
                  <a:gd name="T2" fmla="*/ 46 w 55"/>
                  <a:gd name="T3" fmla="*/ 17 h 17"/>
                  <a:gd name="T4" fmla="*/ 8 w 55"/>
                  <a:gd name="T5" fmla="*/ 17 h 17"/>
                  <a:gd name="T6" fmla="*/ 0 w 55"/>
                  <a:gd name="T7" fmla="*/ 8 h 17"/>
                  <a:gd name="T8" fmla="*/ 0 w 55"/>
                  <a:gd name="T9" fmla="*/ 8 h 17"/>
                  <a:gd name="T10" fmla="*/ 8 w 55"/>
                  <a:gd name="T11" fmla="*/ 0 h 17"/>
                  <a:gd name="T12" fmla="*/ 46 w 55"/>
                  <a:gd name="T13" fmla="*/ 0 h 17"/>
                  <a:gd name="T14" fmla="*/ 55 w 55"/>
                  <a:gd name="T15" fmla="*/ 8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" h="17">
                    <a:moveTo>
                      <a:pt x="55" y="8"/>
                    </a:moveTo>
                    <a:cubicBezTo>
                      <a:pt x="55" y="13"/>
                      <a:pt x="51" y="17"/>
                      <a:pt x="46" y="17"/>
                    </a:cubicBezTo>
                    <a:cubicBezTo>
                      <a:pt x="8" y="17"/>
                      <a:pt x="8" y="17"/>
                      <a:pt x="8" y="17"/>
                    </a:cubicBezTo>
                    <a:cubicBezTo>
                      <a:pt x="3" y="17"/>
                      <a:pt x="0" y="13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4"/>
                      <a:pt x="3" y="0"/>
                      <a:pt x="8" y="0"/>
                    </a:cubicBezTo>
                    <a:cubicBezTo>
                      <a:pt x="46" y="0"/>
                      <a:pt x="46" y="0"/>
                      <a:pt x="46" y="0"/>
                    </a:cubicBezTo>
                    <a:cubicBezTo>
                      <a:pt x="51" y="0"/>
                      <a:pt x="55" y="4"/>
                      <a:pt x="55" y="8"/>
                    </a:cubicBez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8580" tIns="64290" rIns="128580" bIns="64290" numCol="1" anchor="t" anchorCtr="0" compatLnSpc="1"/>
              <a:lstStyle/>
              <a:p>
                <a:endParaRPr lang="zh-CN" altLang="en-US" dirty="0">
                  <a:latin typeface="微软雅黑" panose="020B0503020204020204" pitchFamily="34" charset="-122"/>
                </a:endParaRPr>
              </a:p>
            </p:txBody>
          </p:sp>
          <p:sp>
            <p:nvSpPr>
              <p:cNvPr id="24" name="Freeform 12"/>
              <p:cNvSpPr/>
              <p:nvPr/>
            </p:nvSpPr>
            <p:spPr bwMode="auto">
              <a:xfrm>
                <a:off x="3835400" y="2259013"/>
                <a:ext cx="234950" cy="73025"/>
              </a:xfrm>
              <a:custGeom>
                <a:avLst/>
                <a:gdLst>
                  <a:gd name="T0" fmla="*/ 55 w 55"/>
                  <a:gd name="T1" fmla="*/ 8 h 17"/>
                  <a:gd name="T2" fmla="*/ 46 w 55"/>
                  <a:gd name="T3" fmla="*/ 17 h 17"/>
                  <a:gd name="T4" fmla="*/ 8 w 55"/>
                  <a:gd name="T5" fmla="*/ 17 h 17"/>
                  <a:gd name="T6" fmla="*/ 0 w 55"/>
                  <a:gd name="T7" fmla="*/ 8 h 17"/>
                  <a:gd name="T8" fmla="*/ 0 w 55"/>
                  <a:gd name="T9" fmla="*/ 8 h 17"/>
                  <a:gd name="T10" fmla="*/ 8 w 55"/>
                  <a:gd name="T11" fmla="*/ 0 h 17"/>
                  <a:gd name="T12" fmla="*/ 46 w 55"/>
                  <a:gd name="T13" fmla="*/ 0 h 17"/>
                  <a:gd name="T14" fmla="*/ 55 w 55"/>
                  <a:gd name="T15" fmla="*/ 8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" h="17">
                    <a:moveTo>
                      <a:pt x="55" y="8"/>
                    </a:moveTo>
                    <a:cubicBezTo>
                      <a:pt x="55" y="13"/>
                      <a:pt x="51" y="17"/>
                      <a:pt x="46" y="17"/>
                    </a:cubicBezTo>
                    <a:cubicBezTo>
                      <a:pt x="8" y="17"/>
                      <a:pt x="8" y="17"/>
                      <a:pt x="8" y="17"/>
                    </a:cubicBezTo>
                    <a:cubicBezTo>
                      <a:pt x="3" y="17"/>
                      <a:pt x="0" y="13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3"/>
                      <a:pt x="3" y="0"/>
                      <a:pt x="8" y="0"/>
                    </a:cubicBezTo>
                    <a:cubicBezTo>
                      <a:pt x="46" y="0"/>
                      <a:pt x="46" y="0"/>
                      <a:pt x="46" y="0"/>
                    </a:cubicBezTo>
                    <a:cubicBezTo>
                      <a:pt x="51" y="0"/>
                      <a:pt x="55" y="3"/>
                      <a:pt x="55" y="8"/>
                    </a:cubicBez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8580" tIns="64290" rIns="128580" bIns="64290" numCol="1" anchor="t" anchorCtr="0" compatLnSpc="1"/>
              <a:lstStyle/>
              <a:p>
                <a:endParaRPr lang="zh-CN" altLang="en-US" dirty="0">
                  <a:latin typeface="微软雅黑" panose="020B0503020204020204" pitchFamily="34" charset="-122"/>
                </a:endParaRPr>
              </a:p>
            </p:txBody>
          </p:sp>
          <p:sp>
            <p:nvSpPr>
              <p:cNvPr id="25" name="Freeform 13"/>
              <p:cNvSpPr/>
              <p:nvPr/>
            </p:nvSpPr>
            <p:spPr bwMode="auto">
              <a:xfrm>
                <a:off x="3835400" y="2397126"/>
                <a:ext cx="234950" cy="71438"/>
              </a:xfrm>
              <a:custGeom>
                <a:avLst/>
                <a:gdLst>
                  <a:gd name="T0" fmla="*/ 55 w 55"/>
                  <a:gd name="T1" fmla="*/ 9 h 17"/>
                  <a:gd name="T2" fmla="*/ 46 w 55"/>
                  <a:gd name="T3" fmla="*/ 17 h 17"/>
                  <a:gd name="T4" fmla="*/ 8 w 55"/>
                  <a:gd name="T5" fmla="*/ 17 h 17"/>
                  <a:gd name="T6" fmla="*/ 0 w 55"/>
                  <a:gd name="T7" fmla="*/ 9 h 17"/>
                  <a:gd name="T8" fmla="*/ 0 w 55"/>
                  <a:gd name="T9" fmla="*/ 9 h 17"/>
                  <a:gd name="T10" fmla="*/ 8 w 55"/>
                  <a:gd name="T11" fmla="*/ 0 h 17"/>
                  <a:gd name="T12" fmla="*/ 46 w 55"/>
                  <a:gd name="T13" fmla="*/ 0 h 17"/>
                  <a:gd name="T14" fmla="*/ 55 w 55"/>
                  <a:gd name="T15" fmla="*/ 9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" h="17">
                    <a:moveTo>
                      <a:pt x="55" y="9"/>
                    </a:moveTo>
                    <a:cubicBezTo>
                      <a:pt x="55" y="13"/>
                      <a:pt x="51" y="17"/>
                      <a:pt x="46" y="17"/>
                    </a:cubicBezTo>
                    <a:cubicBezTo>
                      <a:pt x="8" y="17"/>
                      <a:pt x="8" y="17"/>
                      <a:pt x="8" y="17"/>
                    </a:cubicBezTo>
                    <a:cubicBezTo>
                      <a:pt x="3" y="17"/>
                      <a:pt x="0" y="13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4"/>
                      <a:pt x="3" y="0"/>
                      <a:pt x="8" y="0"/>
                    </a:cubicBezTo>
                    <a:cubicBezTo>
                      <a:pt x="46" y="0"/>
                      <a:pt x="46" y="0"/>
                      <a:pt x="46" y="0"/>
                    </a:cubicBezTo>
                    <a:cubicBezTo>
                      <a:pt x="51" y="0"/>
                      <a:pt x="55" y="4"/>
                      <a:pt x="55" y="9"/>
                    </a:cubicBez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8580" tIns="64290" rIns="128580" bIns="64290" numCol="1" anchor="t" anchorCtr="0" compatLnSpc="1"/>
              <a:lstStyle/>
              <a:p>
                <a:endParaRPr lang="zh-CN" altLang="en-US" dirty="0">
                  <a:latin typeface="微软雅黑" panose="020B0503020204020204" pitchFamily="34" charset="-122"/>
                </a:endParaRPr>
              </a:p>
            </p:txBody>
          </p:sp>
          <p:sp>
            <p:nvSpPr>
              <p:cNvPr id="26" name="Freeform 14"/>
              <p:cNvSpPr/>
              <p:nvPr/>
            </p:nvSpPr>
            <p:spPr bwMode="auto">
              <a:xfrm>
                <a:off x="3835400" y="2536826"/>
                <a:ext cx="234950" cy="73025"/>
              </a:xfrm>
              <a:custGeom>
                <a:avLst/>
                <a:gdLst>
                  <a:gd name="T0" fmla="*/ 55 w 55"/>
                  <a:gd name="T1" fmla="*/ 8 h 17"/>
                  <a:gd name="T2" fmla="*/ 46 w 55"/>
                  <a:gd name="T3" fmla="*/ 17 h 17"/>
                  <a:gd name="T4" fmla="*/ 8 w 55"/>
                  <a:gd name="T5" fmla="*/ 17 h 17"/>
                  <a:gd name="T6" fmla="*/ 0 w 55"/>
                  <a:gd name="T7" fmla="*/ 8 h 17"/>
                  <a:gd name="T8" fmla="*/ 0 w 55"/>
                  <a:gd name="T9" fmla="*/ 8 h 17"/>
                  <a:gd name="T10" fmla="*/ 8 w 55"/>
                  <a:gd name="T11" fmla="*/ 0 h 17"/>
                  <a:gd name="T12" fmla="*/ 46 w 55"/>
                  <a:gd name="T13" fmla="*/ 0 h 17"/>
                  <a:gd name="T14" fmla="*/ 55 w 55"/>
                  <a:gd name="T15" fmla="*/ 8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" h="17">
                    <a:moveTo>
                      <a:pt x="55" y="8"/>
                    </a:moveTo>
                    <a:cubicBezTo>
                      <a:pt x="55" y="13"/>
                      <a:pt x="51" y="17"/>
                      <a:pt x="46" y="17"/>
                    </a:cubicBezTo>
                    <a:cubicBezTo>
                      <a:pt x="8" y="17"/>
                      <a:pt x="8" y="17"/>
                      <a:pt x="8" y="17"/>
                    </a:cubicBezTo>
                    <a:cubicBezTo>
                      <a:pt x="3" y="17"/>
                      <a:pt x="0" y="13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4"/>
                      <a:pt x="3" y="0"/>
                      <a:pt x="8" y="0"/>
                    </a:cubicBezTo>
                    <a:cubicBezTo>
                      <a:pt x="46" y="0"/>
                      <a:pt x="46" y="0"/>
                      <a:pt x="46" y="0"/>
                    </a:cubicBezTo>
                    <a:cubicBezTo>
                      <a:pt x="51" y="0"/>
                      <a:pt x="55" y="4"/>
                      <a:pt x="55" y="8"/>
                    </a:cubicBez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8580" tIns="64290" rIns="128580" bIns="64290" numCol="1" anchor="t" anchorCtr="0" compatLnSpc="1"/>
              <a:lstStyle/>
              <a:p>
                <a:endParaRPr lang="zh-CN" altLang="en-US" dirty="0">
                  <a:latin typeface="微软雅黑" panose="020B0503020204020204" pitchFamily="34" charset="-122"/>
                </a:endParaRPr>
              </a:p>
            </p:txBody>
          </p:sp>
          <p:sp>
            <p:nvSpPr>
              <p:cNvPr id="27" name="Freeform 15"/>
              <p:cNvSpPr/>
              <p:nvPr/>
            </p:nvSpPr>
            <p:spPr bwMode="auto">
              <a:xfrm>
                <a:off x="3835400" y="2678113"/>
                <a:ext cx="234950" cy="73025"/>
              </a:xfrm>
              <a:custGeom>
                <a:avLst/>
                <a:gdLst>
                  <a:gd name="T0" fmla="*/ 55 w 55"/>
                  <a:gd name="T1" fmla="*/ 8 h 17"/>
                  <a:gd name="T2" fmla="*/ 46 w 55"/>
                  <a:gd name="T3" fmla="*/ 17 h 17"/>
                  <a:gd name="T4" fmla="*/ 8 w 55"/>
                  <a:gd name="T5" fmla="*/ 17 h 17"/>
                  <a:gd name="T6" fmla="*/ 0 w 55"/>
                  <a:gd name="T7" fmla="*/ 8 h 17"/>
                  <a:gd name="T8" fmla="*/ 0 w 55"/>
                  <a:gd name="T9" fmla="*/ 8 h 17"/>
                  <a:gd name="T10" fmla="*/ 8 w 55"/>
                  <a:gd name="T11" fmla="*/ 0 h 17"/>
                  <a:gd name="T12" fmla="*/ 46 w 55"/>
                  <a:gd name="T13" fmla="*/ 0 h 17"/>
                  <a:gd name="T14" fmla="*/ 55 w 55"/>
                  <a:gd name="T15" fmla="*/ 8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" h="17">
                    <a:moveTo>
                      <a:pt x="55" y="8"/>
                    </a:moveTo>
                    <a:cubicBezTo>
                      <a:pt x="55" y="13"/>
                      <a:pt x="51" y="17"/>
                      <a:pt x="46" y="17"/>
                    </a:cubicBezTo>
                    <a:cubicBezTo>
                      <a:pt x="8" y="17"/>
                      <a:pt x="8" y="17"/>
                      <a:pt x="8" y="17"/>
                    </a:cubicBezTo>
                    <a:cubicBezTo>
                      <a:pt x="3" y="17"/>
                      <a:pt x="0" y="13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3"/>
                      <a:pt x="3" y="0"/>
                      <a:pt x="8" y="0"/>
                    </a:cubicBezTo>
                    <a:cubicBezTo>
                      <a:pt x="46" y="0"/>
                      <a:pt x="46" y="0"/>
                      <a:pt x="46" y="0"/>
                    </a:cubicBezTo>
                    <a:cubicBezTo>
                      <a:pt x="51" y="0"/>
                      <a:pt x="55" y="3"/>
                      <a:pt x="55" y="8"/>
                    </a:cubicBez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8580" tIns="64290" rIns="128580" bIns="64290" numCol="1" anchor="t" anchorCtr="0" compatLnSpc="1"/>
              <a:lstStyle/>
              <a:p>
                <a:endParaRPr lang="zh-CN" altLang="en-US" dirty="0">
                  <a:latin typeface="微软雅黑" panose="020B0503020204020204" pitchFamily="34" charset="-122"/>
                </a:endParaRPr>
              </a:p>
            </p:txBody>
          </p:sp>
          <p:sp>
            <p:nvSpPr>
              <p:cNvPr id="28" name="Freeform 16"/>
              <p:cNvSpPr/>
              <p:nvPr/>
            </p:nvSpPr>
            <p:spPr bwMode="auto">
              <a:xfrm>
                <a:off x="3835400" y="2816226"/>
                <a:ext cx="234950" cy="71438"/>
              </a:xfrm>
              <a:custGeom>
                <a:avLst/>
                <a:gdLst>
                  <a:gd name="T0" fmla="*/ 55 w 55"/>
                  <a:gd name="T1" fmla="*/ 9 h 17"/>
                  <a:gd name="T2" fmla="*/ 46 w 55"/>
                  <a:gd name="T3" fmla="*/ 17 h 17"/>
                  <a:gd name="T4" fmla="*/ 8 w 55"/>
                  <a:gd name="T5" fmla="*/ 17 h 17"/>
                  <a:gd name="T6" fmla="*/ 0 w 55"/>
                  <a:gd name="T7" fmla="*/ 9 h 17"/>
                  <a:gd name="T8" fmla="*/ 0 w 55"/>
                  <a:gd name="T9" fmla="*/ 9 h 17"/>
                  <a:gd name="T10" fmla="*/ 8 w 55"/>
                  <a:gd name="T11" fmla="*/ 0 h 17"/>
                  <a:gd name="T12" fmla="*/ 46 w 55"/>
                  <a:gd name="T13" fmla="*/ 0 h 17"/>
                  <a:gd name="T14" fmla="*/ 55 w 55"/>
                  <a:gd name="T15" fmla="*/ 9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" h="17">
                    <a:moveTo>
                      <a:pt x="55" y="9"/>
                    </a:moveTo>
                    <a:cubicBezTo>
                      <a:pt x="55" y="13"/>
                      <a:pt x="51" y="17"/>
                      <a:pt x="46" y="17"/>
                    </a:cubicBezTo>
                    <a:cubicBezTo>
                      <a:pt x="8" y="17"/>
                      <a:pt x="8" y="17"/>
                      <a:pt x="8" y="17"/>
                    </a:cubicBezTo>
                    <a:cubicBezTo>
                      <a:pt x="3" y="17"/>
                      <a:pt x="0" y="13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4"/>
                      <a:pt x="3" y="0"/>
                      <a:pt x="8" y="0"/>
                    </a:cubicBezTo>
                    <a:cubicBezTo>
                      <a:pt x="46" y="0"/>
                      <a:pt x="46" y="0"/>
                      <a:pt x="46" y="0"/>
                    </a:cubicBezTo>
                    <a:cubicBezTo>
                      <a:pt x="51" y="0"/>
                      <a:pt x="55" y="4"/>
                      <a:pt x="55" y="9"/>
                    </a:cubicBez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8580" tIns="64290" rIns="128580" bIns="64290" numCol="1" anchor="t" anchorCtr="0" compatLnSpc="1"/>
              <a:lstStyle/>
              <a:p>
                <a:endParaRPr lang="zh-CN" altLang="en-US" dirty="0">
                  <a:latin typeface="微软雅黑" panose="020B0503020204020204" pitchFamily="34" charset="-122"/>
                </a:endParaRPr>
              </a:p>
            </p:txBody>
          </p:sp>
          <p:sp>
            <p:nvSpPr>
              <p:cNvPr id="29" name="Freeform 17"/>
              <p:cNvSpPr/>
              <p:nvPr/>
            </p:nvSpPr>
            <p:spPr bwMode="auto">
              <a:xfrm>
                <a:off x="3835400" y="2955926"/>
                <a:ext cx="234950" cy="73025"/>
              </a:xfrm>
              <a:custGeom>
                <a:avLst/>
                <a:gdLst>
                  <a:gd name="T0" fmla="*/ 55 w 55"/>
                  <a:gd name="T1" fmla="*/ 8 h 17"/>
                  <a:gd name="T2" fmla="*/ 46 w 55"/>
                  <a:gd name="T3" fmla="*/ 17 h 17"/>
                  <a:gd name="T4" fmla="*/ 8 w 55"/>
                  <a:gd name="T5" fmla="*/ 17 h 17"/>
                  <a:gd name="T6" fmla="*/ 0 w 55"/>
                  <a:gd name="T7" fmla="*/ 8 h 17"/>
                  <a:gd name="T8" fmla="*/ 0 w 55"/>
                  <a:gd name="T9" fmla="*/ 8 h 17"/>
                  <a:gd name="T10" fmla="*/ 8 w 55"/>
                  <a:gd name="T11" fmla="*/ 0 h 17"/>
                  <a:gd name="T12" fmla="*/ 46 w 55"/>
                  <a:gd name="T13" fmla="*/ 0 h 17"/>
                  <a:gd name="T14" fmla="*/ 55 w 55"/>
                  <a:gd name="T15" fmla="*/ 8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" h="17">
                    <a:moveTo>
                      <a:pt x="55" y="8"/>
                    </a:moveTo>
                    <a:cubicBezTo>
                      <a:pt x="55" y="13"/>
                      <a:pt x="51" y="17"/>
                      <a:pt x="46" y="17"/>
                    </a:cubicBezTo>
                    <a:cubicBezTo>
                      <a:pt x="8" y="17"/>
                      <a:pt x="8" y="17"/>
                      <a:pt x="8" y="17"/>
                    </a:cubicBezTo>
                    <a:cubicBezTo>
                      <a:pt x="3" y="17"/>
                      <a:pt x="0" y="13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4"/>
                      <a:pt x="3" y="0"/>
                      <a:pt x="8" y="0"/>
                    </a:cubicBezTo>
                    <a:cubicBezTo>
                      <a:pt x="46" y="0"/>
                      <a:pt x="46" y="0"/>
                      <a:pt x="46" y="0"/>
                    </a:cubicBezTo>
                    <a:cubicBezTo>
                      <a:pt x="51" y="0"/>
                      <a:pt x="55" y="4"/>
                      <a:pt x="55" y="8"/>
                    </a:cubicBez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8580" tIns="64290" rIns="128580" bIns="64290" numCol="1" anchor="t" anchorCtr="0" compatLnSpc="1"/>
              <a:lstStyle/>
              <a:p>
                <a:endParaRPr lang="zh-CN" altLang="en-US" dirty="0">
                  <a:latin typeface="微软雅黑" panose="020B0503020204020204" pitchFamily="34" charset="-122"/>
                </a:endParaRPr>
              </a:p>
            </p:txBody>
          </p:sp>
          <p:sp>
            <p:nvSpPr>
              <p:cNvPr id="30" name="Freeform 18"/>
              <p:cNvSpPr/>
              <p:nvPr/>
            </p:nvSpPr>
            <p:spPr bwMode="auto">
              <a:xfrm>
                <a:off x="3835400" y="3097213"/>
                <a:ext cx="234950" cy="73025"/>
              </a:xfrm>
              <a:custGeom>
                <a:avLst/>
                <a:gdLst>
                  <a:gd name="T0" fmla="*/ 55 w 55"/>
                  <a:gd name="T1" fmla="*/ 8 h 17"/>
                  <a:gd name="T2" fmla="*/ 46 w 55"/>
                  <a:gd name="T3" fmla="*/ 17 h 17"/>
                  <a:gd name="T4" fmla="*/ 8 w 55"/>
                  <a:gd name="T5" fmla="*/ 17 h 17"/>
                  <a:gd name="T6" fmla="*/ 0 w 55"/>
                  <a:gd name="T7" fmla="*/ 8 h 17"/>
                  <a:gd name="T8" fmla="*/ 0 w 55"/>
                  <a:gd name="T9" fmla="*/ 8 h 17"/>
                  <a:gd name="T10" fmla="*/ 8 w 55"/>
                  <a:gd name="T11" fmla="*/ 0 h 17"/>
                  <a:gd name="T12" fmla="*/ 46 w 55"/>
                  <a:gd name="T13" fmla="*/ 0 h 17"/>
                  <a:gd name="T14" fmla="*/ 55 w 55"/>
                  <a:gd name="T15" fmla="*/ 8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" h="17">
                    <a:moveTo>
                      <a:pt x="55" y="8"/>
                    </a:moveTo>
                    <a:cubicBezTo>
                      <a:pt x="55" y="13"/>
                      <a:pt x="51" y="17"/>
                      <a:pt x="46" y="17"/>
                    </a:cubicBezTo>
                    <a:cubicBezTo>
                      <a:pt x="8" y="17"/>
                      <a:pt x="8" y="17"/>
                      <a:pt x="8" y="17"/>
                    </a:cubicBezTo>
                    <a:cubicBezTo>
                      <a:pt x="3" y="17"/>
                      <a:pt x="0" y="13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3"/>
                      <a:pt x="3" y="0"/>
                      <a:pt x="8" y="0"/>
                    </a:cubicBezTo>
                    <a:cubicBezTo>
                      <a:pt x="46" y="0"/>
                      <a:pt x="46" y="0"/>
                      <a:pt x="46" y="0"/>
                    </a:cubicBezTo>
                    <a:cubicBezTo>
                      <a:pt x="51" y="0"/>
                      <a:pt x="55" y="3"/>
                      <a:pt x="55" y="8"/>
                    </a:cubicBez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8580" tIns="64290" rIns="128580" bIns="64290" numCol="1" anchor="t" anchorCtr="0" compatLnSpc="1"/>
              <a:lstStyle/>
              <a:p>
                <a:endParaRPr lang="zh-CN" altLang="en-US" dirty="0">
                  <a:latin typeface="微软雅黑" panose="020B0503020204020204" pitchFamily="34" charset="-122"/>
                </a:endParaRPr>
              </a:p>
            </p:txBody>
          </p:sp>
          <p:sp>
            <p:nvSpPr>
              <p:cNvPr id="31" name="Freeform 19"/>
              <p:cNvSpPr/>
              <p:nvPr/>
            </p:nvSpPr>
            <p:spPr bwMode="auto">
              <a:xfrm>
                <a:off x="3835400" y="3235326"/>
                <a:ext cx="234950" cy="71438"/>
              </a:xfrm>
              <a:custGeom>
                <a:avLst/>
                <a:gdLst>
                  <a:gd name="T0" fmla="*/ 55 w 55"/>
                  <a:gd name="T1" fmla="*/ 9 h 17"/>
                  <a:gd name="T2" fmla="*/ 46 w 55"/>
                  <a:gd name="T3" fmla="*/ 17 h 17"/>
                  <a:gd name="T4" fmla="*/ 8 w 55"/>
                  <a:gd name="T5" fmla="*/ 17 h 17"/>
                  <a:gd name="T6" fmla="*/ 0 w 55"/>
                  <a:gd name="T7" fmla="*/ 9 h 17"/>
                  <a:gd name="T8" fmla="*/ 0 w 55"/>
                  <a:gd name="T9" fmla="*/ 9 h 17"/>
                  <a:gd name="T10" fmla="*/ 8 w 55"/>
                  <a:gd name="T11" fmla="*/ 0 h 17"/>
                  <a:gd name="T12" fmla="*/ 46 w 55"/>
                  <a:gd name="T13" fmla="*/ 0 h 17"/>
                  <a:gd name="T14" fmla="*/ 55 w 55"/>
                  <a:gd name="T15" fmla="*/ 9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" h="17">
                    <a:moveTo>
                      <a:pt x="55" y="9"/>
                    </a:moveTo>
                    <a:cubicBezTo>
                      <a:pt x="55" y="13"/>
                      <a:pt x="51" y="17"/>
                      <a:pt x="46" y="17"/>
                    </a:cubicBezTo>
                    <a:cubicBezTo>
                      <a:pt x="8" y="17"/>
                      <a:pt x="8" y="17"/>
                      <a:pt x="8" y="17"/>
                    </a:cubicBezTo>
                    <a:cubicBezTo>
                      <a:pt x="3" y="17"/>
                      <a:pt x="0" y="13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4"/>
                      <a:pt x="3" y="0"/>
                      <a:pt x="8" y="0"/>
                    </a:cubicBezTo>
                    <a:cubicBezTo>
                      <a:pt x="46" y="0"/>
                      <a:pt x="46" y="0"/>
                      <a:pt x="46" y="0"/>
                    </a:cubicBezTo>
                    <a:cubicBezTo>
                      <a:pt x="51" y="0"/>
                      <a:pt x="55" y="4"/>
                      <a:pt x="55" y="9"/>
                    </a:cubicBez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8580" tIns="64290" rIns="128580" bIns="64290" numCol="1" anchor="t" anchorCtr="0" compatLnSpc="1"/>
              <a:lstStyle/>
              <a:p>
                <a:endParaRPr lang="zh-CN" altLang="en-US" dirty="0">
                  <a:latin typeface="微软雅黑" panose="020B0503020204020204" pitchFamily="34" charset="-122"/>
                </a:endParaRPr>
              </a:p>
            </p:txBody>
          </p:sp>
        </p:grpSp>
        <p:sp>
          <p:nvSpPr>
            <p:cNvPr id="16" name="矩形 259"/>
            <p:cNvSpPr>
              <a:spLocks noChangeArrowheads="1"/>
            </p:cNvSpPr>
            <p:nvPr/>
          </p:nvSpPr>
          <p:spPr bwMode="auto">
            <a:xfrm>
              <a:off x="2306379" y="2775471"/>
              <a:ext cx="1656605" cy="587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9pPr>
            </a:lstStyle>
            <a:p>
              <a:pPr algn="ctr">
                <a:buNone/>
              </a:pPr>
              <a:r>
                <a:rPr lang="en-US" altLang="zh-CN" sz="3600" dirty="0">
                  <a:solidFill>
                    <a:srgbClr val="4D4D4D"/>
                  </a:solidFill>
                  <a:cs typeface="Arial" panose="020B0604020202020204" pitchFamily="34" charset="0"/>
                </a:rPr>
                <a:t>02</a:t>
              </a:r>
              <a:endParaRPr lang="zh-CN" altLang="en-US" sz="1800" dirty="0">
                <a:solidFill>
                  <a:srgbClr val="4D4D4D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7" name="矩形 259"/>
            <p:cNvSpPr>
              <a:spLocks noChangeArrowheads="1"/>
            </p:cNvSpPr>
            <p:nvPr/>
          </p:nvSpPr>
          <p:spPr bwMode="auto">
            <a:xfrm>
              <a:off x="2438403" y="3696145"/>
              <a:ext cx="1392558" cy="10218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9pPr>
            </a:lstStyle>
            <a:p>
              <a:pPr algn="ctr">
                <a:buNone/>
              </a:pPr>
              <a:r>
                <a:rPr lang="zh-CN" altLang="en-US" sz="2800" dirty="0">
                  <a:solidFill>
                    <a:schemeClr val="bg1"/>
                  </a:solidFill>
                  <a:cs typeface="Arial" panose="020B0604020202020204" pitchFamily="34" charset="0"/>
                </a:rPr>
                <a:t>章节</a:t>
              </a:r>
              <a:endParaRPr lang="en-US" altLang="zh-CN" sz="1400" dirty="0">
                <a:solidFill>
                  <a:schemeClr val="bg1"/>
                </a:solidFill>
                <a:cs typeface="Arial" panose="020B0604020202020204" pitchFamily="34" charset="0"/>
              </a:endParaRPr>
            </a:p>
            <a:p>
              <a:pPr algn="ctr">
                <a:buNone/>
              </a:pPr>
              <a:r>
                <a:rPr lang="en-US" altLang="zh-CN" dirty="0">
                  <a:solidFill>
                    <a:schemeClr val="bg1"/>
                  </a:solidFill>
                  <a:cs typeface="Arial" panose="020B0604020202020204" pitchFamily="34" charset="0"/>
                </a:rPr>
                <a:t>PART</a:t>
              </a:r>
              <a:endParaRPr lang="en-US" altLang="zh-CN" sz="5400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</p:grp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9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8"/>
          <p:cNvSpPr txBox="1"/>
          <p:nvPr/>
        </p:nvSpPr>
        <p:spPr>
          <a:xfrm>
            <a:off x="4540933" y="223705"/>
            <a:ext cx="3949155" cy="52197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什么是</a:t>
            </a:r>
            <a:r>
              <a:rPr lang="en-US" altLang="zh-CN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UML</a:t>
            </a:r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图</a:t>
            </a:r>
            <a:r>
              <a:rPr lang="en-US" altLang="zh-CN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?</a:t>
            </a:r>
            <a:endParaRPr lang="en-US" altLang="zh-CN" sz="3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1" name="TextBox 8"/>
          <p:cNvSpPr txBox="1"/>
          <p:nvPr/>
        </p:nvSpPr>
        <p:spPr>
          <a:xfrm>
            <a:off x="5025514" y="704564"/>
            <a:ext cx="2876303" cy="29337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WHAT'S UML?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886327" y="591989"/>
            <a:ext cx="11086097" cy="0"/>
            <a:chOff x="1028775" y="591989"/>
            <a:chExt cx="11086097" cy="0"/>
          </a:xfrm>
        </p:grpSpPr>
        <p:cxnSp>
          <p:nvCxnSpPr>
            <p:cNvPr id="33" name="直接连接符 32"/>
            <p:cNvCxnSpPr/>
            <p:nvPr/>
          </p:nvCxnSpPr>
          <p:spPr>
            <a:xfrm>
              <a:off x="10287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>
              <a:off x="86106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7255" y="1139190"/>
            <a:ext cx="8696960" cy="53155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9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8"/>
          <p:cNvSpPr txBox="1"/>
          <p:nvPr/>
        </p:nvSpPr>
        <p:spPr>
          <a:xfrm>
            <a:off x="4454798" y="233568"/>
            <a:ext cx="3949155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设计模式</a:t>
            </a:r>
            <a:endParaRPr lang="zh-CN" altLang="en-US" sz="3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1" name="TextBox 8"/>
          <p:cNvSpPr txBox="1"/>
          <p:nvPr/>
        </p:nvSpPr>
        <p:spPr>
          <a:xfrm>
            <a:off x="5025514" y="743527"/>
            <a:ext cx="2876303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DESIGN PATTERNS</a:t>
            </a:r>
            <a:endParaRPr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886327" y="591989"/>
            <a:ext cx="11086097" cy="0"/>
            <a:chOff x="1028775" y="591989"/>
            <a:chExt cx="11086097" cy="0"/>
          </a:xfrm>
        </p:grpSpPr>
        <p:cxnSp>
          <p:nvCxnSpPr>
            <p:cNvPr id="33" name="直接连接符 32"/>
            <p:cNvCxnSpPr/>
            <p:nvPr/>
          </p:nvCxnSpPr>
          <p:spPr>
            <a:xfrm>
              <a:off x="10287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>
              <a:off x="86106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文本框 1"/>
          <p:cNvSpPr txBox="1"/>
          <p:nvPr/>
        </p:nvSpPr>
        <p:spPr>
          <a:xfrm>
            <a:off x="4341495" y="2882265"/>
            <a:ext cx="4062095" cy="874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一、策略模式</a:t>
            </a:r>
            <a:endParaRPr lang="zh-CN" altLang="en-US" sz="48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9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组合 40"/>
          <p:cNvGrpSpPr/>
          <p:nvPr/>
        </p:nvGrpSpPr>
        <p:grpSpPr>
          <a:xfrm>
            <a:off x="886327" y="591989"/>
            <a:ext cx="11086097" cy="0"/>
            <a:chOff x="1028775" y="591989"/>
            <a:chExt cx="11086097" cy="0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10287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/>
          </p:nvCxnSpPr>
          <p:spPr>
            <a:xfrm>
              <a:off x="86106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Box 8"/>
          <p:cNvSpPr txBox="1"/>
          <p:nvPr/>
        </p:nvSpPr>
        <p:spPr>
          <a:xfrm>
            <a:off x="4454798" y="218805"/>
            <a:ext cx="3949155" cy="52197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策略模式</a:t>
            </a:r>
            <a:endParaRPr lang="zh-CN" altLang="en-US" sz="3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6" name="TextBox 8"/>
          <p:cNvSpPr txBox="1"/>
          <p:nvPr/>
        </p:nvSpPr>
        <p:spPr>
          <a:xfrm>
            <a:off x="5025514" y="704564"/>
            <a:ext cx="2876303" cy="29337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STRATEGY PATTERN 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2075180" y="2954020"/>
            <a:ext cx="877697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>
                <a:latin typeface="黑体" panose="02010609060101010101" charset="-122"/>
                <a:ea typeface="黑体" panose="02010609060101010101" charset="-122"/>
              </a:rPr>
              <a:t>策略模式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</a:rPr>
              <a:t>定义了算法族，分别封装起来，让他们之间可以互相转换，此模式让算法的变化独立于使用算法的客户。</a:t>
            </a:r>
            <a:endParaRPr lang="zh-CN" altLang="en-US" sz="2400"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9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/>
          <p:cNvGrpSpPr/>
          <p:nvPr/>
        </p:nvGrpSpPr>
        <p:grpSpPr>
          <a:xfrm>
            <a:off x="886327" y="591989"/>
            <a:ext cx="11086097" cy="0"/>
            <a:chOff x="1028775" y="591989"/>
            <a:chExt cx="11086097" cy="0"/>
          </a:xfrm>
        </p:grpSpPr>
        <p:cxnSp>
          <p:nvCxnSpPr>
            <p:cNvPr id="33" name="直接连接符 32"/>
            <p:cNvCxnSpPr/>
            <p:nvPr/>
          </p:nvCxnSpPr>
          <p:spPr>
            <a:xfrm>
              <a:off x="10287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>
              <a:off x="86106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Box 8"/>
          <p:cNvSpPr txBox="1"/>
          <p:nvPr/>
        </p:nvSpPr>
        <p:spPr>
          <a:xfrm>
            <a:off x="4454798" y="218805"/>
            <a:ext cx="3949155" cy="52197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策略模式</a:t>
            </a:r>
            <a:endParaRPr lang="zh-CN" altLang="en-US" sz="3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6" name="TextBox 8"/>
          <p:cNvSpPr txBox="1"/>
          <p:nvPr/>
        </p:nvSpPr>
        <p:spPr>
          <a:xfrm>
            <a:off x="5025514" y="704564"/>
            <a:ext cx="2876303" cy="29337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STRATEGY PATTERN 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072640" y="2028190"/>
            <a:ext cx="8712835" cy="1188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latin typeface="黑体" panose="02010609060101010101" charset="-122"/>
                <a:ea typeface="黑体" panose="02010609060101010101" charset="-122"/>
              </a:rPr>
              <a:t>需求：PC客户端画完线将画线数据上传给云存储，云存储通过redis队列将画线数据推给手机后台，手机后台将它们存起来以供查询；</a:t>
            </a:r>
            <a:endParaRPr lang="zh-CN" altLang="en-US" sz="24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623060" y="3513455"/>
            <a:ext cx="9880600" cy="1188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latin typeface="黑体" panose="02010609060101010101" charset="-122"/>
                <a:ea typeface="黑体" panose="02010609060101010101" charset="-122"/>
              </a:rPr>
              <a:t>难点：</a:t>
            </a:r>
            <a:endParaRPr lang="zh-CN" altLang="en-US" sz="2400"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zh-CN" altLang="en-US" sz="2400">
                <a:latin typeface="黑体" panose="02010609060101010101" charset="-122"/>
                <a:ea typeface="黑体" panose="02010609060101010101" charset="-122"/>
              </a:rPr>
              <a:t>数据唯一键：userid + 窗口ID + 窗口周期 + 股票代码 → </a:t>
            </a:r>
            <a:r>
              <a:rPr lang="zh-CN" altLang="en-US" sz="2400" b="1">
                <a:latin typeface="黑体" panose="02010609060101010101" charset="-122"/>
                <a:ea typeface="黑体" panose="02010609060101010101" charset="-122"/>
              </a:rPr>
              <a:t>数据量大</a:t>
            </a:r>
            <a:endParaRPr lang="zh-CN" altLang="en-US" sz="2400" b="1"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zh-CN" altLang="zh-CN" sz="2400">
                <a:latin typeface="黑体" panose="02010609060101010101" charset="-122"/>
                <a:ea typeface="黑体" panose="02010609060101010101" charset="-122"/>
              </a:rPr>
              <a:t>展示位置：手炒客户端分时图横屏 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  <a:sym typeface="+mn-ea"/>
              </a:rPr>
              <a:t>→ </a:t>
            </a:r>
            <a:r>
              <a:rPr lang="zh-CN" altLang="en-US" sz="2400" b="1">
                <a:latin typeface="黑体" panose="02010609060101010101" charset="-122"/>
                <a:ea typeface="黑体" panose="02010609060101010101" charset="-122"/>
                <a:sym typeface="+mn-ea"/>
              </a:rPr>
              <a:t>访问量大</a:t>
            </a:r>
            <a:endParaRPr lang="zh-CN" altLang="en-US" sz="2400" b="1">
              <a:latin typeface="黑体" panose="02010609060101010101" charset="-122"/>
              <a:ea typeface="黑体" panose="0201060906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9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组合 40"/>
          <p:cNvGrpSpPr/>
          <p:nvPr/>
        </p:nvGrpSpPr>
        <p:grpSpPr>
          <a:xfrm>
            <a:off x="886327" y="591989"/>
            <a:ext cx="11086097" cy="0"/>
            <a:chOff x="1028775" y="591989"/>
            <a:chExt cx="11086097" cy="0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10287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/>
          </p:nvCxnSpPr>
          <p:spPr>
            <a:xfrm>
              <a:off x="86106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Box 8"/>
          <p:cNvSpPr txBox="1"/>
          <p:nvPr/>
        </p:nvSpPr>
        <p:spPr>
          <a:xfrm>
            <a:off x="4454798" y="218805"/>
            <a:ext cx="3949155" cy="52197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策略模式</a:t>
            </a:r>
            <a:endParaRPr lang="zh-CN" altLang="en-US" sz="3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6" name="TextBox 8"/>
          <p:cNvSpPr txBox="1"/>
          <p:nvPr/>
        </p:nvSpPr>
        <p:spPr>
          <a:xfrm>
            <a:off x="5025514" y="704564"/>
            <a:ext cx="2876303" cy="29337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STRATEGY PATTERN 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2040890" y="1192530"/>
            <a:ext cx="877697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latin typeface="黑体" panose="02010609060101010101" charset="-122"/>
                <a:ea typeface="黑体" panose="02010609060101010101" charset="-122"/>
              </a:rPr>
              <a:t>一开始的方案：</a:t>
            </a:r>
            <a:endParaRPr lang="zh-CN" altLang="en-US" sz="24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040890" y="2190115"/>
            <a:ext cx="8318500" cy="1188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latin typeface="黑体" panose="02010609060101010101" charset="-122"/>
                <a:ea typeface="黑体" panose="02010609060101010101" charset="-122"/>
              </a:rPr>
              <a:t>以文件作为数据驱动，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</a:rPr>
              <a:t>{$userid}/{$code}/{$window_id}_{$cycle}.txt </a:t>
            </a:r>
            <a:r>
              <a:rPr lang="zh-CN" altLang="zh-CN" sz="2400">
                <a:latin typeface="黑体" panose="02010609060101010101" charset="-122"/>
                <a:ea typeface="黑体" panose="02010609060101010101" charset="-122"/>
              </a:rPr>
              <a:t>形式定位一个窗口的画线数据</a:t>
            </a:r>
            <a:r>
              <a:rPr lang="zh-CN" altLang="zh-CN">
                <a:latin typeface="黑体" panose="02010609060101010101" charset="-122"/>
                <a:ea typeface="黑体" panose="02010609060101010101" charset="-122"/>
              </a:rPr>
              <a:t>；</a:t>
            </a:r>
            <a:endParaRPr lang="zh-CN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040890" y="4112260"/>
            <a:ext cx="8318500" cy="1188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latin typeface="黑体" panose="02010609060101010101" charset="-122"/>
                <a:ea typeface="黑体" panose="02010609060101010101" charset="-122"/>
              </a:rPr>
              <a:t>问题：</a:t>
            </a:r>
            <a:endParaRPr lang="zh-CN" altLang="en-US" sz="2400"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en-US" altLang="zh-CN" sz="2400">
                <a:latin typeface="黑体" panose="02010609060101010101" charset="-122"/>
                <a:ea typeface="黑体" panose="02010609060101010101" charset="-122"/>
              </a:rPr>
              <a:t>1. </a:t>
            </a:r>
            <a:r>
              <a:rPr lang="zh-CN" altLang="zh-CN" sz="2400">
                <a:latin typeface="黑体" panose="02010609060101010101" charset="-122"/>
                <a:ea typeface="黑体" panose="02010609060101010101" charset="-122"/>
              </a:rPr>
              <a:t>依赖文件同步（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</a:rPr>
              <a:t>scp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</a:rPr>
              <a:t>或者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</a:rPr>
              <a:t>lsyncd</a:t>
            </a:r>
            <a:r>
              <a:rPr lang="zh-CN" altLang="zh-CN" sz="2400">
                <a:latin typeface="黑体" panose="02010609060101010101" charset="-122"/>
                <a:ea typeface="黑体" panose="02010609060101010101" charset="-122"/>
              </a:rPr>
              <a:t>方案），很浪费网络资源；</a:t>
            </a:r>
            <a:endParaRPr lang="zh-CN" altLang="zh-CN" sz="2400"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en-US" altLang="zh-CN" sz="2400">
                <a:latin typeface="黑体" panose="02010609060101010101" charset="-122"/>
                <a:ea typeface="黑体" panose="02010609060101010101" charset="-122"/>
              </a:rPr>
              <a:t>2. 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</a:rPr>
              <a:t>几乎要耗光服务器的磁盘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</a:rPr>
              <a:t>inode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</a:rPr>
              <a:t>资源，影响到其他业务；</a:t>
            </a:r>
            <a:endParaRPr lang="zh-CN" altLang="en-US" sz="2400"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9">
        <p:fade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组合 40"/>
          <p:cNvGrpSpPr/>
          <p:nvPr/>
        </p:nvGrpSpPr>
        <p:grpSpPr>
          <a:xfrm>
            <a:off x="886327" y="591989"/>
            <a:ext cx="11086097" cy="0"/>
            <a:chOff x="1028775" y="591989"/>
            <a:chExt cx="11086097" cy="0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10287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/>
          </p:nvCxnSpPr>
          <p:spPr>
            <a:xfrm>
              <a:off x="86106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Box 8"/>
          <p:cNvSpPr txBox="1"/>
          <p:nvPr/>
        </p:nvSpPr>
        <p:spPr>
          <a:xfrm>
            <a:off x="4454798" y="218805"/>
            <a:ext cx="3949155" cy="52197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策略模式</a:t>
            </a:r>
            <a:endParaRPr lang="zh-CN" altLang="en-US" sz="3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6" name="TextBox 8"/>
          <p:cNvSpPr txBox="1"/>
          <p:nvPr/>
        </p:nvSpPr>
        <p:spPr>
          <a:xfrm>
            <a:off x="5025514" y="704564"/>
            <a:ext cx="2876303" cy="29337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STRATEGY PATTERN 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2040890" y="1182370"/>
            <a:ext cx="8776970" cy="2651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/>
              <a:t>如果没有采用设计，将陷入难题：</a:t>
            </a:r>
            <a:endParaRPr lang="zh-CN" altLang="en-US" sz="2400" b="1"/>
          </a:p>
          <a:p>
            <a:endParaRPr lang="zh-CN" altLang="en-US" sz="2400" b="1"/>
          </a:p>
          <a:p>
            <a:r>
              <a:rPr lang="en-US" altLang="zh-CN" sz="2400" b="1"/>
              <a:t>1. </a:t>
            </a:r>
            <a:r>
              <a:rPr lang="zh-CN" altLang="en-US" sz="2400" b="1"/>
              <a:t>有两个脚本使用到数据的写入操作，一个接口中使用到读取操作，所以至少涉及到原本</a:t>
            </a:r>
            <a:r>
              <a:rPr lang="en-US" altLang="zh-CN" sz="2400" b="1"/>
              <a:t>3</a:t>
            </a:r>
            <a:r>
              <a:rPr lang="zh-CN" altLang="en-US" sz="2400" b="1"/>
              <a:t>个代码文件的修改；</a:t>
            </a:r>
            <a:endParaRPr lang="zh-CN" altLang="en-US" sz="2400" b="1"/>
          </a:p>
          <a:p>
            <a:endParaRPr lang="zh-CN" altLang="en-US" sz="2400" b="1"/>
          </a:p>
          <a:p>
            <a:r>
              <a:rPr lang="en-US" altLang="zh-CN" sz="2400" b="1"/>
              <a:t>2. </a:t>
            </a:r>
            <a:r>
              <a:rPr lang="zh-CN" altLang="en-US" sz="2400" b="1"/>
              <a:t>需要排查</a:t>
            </a:r>
            <a:r>
              <a:rPr lang="en-US" altLang="zh-CN" sz="2400" b="1"/>
              <a:t>1</a:t>
            </a:r>
            <a:r>
              <a:rPr lang="zh-CN" altLang="en-US" sz="2400" b="1"/>
              <a:t>中除外是否有别的地方用到数据操作，有的话都需要进行修改；</a:t>
            </a:r>
            <a:endParaRPr lang="zh-CN" altLang="en-US" sz="24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9">
        <p:fade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组合 40"/>
          <p:cNvGrpSpPr/>
          <p:nvPr/>
        </p:nvGrpSpPr>
        <p:grpSpPr>
          <a:xfrm>
            <a:off x="886327" y="591989"/>
            <a:ext cx="11086097" cy="0"/>
            <a:chOff x="1028775" y="591989"/>
            <a:chExt cx="11086097" cy="0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10287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/>
          </p:nvCxnSpPr>
          <p:spPr>
            <a:xfrm>
              <a:off x="86106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Box 8"/>
          <p:cNvSpPr txBox="1"/>
          <p:nvPr/>
        </p:nvSpPr>
        <p:spPr>
          <a:xfrm>
            <a:off x="4454798" y="218805"/>
            <a:ext cx="3949155" cy="52197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策略模式</a:t>
            </a:r>
            <a:endParaRPr lang="zh-CN" altLang="en-US" sz="3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6" name="TextBox 8"/>
          <p:cNvSpPr txBox="1"/>
          <p:nvPr/>
        </p:nvSpPr>
        <p:spPr>
          <a:xfrm>
            <a:off x="5025514" y="704564"/>
            <a:ext cx="2876303" cy="29337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STRATEGY PATTERN 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886460" y="998220"/>
            <a:ext cx="241427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latin typeface="黑体" panose="02010609060101010101" charset="-122"/>
                <a:ea typeface="黑体" panose="02010609060101010101" charset="-122"/>
              </a:rPr>
              <a:t>其实我留了一手</a:t>
            </a:r>
            <a:endParaRPr lang="zh-CN" altLang="en-US" sz="2400"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93415" y="998220"/>
            <a:ext cx="6759575" cy="54756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9">
        <p:fade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组合 40"/>
          <p:cNvGrpSpPr/>
          <p:nvPr/>
        </p:nvGrpSpPr>
        <p:grpSpPr>
          <a:xfrm>
            <a:off x="886327" y="591989"/>
            <a:ext cx="11086097" cy="0"/>
            <a:chOff x="1028775" y="591989"/>
            <a:chExt cx="11086097" cy="0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10287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/>
          </p:nvCxnSpPr>
          <p:spPr>
            <a:xfrm>
              <a:off x="86106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Box 8"/>
          <p:cNvSpPr txBox="1"/>
          <p:nvPr/>
        </p:nvSpPr>
        <p:spPr>
          <a:xfrm>
            <a:off x="4454798" y="218805"/>
            <a:ext cx="3949155" cy="52197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策略模式</a:t>
            </a:r>
            <a:endParaRPr lang="zh-CN" altLang="en-US" sz="3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6" name="TextBox 8"/>
          <p:cNvSpPr txBox="1"/>
          <p:nvPr/>
        </p:nvSpPr>
        <p:spPr>
          <a:xfrm>
            <a:off x="5025514" y="704564"/>
            <a:ext cx="2876303" cy="29337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STRATEGY PATTERN 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269490" y="4933950"/>
            <a:ext cx="8318500" cy="916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大家确定好更换成</a:t>
            </a:r>
            <a:r>
              <a:rPr lang="en-US" altLang="zh-CN"/>
              <a:t>mongodb</a:t>
            </a:r>
            <a:r>
              <a:rPr lang="zh-CN" altLang="en-US"/>
              <a:t>方案之后，运维部署</a:t>
            </a:r>
            <a:r>
              <a:rPr lang="en-US" altLang="zh-CN"/>
              <a:t>mongodb</a:t>
            </a:r>
            <a:r>
              <a:rPr lang="zh-CN" altLang="en-US"/>
              <a:t>服务，开发按照上述</a:t>
            </a:r>
            <a:r>
              <a:rPr lang="en-US" altLang="zh-CN"/>
              <a:t>UML</a:t>
            </a:r>
            <a:r>
              <a:rPr lang="zh-CN" altLang="en-US"/>
              <a:t>结构添加代码；</a:t>
            </a:r>
            <a:endParaRPr lang="zh-CN" altLang="en-US"/>
          </a:p>
          <a:p>
            <a:r>
              <a:rPr lang="zh-CN" altLang="en-US"/>
              <a:t>整个程序的 </a:t>
            </a:r>
            <a:r>
              <a:rPr lang="en-US" altLang="zh-CN"/>
              <a:t>DataManager </a:t>
            </a:r>
            <a:r>
              <a:rPr lang="zh-CN" altLang="en-US"/>
              <a:t>的声明只有一个入口，修改这个声明的类名即可！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8255" y="1381125"/>
            <a:ext cx="10302240" cy="33407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9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组合 40"/>
          <p:cNvGrpSpPr/>
          <p:nvPr/>
        </p:nvGrpSpPr>
        <p:grpSpPr>
          <a:xfrm>
            <a:off x="886327" y="591989"/>
            <a:ext cx="11086097" cy="0"/>
            <a:chOff x="1028775" y="591989"/>
            <a:chExt cx="11086097" cy="0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10287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/>
          </p:nvCxnSpPr>
          <p:spPr>
            <a:xfrm>
              <a:off x="86106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Box 8"/>
          <p:cNvSpPr txBox="1"/>
          <p:nvPr/>
        </p:nvSpPr>
        <p:spPr>
          <a:xfrm>
            <a:off x="4454798" y="218805"/>
            <a:ext cx="3949155" cy="52197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策略模式</a:t>
            </a:r>
            <a:endParaRPr lang="zh-CN" altLang="en-US" sz="3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6" name="TextBox 8"/>
          <p:cNvSpPr txBox="1"/>
          <p:nvPr/>
        </p:nvSpPr>
        <p:spPr>
          <a:xfrm>
            <a:off x="5025514" y="704564"/>
            <a:ext cx="2876303" cy="29337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STRATEGY PATTERN 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785620" y="1654175"/>
            <a:ext cx="9286240" cy="33832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latin typeface="黑体" panose="02010609060101010101" charset="-122"/>
                <a:ea typeface="黑体" panose="02010609060101010101" charset="-122"/>
              </a:rPr>
              <a:t>设计原则：</a:t>
            </a:r>
            <a:endParaRPr lang="zh-CN" altLang="en-US" sz="2400">
              <a:latin typeface="黑体" panose="02010609060101010101" charset="-122"/>
              <a:ea typeface="黑体" panose="02010609060101010101" charset="-122"/>
            </a:endParaRPr>
          </a:p>
          <a:p>
            <a:endParaRPr lang="zh-CN" altLang="en-US" sz="2400">
              <a:latin typeface="黑体" panose="02010609060101010101" charset="-122"/>
              <a:ea typeface="黑体" panose="02010609060101010101" charset="-122"/>
            </a:endParaRPr>
          </a:p>
          <a:p>
            <a:endParaRPr lang="zh-CN" altLang="en-US" sz="2400"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en-US" altLang="zh-CN" sz="2400">
                <a:latin typeface="黑体" panose="02010609060101010101" charset="-122"/>
                <a:ea typeface="黑体" panose="02010609060101010101" charset="-122"/>
              </a:rPr>
              <a:t>1. </a:t>
            </a:r>
            <a:r>
              <a:rPr sz="2400" b="1">
                <a:latin typeface="黑体" panose="02010609060101010101" charset="-122"/>
                <a:ea typeface="黑体" panose="02010609060101010101" charset="-122"/>
              </a:rPr>
              <a:t>封装变化</a:t>
            </a:r>
            <a:r>
              <a:rPr lang="zh-CN" sz="2400" b="1">
                <a:latin typeface="黑体" panose="02010609060101010101" charset="-122"/>
                <a:ea typeface="黑体" panose="02010609060101010101" charset="-122"/>
              </a:rPr>
              <a:t>；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</a:rPr>
              <a:t>save() 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</a:rPr>
              <a:t>和 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</a:rPr>
              <a:t>query() 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</a:rPr>
              <a:t>对于接口、脚本等层面来讲是变化的；</a:t>
            </a:r>
            <a:endParaRPr lang="zh-CN" altLang="en-US" sz="2400"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en-US" altLang="zh-CN" sz="2400">
                <a:latin typeface="黑体" panose="02010609060101010101" charset="-122"/>
                <a:ea typeface="黑体" panose="02010609060101010101" charset="-122"/>
                <a:sym typeface="+mn-ea"/>
              </a:rPr>
              <a:t>2. </a:t>
            </a:r>
            <a:r>
              <a:rPr lang="en-US" altLang="zh-CN" sz="2400" b="1">
                <a:latin typeface="黑体" panose="02010609060101010101" charset="-122"/>
                <a:ea typeface="黑体" panose="02010609060101010101" charset="-122"/>
                <a:sym typeface="+mn-ea"/>
              </a:rPr>
              <a:t>针对接口</a:t>
            </a:r>
            <a:r>
              <a:rPr lang="zh-CN" altLang="zh-CN" sz="2400" b="1">
                <a:latin typeface="黑体" panose="02010609060101010101" charset="-122"/>
                <a:ea typeface="黑体" panose="02010609060101010101" charset="-122"/>
                <a:sym typeface="+mn-ea"/>
              </a:rPr>
              <a:t>（或超类）</a:t>
            </a:r>
            <a:r>
              <a:rPr lang="en-US" altLang="zh-CN" sz="2400" b="1">
                <a:latin typeface="黑体" panose="02010609060101010101" charset="-122"/>
                <a:ea typeface="黑体" panose="02010609060101010101" charset="-122"/>
                <a:sym typeface="+mn-ea"/>
              </a:rPr>
              <a:t>编程，不针对实现</a:t>
            </a:r>
            <a:r>
              <a:rPr lang="zh-CN" altLang="en-US" sz="2400" b="1">
                <a:latin typeface="黑体" panose="02010609060101010101" charset="-122"/>
                <a:ea typeface="黑体" panose="02010609060101010101" charset="-122"/>
                <a:sym typeface="+mn-ea"/>
              </a:rPr>
              <a:t>；</a:t>
            </a:r>
            <a:endParaRPr lang="zh-CN" altLang="en-US" sz="2400" b="1">
              <a:latin typeface="黑体" panose="02010609060101010101" charset="-122"/>
              <a:ea typeface="黑体" panose="02010609060101010101" charset="-122"/>
              <a:sym typeface="+mn-ea"/>
            </a:endParaRPr>
          </a:p>
          <a:p>
            <a:r>
              <a:rPr lang="zh-CN" altLang="en-US" sz="2400">
                <a:latin typeface="黑体" panose="02010609060101010101" charset="-122"/>
                <a:ea typeface="黑体" panose="02010609060101010101" charset="-122"/>
                <a:sym typeface="+mn-ea"/>
              </a:rPr>
              <a:t>针对实现编程：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  <a:sym typeface="+mn-ea"/>
              </a:rPr>
              <a:t>saveDataToFile(); saveDataToMongoDB();</a:t>
            </a:r>
            <a:endParaRPr lang="en-US" altLang="zh-CN" sz="2400">
              <a:latin typeface="黑体" panose="02010609060101010101" charset="-122"/>
              <a:ea typeface="黑体" panose="02010609060101010101" charset="-122"/>
              <a:sym typeface="+mn-ea"/>
            </a:endParaRPr>
          </a:p>
          <a:p>
            <a:endParaRPr lang="zh-CN" altLang="en-US" sz="2400" b="1">
              <a:latin typeface="黑体" panose="02010609060101010101" charset="-122"/>
              <a:ea typeface="黑体" panose="02010609060101010101" charset="-122"/>
              <a:sym typeface="+mn-ea"/>
            </a:endParaRPr>
          </a:p>
          <a:p>
            <a:r>
              <a:rPr lang="en-US" altLang="zh-CN" sz="2400">
                <a:latin typeface="黑体" panose="02010609060101010101" charset="-122"/>
                <a:ea typeface="黑体" panose="02010609060101010101" charset="-122"/>
              </a:rPr>
              <a:t>3. </a:t>
            </a:r>
            <a:r>
              <a:rPr lang="en-US" altLang="zh-CN" sz="2400" b="1">
                <a:latin typeface="黑体" panose="02010609060101010101" charset="-122"/>
                <a:ea typeface="黑体" panose="02010609060101010101" charset="-122"/>
              </a:rPr>
              <a:t>多用组合，少用继承</a:t>
            </a:r>
            <a:r>
              <a:rPr lang="zh-CN" altLang="zh-CN" sz="2400" b="1">
                <a:latin typeface="黑体" panose="02010609060101010101" charset="-122"/>
                <a:ea typeface="黑体" panose="02010609060101010101" charset="-122"/>
              </a:rPr>
              <a:t>；</a:t>
            </a:r>
            <a:endParaRPr lang="zh-CN" altLang="en-US" sz="2400" b="1"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9">
        <p:fade/>
      </p:transition>
    </mc:Choice>
    <mc:Fallback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组合 40"/>
          <p:cNvGrpSpPr/>
          <p:nvPr/>
        </p:nvGrpSpPr>
        <p:grpSpPr>
          <a:xfrm>
            <a:off x="886327" y="591989"/>
            <a:ext cx="11086097" cy="0"/>
            <a:chOff x="1028775" y="591989"/>
            <a:chExt cx="11086097" cy="0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10287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/>
          </p:nvCxnSpPr>
          <p:spPr>
            <a:xfrm>
              <a:off x="86106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Box 8"/>
          <p:cNvSpPr txBox="1"/>
          <p:nvPr/>
        </p:nvSpPr>
        <p:spPr>
          <a:xfrm>
            <a:off x="4454798" y="218805"/>
            <a:ext cx="3949155" cy="52197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策略模式</a:t>
            </a:r>
            <a:endParaRPr lang="zh-CN" altLang="en-US" sz="3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6" name="TextBox 8"/>
          <p:cNvSpPr txBox="1"/>
          <p:nvPr/>
        </p:nvSpPr>
        <p:spPr>
          <a:xfrm>
            <a:off x="5025514" y="704564"/>
            <a:ext cx="2876303" cy="29337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STRATEGY PATTERN 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86460" y="916940"/>
            <a:ext cx="1970405" cy="518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800" b="1"/>
              <a:t>组合的优势</a:t>
            </a:r>
            <a:endParaRPr lang="zh-CN" altLang="zh-CN" sz="2800" b="1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9355" y="1583055"/>
            <a:ext cx="10678160" cy="46558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9">
        <p:fade/>
      </p:transition>
    </mc:Choice>
    <mc:Fallback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组合 40"/>
          <p:cNvGrpSpPr/>
          <p:nvPr/>
        </p:nvGrpSpPr>
        <p:grpSpPr>
          <a:xfrm>
            <a:off x="886327" y="591989"/>
            <a:ext cx="11086097" cy="0"/>
            <a:chOff x="1028775" y="591989"/>
            <a:chExt cx="11086097" cy="0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10287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/>
          </p:nvCxnSpPr>
          <p:spPr>
            <a:xfrm>
              <a:off x="86106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Box 8"/>
          <p:cNvSpPr txBox="1"/>
          <p:nvPr/>
        </p:nvSpPr>
        <p:spPr>
          <a:xfrm>
            <a:off x="4454798" y="218805"/>
            <a:ext cx="3949155" cy="52197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策略模式</a:t>
            </a:r>
            <a:endParaRPr lang="zh-CN" altLang="en-US" sz="3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6" name="TextBox 8"/>
          <p:cNvSpPr txBox="1"/>
          <p:nvPr/>
        </p:nvSpPr>
        <p:spPr>
          <a:xfrm>
            <a:off x="5025514" y="704564"/>
            <a:ext cx="2876303" cy="29337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STRATEGY PATTERN 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820545" y="2596515"/>
            <a:ext cx="9286240" cy="1188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latin typeface="黑体" panose="02010609060101010101" charset="-122"/>
                <a:ea typeface="黑体" panose="02010609060101010101" charset="-122"/>
              </a:rPr>
              <a:t>设计模式不是一个高大上的名字，它离我们很近；</a:t>
            </a:r>
            <a:endParaRPr lang="zh-CN" altLang="en-US" sz="2400">
              <a:latin typeface="黑体" panose="02010609060101010101" charset="-122"/>
              <a:ea typeface="黑体" panose="02010609060101010101" charset="-122"/>
            </a:endParaRPr>
          </a:p>
          <a:p>
            <a:endParaRPr lang="zh-CN" altLang="en-US" sz="2400"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zh-CN" altLang="en-US" sz="2400">
                <a:latin typeface="黑体" panose="02010609060101010101" charset="-122"/>
                <a:ea typeface="黑体" panose="02010609060101010101" charset="-122"/>
              </a:rPr>
              <a:t>设计模式真的可以提高工作的舒适度，「快乐编程」；</a:t>
            </a:r>
            <a:endParaRPr lang="zh-CN" altLang="en-US" sz="2400"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9">
        <p:fade/>
      </p:transition>
    </mc:Choice>
    <mc:Fallback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8"/>
          <p:cNvSpPr txBox="1"/>
          <p:nvPr/>
        </p:nvSpPr>
        <p:spPr>
          <a:xfrm>
            <a:off x="4454798" y="233568"/>
            <a:ext cx="3949155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设计模式</a:t>
            </a:r>
            <a:endParaRPr lang="zh-CN" altLang="en-US" sz="3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1" name="TextBox 8"/>
          <p:cNvSpPr txBox="1"/>
          <p:nvPr/>
        </p:nvSpPr>
        <p:spPr>
          <a:xfrm>
            <a:off x="5025514" y="743527"/>
            <a:ext cx="2876303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DESIGN PATTERNS</a:t>
            </a:r>
            <a:endParaRPr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886327" y="591989"/>
            <a:ext cx="11086097" cy="0"/>
            <a:chOff x="1028775" y="591989"/>
            <a:chExt cx="11086097" cy="0"/>
          </a:xfrm>
        </p:grpSpPr>
        <p:cxnSp>
          <p:nvCxnSpPr>
            <p:cNvPr id="33" name="直接连接符 32"/>
            <p:cNvCxnSpPr/>
            <p:nvPr/>
          </p:nvCxnSpPr>
          <p:spPr>
            <a:xfrm>
              <a:off x="10287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>
              <a:off x="86106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文本框 1"/>
          <p:cNvSpPr txBox="1"/>
          <p:nvPr/>
        </p:nvSpPr>
        <p:spPr>
          <a:xfrm>
            <a:off x="4341495" y="2882265"/>
            <a:ext cx="4062095" cy="874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二、单例模式</a:t>
            </a:r>
            <a:endParaRPr lang="zh-CN" altLang="en-US" sz="48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9">
        <p:fade/>
      </p:transition>
    </mc:Choice>
    <mc:Fallback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8"/>
          <p:cNvSpPr txBox="1"/>
          <p:nvPr/>
        </p:nvSpPr>
        <p:spPr>
          <a:xfrm>
            <a:off x="4454798" y="218805"/>
            <a:ext cx="3949155" cy="52197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单例模式</a:t>
            </a:r>
            <a:endParaRPr lang="zh-CN" altLang="en-US" sz="3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1" name="TextBox 8"/>
          <p:cNvSpPr txBox="1"/>
          <p:nvPr/>
        </p:nvSpPr>
        <p:spPr>
          <a:xfrm>
            <a:off x="5025514" y="737266"/>
            <a:ext cx="2876303" cy="22796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SINGLETON PATTERN</a:t>
            </a:r>
            <a:endParaRPr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886327" y="591989"/>
            <a:ext cx="11086097" cy="0"/>
            <a:chOff x="1028775" y="591989"/>
            <a:chExt cx="11086097" cy="0"/>
          </a:xfrm>
        </p:grpSpPr>
        <p:cxnSp>
          <p:nvCxnSpPr>
            <p:cNvPr id="33" name="直接连接符 32"/>
            <p:cNvCxnSpPr/>
            <p:nvPr/>
          </p:nvCxnSpPr>
          <p:spPr>
            <a:xfrm>
              <a:off x="10287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>
              <a:off x="86106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文本框 2"/>
          <p:cNvSpPr txBox="1"/>
          <p:nvPr/>
        </p:nvSpPr>
        <p:spPr>
          <a:xfrm>
            <a:off x="1820545" y="1993265"/>
            <a:ext cx="9838055" cy="246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单例模式</a:t>
            </a:r>
            <a:r>
              <a:rPr lang="zh-CN" altLang="en-US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确保一个类只有一个实例，并提供一个全局的访问点。</a:t>
            </a:r>
            <a:endParaRPr lang="zh-CN" altLang="en-US" sz="24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endParaRPr lang="zh-CN" altLang="en-US" sz="24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zh-CN" altLang="en-US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主要是为了避免因为创建了多个实例造成资源的浪费，且多个实例由于多次调用容易导致结果出现错误。</a:t>
            </a:r>
            <a:endParaRPr lang="zh-CN" altLang="en-US" sz="24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endParaRPr lang="zh-CN" altLang="en-US" sz="24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zh-CN" altLang="en-US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比如</a:t>
            </a:r>
            <a:r>
              <a:rPr lang="en-US" altLang="zh-CN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redis</a:t>
            </a:r>
            <a:r>
              <a:rPr lang="zh-CN" altLang="en-US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、</a:t>
            </a:r>
            <a:r>
              <a:rPr lang="en-US" altLang="zh-CN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mysql</a:t>
            </a:r>
            <a:r>
              <a:rPr lang="zh-CN" altLang="en-US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连接、</a:t>
            </a:r>
            <a:r>
              <a:rPr lang="en-US" altLang="zh-CN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curl</a:t>
            </a:r>
            <a:r>
              <a:rPr lang="zh-CN" altLang="en-US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句柄等。</a:t>
            </a:r>
            <a:endParaRPr lang="zh-CN" altLang="en-US" sz="24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9">
        <p:fade/>
      </p:transition>
    </mc:Choice>
    <mc:Fallback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8"/>
          <p:cNvSpPr txBox="1"/>
          <p:nvPr/>
        </p:nvSpPr>
        <p:spPr>
          <a:xfrm>
            <a:off x="4454798" y="218805"/>
            <a:ext cx="3949155" cy="52197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单例模式</a:t>
            </a:r>
            <a:endParaRPr lang="zh-CN" altLang="en-US" sz="3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1" name="TextBox 8"/>
          <p:cNvSpPr txBox="1"/>
          <p:nvPr/>
        </p:nvSpPr>
        <p:spPr>
          <a:xfrm>
            <a:off x="5025514" y="737266"/>
            <a:ext cx="2876303" cy="22796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SINGLETON PATTERN</a:t>
            </a:r>
            <a:endParaRPr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886327" y="591989"/>
            <a:ext cx="11086097" cy="0"/>
            <a:chOff x="1028775" y="591989"/>
            <a:chExt cx="11086097" cy="0"/>
          </a:xfrm>
        </p:grpSpPr>
        <p:cxnSp>
          <p:nvCxnSpPr>
            <p:cNvPr id="33" name="直接连接符 32"/>
            <p:cNvCxnSpPr/>
            <p:nvPr/>
          </p:nvCxnSpPr>
          <p:spPr>
            <a:xfrm>
              <a:off x="10287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>
              <a:off x="86106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29660" y="1570990"/>
            <a:ext cx="5598160" cy="40906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9">
        <p:fade/>
      </p:transition>
    </mc:Choice>
    <mc:Fallback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8"/>
          <p:cNvSpPr txBox="1"/>
          <p:nvPr/>
        </p:nvSpPr>
        <p:spPr>
          <a:xfrm>
            <a:off x="4454798" y="218805"/>
            <a:ext cx="3949155" cy="52197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单例模式</a:t>
            </a:r>
            <a:endParaRPr lang="zh-CN" altLang="en-US" sz="3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1" name="TextBox 8"/>
          <p:cNvSpPr txBox="1"/>
          <p:nvPr/>
        </p:nvSpPr>
        <p:spPr>
          <a:xfrm>
            <a:off x="5025514" y="737266"/>
            <a:ext cx="2876303" cy="22796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SINGLETON PATTERN</a:t>
            </a:r>
            <a:endParaRPr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886327" y="591989"/>
            <a:ext cx="11086097" cy="0"/>
            <a:chOff x="1028775" y="591989"/>
            <a:chExt cx="11086097" cy="0"/>
          </a:xfrm>
        </p:grpSpPr>
        <p:cxnSp>
          <p:nvCxnSpPr>
            <p:cNvPr id="33" name="直接连接符 32"/>
            <p:cNvCxnSpPr/>
            <p:nvPr/>
          </p:nvCxnSpPr>
          <p:spPr>
            <a:xfrm>
              <a:off x="10287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>
              <a:off x="86106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0" name="文本框 99"/>
          <p:cNvSpPr txBox="1"/>
          <p:nvPr/>
        </p:nvSpPr>
        <p:spPr>
          <a:xfrm>
            <a:off x="3698240" y="1193165"/>
            <a:ext cx="5530850" cy="47853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indent="0" algn="l"/>
            <a:r>
              <a:rPr lang="en-US" altLang="zh-CN" sz="1400" b="0" u="none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abstract class</a:t>
            </a:r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Base</a:t>
            </a:r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{</a:t>
            </a:r>
            <a:endParaRPr lang="en-US" altLang="zh-CN" sz="1400" b="0" u="none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400" b="0" u="none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protected</a:t>
            </a:r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$key</a:t>
            </a:r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>
                <a:solidFill>
                  <a:srgbClr val="913618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""</a:t>
            </a:r>
            <a:r>
              <a:rPr lang="en-US" altLang="zh-CN" sz="14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;</a:t>
            </a:r>
            <a:endParaRPr lang="en-US" altLang="zh-CN" sz="1400" b="0" u="none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400" b="0" u="none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public static function</a:t>
            </a:r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getValue</a:t>
            </a:r>
            <a:r>
              <a:rPr lang="en-US" altLang="zh-CN" sz="14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()</a:t>
            </a:r>
            <a:endParaRPr lang="en-US" altLang="zh-CN" sz="1400" b="0" u="none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4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{</a:t>
            </a:r>
            <a:endParaRPr lang="en-US" altLang="zh-CN" sz="1400" b="0" u="none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zh-CN" sz="14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$redis</a:t>
            </a:r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new</a:t>
            </a:r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\</a:t>
            </a:r>
            <a:r>
              <a:rPr lang="en-US" altLang="zh-CN" sz="14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Redis</a:t>
            </a:r>
            <a:r>
              <a:rPr lang="en-US" altLang="zh-CN" sz="14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(...);</a:t>
            </a:r>
            <a:endParaRPr lang="en-US" altLang="zh-CN" sz="1400" b="0" u="none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zh-CN" sz="1400" b="0" u="none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return</a:t>
            </a:r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$redis-&gt;get</a:t>
            </a:r>
            <a:r>
              <a:rPr lang="en-US" altLang="zh-CN" sz="14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zh-CN" sz="14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$this-&gt;$key</a:t>
            </a:r>
            <a:r>
              <a:rPr lang="en-US" altLang="zh-CN" sz="14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);</a:t>
            </a:r>
            <a:endParaRPr lang="en-US" altLang="zh-CN" sz="1400" b="0" u="none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4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}</a:t>
            </a:r>
            <a:endParaRPr lang="en-US" altLang="zh-CN" sz="1400" b="0" u="none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}</a:t>
            </a:r>
            <a:endParaRPr lang="en-US" altLang="zh-CN" sz="1400" b="0" u="none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endParaRPr lang="en-US" altLang="zh-CN" sz="1400" b="0" u="none">
              <a:solidFill>
                <a:srgbClr val="5D1DA7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A</a:t>
            </a:r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extends</a:t>
            </a:r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Base</a:t>
            </a:r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{</a:t>
            </a:r>
            <a:endParaRPr lang="en-US" altLang="zh-CN" sz="1400" b="0" u="none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400" b="0" u="none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protected</a:t>
            </a:r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$key</a:t>
            </a:r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>
                <a:solidFill>
                  <a:srgbClr val="913618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"key_A"</a:t>
            </a:r>
            <a:r>
              <a:rPr lang="en-US" altLang="zh-CN" sz="14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;</a:t>
            </a:r>
            <a:endParaRPr lang="en-US" altLang="zh-CN" sz="1400" b="0" u="none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}</a:t>
            </a:r>
            <a:endParaRPr lang="en-US" altLang="zh-CN" sz="1400" b="0" u="none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endParaRPr lang="en-US" altLang="zh-CN" sz="1400" b="0" u="none">
              <a:solidFill>
                <a:srgbClr val="5D1DA7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B</a:t>
            </a:r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extends</a:t>
            </a:r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Base</a:t>
            </a:r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{</a:t>
            </a:r>
            <a:endParaRPr lang="en-US" altLang="zh-CN" sz="1400" b="0" u="none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400" b="0" u="none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protected</a:t>
            </a:r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$key</a:t>
            </a:r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>
                <a:solidFill>
                  <a:srgbClr val="913618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"key_B"</a:t>
            </a:r>
            <a:r>
              <a:rPr lang="en-US" altLang="zh-CN" sz="14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;</a:t>
            </a:r>
            <a:endParaRPr lang="en-US" altLang="zh-CN" sz="1400" b="0" u="none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}</a:t>
            </a:r>
            <a:endParaRPr lang="en-US" altLang="zh-CN" sz="1400" b="0" u="none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endParaRPr lang="en-US" altLang="zh-CN" sz="1400" b="0" u="none">
              <a:solidFill>
                <a:srgbClr val="5D1DA7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while</a:t>
            </a:r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zh-CN" sz="1400" b="0" u="none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true</a:t>
            </a:r>
            <a:r>
              <a:rPr lang="en-US" altLang="zh-CN" sz="14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) {</a:t>
            </a:r>
            <a:endParaRPr lang="en-US" altLang="zh-CN" sz="1400" b="0" u="none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4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var_dump</a:t>
            </a:r>
            <a:r>
              <a:rPr lang="en-US" altLang="zh-CN" sz="14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(A::</a:t>
            </a:r>
            <a:r>
              <a:rPr lang="en-US" altLang="zh-CN" sz="14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getValue</a:t>
            </a:r>
            <a:r>
              <a:rPr lang="en-US" altLang="zh-CN" sz="14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());</a:t>
            </a:r>
            <a:endParaRPr lang="en-US" altLang="zh-CN" sz="1400" b="0" u="none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4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var_dump</a:t>
            </a:r>
            <a:r>
              <a:rPr lang="en-US" altLang="zh-CN" sz="14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(B::</a:t>
            </a:r>
            <a:r>
              <a:rPr lang="en-US" altLang="zh-CN" sz="14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getValue</a:t>
            </a:r>
            <a:r>
              <a:rPr lang="en-US" altLang="zh-CN" sz="14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());</a:t>
            </a:r>
            <a:endParaRPr lang="en-US" altLang="zh-CN" sz="1400" b="0" u="none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4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sleep</a:t>
            </a:r>
            <a:r>
              <a:rPr lang="en-US" altLang="zh-CN" sz="14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zh-CN" sz="14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1</a:t>
            </a:r>
            <a:r>
              <a:rPr lang="en-US" altLang="zh-CN" sz="14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);</a:t>
            </a:r>
            <a:endParaRPr lang="en-US" altLang="zh-CN" sz="1400" b="0" u="none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}</a:t>
            </a:r>
            <a:endParaRPr lang="en-US" altLang="zh-CN" sz="1400" b="0" u="none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485005" y="2032000"/>
            <a:ext cx="2808605" cy="360045"/>
          </a:xfrm>
          <a:prstGeom prst="rect">
            <a:avLst/>
          </a:prstGeom>
          <a:noFill/>
          <a:ln w="19050">
            <a:solidFill>
              <a:schemeClr val="accent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9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10895" y="370205"/>
            <a:ext cx="5080000" cy="64922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marL="0" indent="0" algn="l"/>
            <a:r>
              <a:rPr lang="en-US" altLang="zh-CN" sz="1400" b="0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RedisUtil</a:t>
            </a:r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{</a:t>
            </a:r>
            <a:endParaRPr lang="en-US" altLang="zh-CN" sz="1400" b="0" u="none" dirty="0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400" b="0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protected</a:t>
            </a:r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</a:t>
            </a:r>
            <a:r>
              <a:rPr lang="en-US" altLang="zh-CN" sz="1400" b="0" u="none" dirty="0" err="1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redis</a:t>
            </a:r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null</a:t>
            </a:r>
            <a:r>
              <a:rPr lang="en-US" altLang="zh-CN" sz="14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;</a:t>
            </a:r>
            <a:endParaRPr lang="en-US" altLang="zh-CN" sz="1400" b="0" u="none" dirty="0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400" b="0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protected static</a:t>
            </a:r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$instance</a:t>
            </a:r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null</a:t>
            </a:r>
            <a:r>
              <a:rPr lang="en-US" altLang="zh-CN" sz="14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;</a:t>
            </a:r>
            <a:endParaRPr lang="en-US" altLang="zh-CN" sz="1400" b="0" u="none" dirty="0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endParaRPr lang="en-US" altLang="zh-CN" sz="1400" b="0" u="none" dirty="0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400" b="1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private function</a:t>
            </a:r>
            <a:r>
              <a:rPr lang="en-US" altLang="zh-CN" sz="1400" b="1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1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__construct</a:t>
            </a:r>
            <a:r>
              <a:rPr lang="en-US" altLang="zh-CN" sz="1400" b="1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() {}</a:t>
            </a:r>
            <a:endParaRPr lang="en-US" altLang="zh-CN" sz="1400" b="1" u="none" dirty="0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1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400" b="1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private function</a:t>
            </a:r>
            <a:r>
              <a:rPr lang="en-US" altLang="zh-CN" sz="1400" b="1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1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__clone</a:t>
            </a:r>
            <a:r>
              <a:rPr lang="en-US" altLang="zh-CN" sz="1400" b="1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() {}</a:t>
            </a:r>
            <a:endParaRPr lang="en-US" altLang="zh-CN" sz="1400" b="1" u="none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1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private</a:t>
            </a:r>
            <a:r>
              <a:rPr lang="en-US" altLang="zh-CN" sz="1400" b="1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1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function</a:t>
            </a:r>
            <a:r>
              <a:rPr lang="en-US" altLang="zh-CN" sz="1400" b="1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1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__sleep</a:t>
            </a:r>
            <a:r>
              <a:rPr lang="en-US" altLang="zh-CN" sz="1400" b="1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() {}</a:t>
            </a:r>
            <a:endParaRPr lang="en-US" altLang="zh-CN" sz="1400" b="1" u="none" dirty="0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1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400" b="1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private  function</a:t>
            </a:r>
            <a:r>
              <a:rPr lang="en-US" altLang="zh-CN" sz="1400" b="1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1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__wakeup</a:t>
            </a:r>
            <a:r>
              <a:rPr lang="en-US" altLang="zh-CN" sz="1400" b="1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() {}</a:t>
            </a:r>
            <a:r>
              <a:rPr lang="en-US" altLang="zh-CN" sz="1400" b="1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1" u="none" dirty="0">
                <a:solidFill>
                  <a:srgbClr val="969896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// </a:t>
            </a:r>
            <a:r>
              <a:rPr lang="zh-CN" altLang="en-US" sz="1400" b="1" u="none" dirty="0">
                <a:solidFill>
                  <a:srgbClr val="969896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思考一下为什么要加这个处理</a:t>
            </a:r>
            <a:endParaRPr lang="zh-CN" altLang="en-US" sz="1400" b="1" u="none" dirty="0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zh-CN" altLang="en-US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400" b="1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public static function</a:t>
            </a:r>
            <a:r>
              <a:rPr lang="en-US" altLang="zh-CN" sz="1400" b="1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1" u="none" dirty="0" err="1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getInstance</a:t>
            </a:r>
            <a:r>
              <a:rPr lang="en-US" altLang="zh-CN" sz="1400" b="1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()</a:t>
            </a:r>
            <a:endParaRPr lang="en-US" altLang="zh-CN" sz="1400" b="1" u="none" dirty="0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1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400" b="1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{</a:t>
            </a:r>
            <a:endParaRPr lang="en-US" altLang="zh-CN" sz="1400" b="1" u="none" dirty="0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1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zh-CN" sz="1400" b="1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if</a:t>
            </a:r>
            <a:r>
              <a:rPr lang="en-US" altLang="zh-CN" sz="1400" b="1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1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(!self::</a:t>
            </a:r>
            <a:r>
              <a:rPr lang="en-US" altLang="zh-CN" sz="1400" b="1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$instance</a:t>
            </a:r>
            <a:r>
              <a:rPr lang="en-US" altLang="zh-CN" sz="1400" b="1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1" u="none" dirty="0" err="1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instanceof</a:t>
            </a:r>
            <a:r>
              <a:rPr lang="en-US" altLang="zh-CN" sz="1400" b="1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1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self) {</a:t>
            </a:r>
            <a:endParaRPr lang="en-US" altLang="zh-CN" sz="1400" b="1" u="none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1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        self::</a:t>
            </a:r>
            <a:r>
              <a:rPr lang="en-US" altLang="zh-CN" sz="1400" b="1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$instance</a:t>
            </a:r>
            <a:r>
              <a:rPr lang="en-US" altLang="zh-CN" sz="1400" b="1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1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zh-CN" sz="1400" b="1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1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new</a:t>
            </a:r>
            <a:r>
              <a:rPr lang="en-US" altLang="zh-CN" sz="1400" b="1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1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zh-CN" sz="1400" b="1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();</a:t>
            </a:r>
            <a:endParaRPr lang="en-US" altLang="zh-CN" sz="1400" b="1" u="none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1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        self::</a:t>
            </a:r>
            <a:r>
              <a:rPr lang="en-US" altLang="zh-CN" sz="1400" b="1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$instance-&gt;connect</a:t>
            </a:r>
            <a:r>
              <a:rPr lang="en-US" altLang="zh-CN" sz="1400" b="1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();</a:t>
            </a:r>
            <a:endParaRPr lang="en-US" altLang="zh-CN" sz="1400" b="1" u="none" dirty="0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1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zh-CN" sz="1400" b="1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}</a:t>
            </a:r>
            <a:endParaRPr lang="en-US" altLang="zh-CN" sz="1400" b="1" u="none" dirty="0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1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zh-CN" sz="1400" b="1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return</a:t>
            </a:r>
            <a:r>
              <a:rPr lang="en-US" altLang="zh-CN" sz="1400" b="1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1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self::</a:t>
            </a:r>
            <a:r>
              <a:rPr lang="en-US" altLang="zh-CN" sz="1400" b="1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$instance</a:t>
            </a:r>
            <a:r>
              <a:rPr lang="en-US" altLang="zh-CN" sz="1400" b="1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;</a:t>
            </a:r>
            <a:endParaRPr lang="en-US" altLang="zh-CN" sz="1400" b="1" u="none" dirty="0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1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400" b="1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}</a:t>
            </a:r>
            <a:endParaRPr lang="en-US" altLang="zh-CN" sz="1400" b="1" u="none" dirty="0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endParaRPr lang="en-US" altLang="zh-CN" sz="1400" b="0" u="none" dirty="0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400" b="0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public function</a:t>
            </a:r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 dirty="0" err="1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getRedis</a:t>
            </a:r>
            <a:r>
              <a:rPr lang="en-US" altLang="zh-CN" sz="14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()</a:t>
            </a:r>
            <a:endParaRPr lang="en-US" altLang="zh-CN" sz="1400" b="0" u="none" dirty="0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4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{</a:t>
            </a:r>
            <a:endParaRPr lang="en-US" altLang="zh-CN" sz="1400" b="0" u="none" dirty="0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zh-CN" sz="1400" b="0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return</a:t>
            </a:r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$this-&gt;</a:t>
            </a:r>
            <a:r>
              <a:rPr lang="en-US" altLang="zh-CN" sz="1400" b="0" u="none" dirty="0" err="1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redis</a:t>
            </a:r>
            <a:r>
              <a:rPr lang="en-US" altLang="zh-CN" sz="14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;</a:t>
            </a:r>
            <a:endParaRPr lang="en-US" altLang="zh-CN" sz="1400" b="0" u="none" dirty="0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4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}</a:t>
            </a:r>
            <a:endParaRPr lang="en-US" altLang="zh-CN" sz="1400" b="0" u="none" dirty="0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endParaRPr lang="en-US" altLang="zh-CN" sz="1400" b="0" u="none" dirty="0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400" b="0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protected function</a:t>
            </a:r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connect</a:t>
            </a:r>
            <a:r>
              <a:rPr lang="en-US" altLang="zh-CN" sz="14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()</a:t>
            </a:r>
            <a:endParaRPr lang="en-US" altLang="zh-CN" sz="1400" b="0" u="none" dirty="0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4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{</a:t>
            </a:r>
            <a:endParaRPr lang="en-US" altLang="zh-CN" sz="1400" b="0" u="none" dirty="0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zh-CN" sz="1400" b="0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$this-&gt;</a:t>
            </a:r>
            <a:r>
              <a:rPr lang="en-US" altLang="zh-CN" sz="1400" b="0" u="none" dirty="0" err="1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redis</a:t>
            </a:r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new</a:t>
            </a:r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\</a:t>
            </a:r>
            <a:r>
              <a:rPr lang="en-US" altLang="zh-CN" sz="1400" b="0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Redis</a:t>
            </a:r>
            <a:r>
              <a:rPr lang="en-US" altLang="zh-CN" sz="14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(...);</a:t>
            </a:r>
            <a:endParaRPr lang="en-US" altLang="zh-CN" sz="1400" b="0" u="none" dirty="0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zh-CN" sz="1400" b="0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$this-&gt;</a:t>
            </a:r>
            <a:r>
              <a:rPr lang="en-US" altLang="zh-CN" sz="1400" b="0" u="none" dirty="0" err="1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redis</a:t>
            </a:r>
            <a:r>
              <a:rPr lang="en-US" altLang="zh-CN" sz="1400" b="0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-&gt;connect</a:t>
            </a:r>
            <a:r>
              <a:rPr lang="en-US" altLang="zh-CN" sz="14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();</a:t>
            </a:r>
            <a:endParaRPr lang="en-US" altLang="zh-CN" sz="1400" b="0" u="none" dirty="0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zh-CN" sz="1400" b="0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return</a:t>
            </a:r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$this-&gt;</a:t>
            </a:r>
            <a:r>
              <a:rPr lang="en-US" altLang="zh-CN" sz="1400" b="0" u="none" dirty="0" err="1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redis</a:t>
            </a:r>
            <a:r>
              <a:rPr lang="en-US" altLang="zh-CN" sz="14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;</a:t>
            </a:r>
            <a:endParaRPr lang="en-US" altLang="zh-CN" sz="1400" b="0" u="none" dirty="0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4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}</a:t>
            </a:r>
            <a:endParaRPr lang="en-US" altLang="zh-CN" sz="1400" b="0" u="none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}</a:t>
            </a:r>
            <a:endParaRPr lang="zh-CN" altLang="en-US" sz="1400" dirty="0"/>
          </a:p>
        </p:txBody>
      </p:sp>
      <p:sp>
        <p:nvSpPr>
          <p:cNvPr id="3" name="文本框 2"/>
          <p:cNvSpPr txBox="1"/>
          <p:nvPr/>
        </p:nvSpPr>
        <p:spPr>
          <a:xfrm>
            <a:off x="6235700" y="734695"/>
            <a:ext cx="5979795" cy="472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indent="0" algn="l"/>
            <a:r>
              <a:rPr lang="en-US" altLang="zh-CN" sz="1200" b="0" u="none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abstract class</a:t>
            </a:r>
            <a:r>
              <a:rPr lang="en-US" altLang="zh-CN" sz="12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2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Base</a:t>
            </a:r>
            <a:r>
              <a:rPr lang="en-US" altLang="zh-CN" sz="12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2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{</a:t>
            </a:r>
            <a:endParaRPr lang="en-US" altLang="zh-CN" sz="1200" b="0" u="none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2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200" b="0" u="none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protected</a:t>
            </a:r>
            <a:r>
              <a:rPr lang="en-US" altLang="zh-CN" sz="12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2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$key</a:t>
            </a:r>
            <a:r>
              <a:rPr lang="en-US" altLang="zh-CN" sz="12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2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zh-CN" sz="12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200" b="0" u="none">
                <a:solidFill>
                  <a:srgbClr val="913618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""</a:t>
            </a:r>
            <a:r>
              <a:rPr lang="en-US" altLang="zh-CN" sz="12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;</a:t>
            </a:r>
            <a:endParaRPr lang="en-US" altLang="zh-CN" sz="1200" b="0" u="none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400" b="0" u="none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public static function</a:t>
            </a:r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getValue</a:t>
            </a:r>
            <a:r>
              <a:rPr lang="en-US" altLang="zh-CN" sz="14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()</a:t>
            </a:r>
            <a:endParaRPr lang="en-US" altLang="zh-CN" sz="1400" b="0" u="none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4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{</a:t>
            </a:r>
            <a:endParaRPr lang="en-US" altLang="zh-CN" sz="1400" b="0" u="none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zh-CN" sz="14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$redis</a:t>
            </a:r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RedisUtil::</a:t>
            </a:r>
            <a:r>
              <a:rPr lang="en-US" altLang="zh-CN" sz="14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getInstance</a:t>
            </a:r>
            <a:r>
              <a:rPr lang="en-US" altLang="zh-CN" sz="14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()-&gt;</a:t>
            </a:r>
            <a:r>
              <a:rPr lang="en-US" altLang="zh-CN" sz="14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getRedis</a:t>
            </a:r>
            <a:r>
              <a:rPr lang="en-US" altLang="zh-CN" sz="14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();</a:t>
            </a:r>
            <a:endParaRPr lang="en-US" altLang="zh-CN" sz="1400" b="0" u="none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zh-CN" sz="1400" b="0" u="none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return</a:t>
            </a:r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$redis-&gt;get</a:t>
            </a:r>
            <a:r>
              <a:rPr lang="en-US" altLang="zh-CN" sz="14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zh-CN" sz="14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$this-&gt;$key</a:t>
            </a:r>
            <a:r>
              <a:rPr lang="en-US" altLang="zh-CN" sz="14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);</a:t>
            </a:r>
            <a:endParaRPr lang="en-US" altLang="zh-CN" sz="1400" b="0" u="none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4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}</a:t>
            </a:r>
            <a:endParaRPr lang="en-US" altLang="zh-CN" sz="1400" b="0" u="none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}</a:t>
            </a:r>
            <a:endParaRPr lang="en-US" altLang="zh-CN" sz="1400" b="0" u="none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endParaRPr lang="en-US" altLang="zh-CN" sz="1400" b="0" u="none">
              <a:solidFill>
                <a:srgbClr val="5D1DA7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A</a:t>
            </a:r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extends</a:t>
            </a:r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Base</a:t>
            </a:r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{</a:t>
            </a:r>
            <a:endParaRPr lang="en-US" altLang="zh-CN" sz="1400" b="0" u="none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400" b="0" u="none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protected</a:t>
            </a:r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$key</a:t>
            </a:r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>
                <a:solidFill>
                  <a:srgbClr val="913618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"key_A"</a:t>
            </a:r>
            <a:r>
              <a:rPr lang="en-US" altLang="zh-CN" sz="14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;</a:t>
            </a:r>
            <a:endParaRPr lang="en-US" altLang="zh-CN" sz="1400" b="0" u="none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}</a:t>
            </a:r>
            <a:endParaRPr lang="en-US" altLang="zh-CN" sz="1400" b="0" u="none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endParaRPr lang="en-US" altLang="zh-CN" sz="1400" b="0" u="none">
              <a:solidFill>
                <a:srgbClr val="5D1DA7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B</a:t>
            </a:r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extends</a:t>
            </a:r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Base</a:t>
            </a:r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{</a:t>
            </a:r>
            <a:endParaRPr lang="en-US" altLang="zh-CN" sz="1400" b="0" u="none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400" b="0" u="none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protected</a:t>
            </a:r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$key</a:t>
            </a:r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>
                <a:solidFill>
                  <a:srgbClr val="913618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"key_B"</a:t>
            </a:r>
            <a:r>
              <a:rPr lang="en-US" altLang="zh-CN" sz="14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;</a:t>
            </a:r>
            <a:endParaRPr lang="en-US" altLang="zh-CN" sz="1400" b="0" u="none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}</a:t>
            </a:r>
            <a:endParaRPr lang="en-US" altLang="zh-CN" sz="1400" b="0" u="none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endParaRPr lang="en-US" altLang="zh-CN" sz="1400" b="0" u="none">
              <a:solidFill>
                <a:srgbClr val="5D1DA7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while</a:t>
            </a:r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zh-CN" sz="1400" b="0" u="none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true</a:t>
            </a:r>
            <a:r>
              <a:rPr lang="en-US" altLang="zh-CN" sz="14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) {</a:t>
            </a:r>
            <a:endParaRPr lang="en-US" altLang="zh-CN" sz="1400" b="0" u="none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4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var_dump</a:t>
            </a:r>
            <a:r>
              <a:rPr lang="en-US" altLang="zh-CN" sz="14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(A::</a:t>
            </a:r>
            <a:r>
              <a:rPr lang="en-US" altLang="zh-CN" sz="14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getValue</a:t>
            </a:r>
            <a:r>
              <a:rPr lang="en-US" altLang="zh-CN" sz="14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());</a:t>
            </a:r>
            <a:endParaRPr lang="en-US" altLang="zh-CN" sz="1400" b="0" u="none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4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var_dump</a:t>
            </a:r>
            <a:r>
              <a:rPr lang="en-US" altLang="zh-CN" sz="14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(B::</a:t>
            </a:r>
            <a:r>
              <a:rPr lang="en-US" altLang="zh-CN" sz="14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getValue</a:t>
            </a:r>
            <a:r>
              <a:rPr lang="en-US" altLang="zh-CN" sz="14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());</a:t>
            </a:r>
            <a:endParaRPr lang="en-US" altLang="zh-CN" sz="1400" b="0" u="none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4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sleep</a:t>
            </a:r>
            <a:r>
              <a:rPr lang="en-US" altLang="zh-CN" sz="14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zh-CN" sz="14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1</a:t>
            </a:r>
            <a:r>
              <a:rPr lang="en-US" altLang="zh-CN" sz="14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);</a:t>
            </a:r>
            <a:endParaRPr lang="en-US" altLang="zh-CN" sz="1400" b="0" u="none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}</a:t>
            </a:r>
            <a:endParaRPr lang="zh-CN" altLang="en-US" sz="1400"/>
          </a:p>
        </p:txBody>
      </p:sp>
      <p:sp>
        <p:nvSpPr>
          <p:cNvPr id="4" name="矩形 3"/>
          <p:cNvSpPr/>
          <p:nvPr/>
        </p:nvSpPr>
        <p:spPr>
          <a:xfrm>
            <a:off x="1240155" y="2349500"/>
            <a:ext cx="4392295" cy="1800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235700" y="5534660"/>
            <a:ext cx="5578475" cy="11887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只能有一个实例；</a:t>
            </a: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必须自己创建自己的唯一实例，构造方法、克隆等方法不能被外部访问；</a:t>
            </a: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必须给所有其他对象提供访问这一实例的方法；</a:t>
            </a: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9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8"/>
          <p:cNvSpPr txBox="1"/>
          <p:nvPr/>
        </p:nvSpPr>
        <p:spPr>
          <a:xfrm>
            <a:off x="4454798" y="218805"/>
            <a:ext cx="3949155" cy="52197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单例模式</a:t>
            </a:r>
            <a:endParaRPr lang="zh-CN" altLang="en-US" sz="3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1" name="TextBox 8"/>
          <p:cNvSpPr txBox="1"/>
          <p:nvPr/>
        </p:nvSpPr>
        <p:spPr>
          <a:xfrm>
            <a:off x="5025514" y="737266"/>
            <a:ext cx="2876303" cy="22796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SINGLETON PATTERN</a:t>
            </a:r>
            <a:endParaRPr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886327" y="591989"/>
            <a:ext cx="11086097" cy="0"/>
            <a:chOff x="1028775" y="591989"/>
            <a:chExt cx="11086097" cy="0"/>
          </a:xfrm>
        </p:grpSpPr>
        <p:cxnSp>
          <p:nvCxnSpPr>
            <p:cNvPr id="33" name="直接连接符 32"/>
            <p:cNvCxnSpPr/>
            <p:nvPr/>
          </p:nvCxnSpPr>
          <p:spPr>
            <a:xfrm>
              <a:off x="10287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>
              <a:off x="86106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文本框 5"/>
          <p:cNvSpPr txBox="1"/>
          <p:nvPr/>
        </p:nvSpPr>
        <p:spPr>
          <a:xfrm>
            <a:off x="4454525" y="2428875"/>
            <a:ext cx="6290310" cy="35966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indent="0" algn="l"/>
            <a:r>
              <a:rPr lang="en-US" altLang="zh-CN" sz="18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&lt;?php</a:t>
            </a:r>
            <a:endParaRPr lang="en-US" altLang="zh-CN" sz="1800" b="0" u="none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6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$pdo</a:t>
            </a:r>
            <a:r>
              <a:rPr lang="en-US" altLang="zh-CN" sz="16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6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zh-CN" sz="16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600" b="0" u="none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new</a:t>
            </a:r>
            <a:r>
              <a:rPr lang="en-US" altLang="zh-CN" sz="16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6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\</a:t>
            </a:r>
            <a:r>
              <a:rPr lang="en-US" altLang="zh-CN" sz="16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PDO</a:t>
            </a:r>
            <a:r>
              <a:rPr lang="en-US" altLang="zh-CN" sz="18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(...);</a:t>
            </a:r>
            <a:endParaRPr lang="en-US" altLang="zh-CN" sz="1800" b="0" u="none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600" b="0" u="none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function</a:t>
            </a:r>
            <a:r>
              <a:rPr lang="en-US" altLang="zh-CN" sz="16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6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query</a:t>
            </a:r>
            <a:r>
              <a:rPr lang="en-US" altLang="zh-CN" sz="16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zh-CN" sz="16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$date</a:t>
            </a:r>
            <a:r>
              <a:rPr lang="en-US" altLang="zh-CN" sz="18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) {</a:t>
            </a:r>
            <a:endParaRPr lang="en-US" altLang="zh-CN" sz="1800" b="0" u="none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6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600" b="0" u="none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global</a:t>
            </a:r>
            <a:r>
              <a:rPr lang="en-US" altLang="zh-CN" sz="16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6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$pdo</a:t>
            </a:r>
            <a:r>
              <a:rPr lang="en-US" altLang="zh-CN" sz="18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;</a:t>
            </a:r>
            <a:endParaRPr lang="en-US" altLang="zh-CN" sz="1800" b="0" u="none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6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6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$sql</a:t>
            </a:r>
            <a:r>
              <a:rPr lang="en-US" altLang="zh-CN" sz="16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6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zh-CN" sz="16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600" b="0" u="none">
                <a:solidFill>
                  <a:srgbClr val="913618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"SELECT * FROM `test` WHERE `date` = :date;"</a:t>
            </a:r>
            <a:r>
              <a:rPr lang="en-US" altLang="zh-CN" sz="18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;</a:t>
            </a:r>
            <a:endParaRPr lang="en-US" altLang="zh-CN" sz="1800" b="0" u="none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6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6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$stmt-&gt;bindValue</a:t>
            </a:r>
            <a:r>
              <a:rPr lang="en-US" altLang="zh-CN" sz="16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zh-CN" sz="1600" b="0" u="none">
                <a:solidFill>
                  <a:srgbClr val="913618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":date"</a:t>
            </a:r>
            <a:r>
              <a:rPr lang="en-US" altLang="zh-CN" sz="16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,</a:t>
            </a:r>
            <a:r>
              <a:rPr lang="en-US" altLang="zh-CN" sz="16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6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$date</a:t>
            </a:r>
            <a:r>
              <a:rPr lang="en-US" altLang="zh-CN" sz="18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);</a:t>
            </a:r>
            <a:endParaRPr lang="en-US" altLang="zh-CN" sz="1800" b="0" u="none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6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6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$stmt-&gt;exec</a:t>
            </a:r>
            <a:r>
              <a:rPr lang="en-US" altLang="zh-CN" sz="18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();</a:t>
            </a:r>
            <a:endParaRPr lang="en-US" altLang="zh-CN" sz="1800" b="0" u="none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6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600" b="0" u="none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return</a:t>
            </a:r>
            <a:r>
              <a:rPr lang="en-US" altLang="zh-CN" sz="16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6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$stmt-&gt;fetchAll</a:t>
            </a:r>
            <a:r>
              <a:rPr lang="en-US" altLang="zh-CN" sz="18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(\PDO::FETCH_ASSOC);</a:t>
            </a:r>
            <a:endParaRPr lang="en-US" altLang="zh-CN" sz="1800" b="0" u="none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8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}</a:t>
            </a:r>
            <a:endParaRPr lang="en-US" altLang="zh-CN" sz="1800" b="0" u="none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6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$data1</a:t>
            </a:r>
            <a:r>
              <a:rPr lang="en-US" altLang="zh-CN" sz="16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6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zh-CN" sz="16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6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query</a:t>
            </a:r>
            <a:r>
              <a:rPr lang="en-US" altLang="zh-CN" sz="16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zh-CN" sz="1600" b="0" u="none">
                <a:solidFill>
                  <a:srgbClr val="913618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"20190915"</a:t>
            </a:r>
            <a:r>
              <a:rPr lang="en-US" altLang="zh-CN" sz="18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);</a:t>
            </a:r>
            <a:endParaRPr lang="en-US" altLang="zh-CN" sz="1800" b="0" u="none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6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$data2</a:t>
            </a:r>
            <a:r>
              <a:rPr lang="en-US" altLang="zh-CN" sz="16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6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zh-CN" sz="16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6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query</a:t>
            </a:r>
            <a:r>
              <a:rPr lang="en-US" altLang="zh-CN" sz="16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zh-CN" sz="1600" b="0" u="none">
                <a:solidFill>
                  <a:srgbClr val="913618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"20190916"</a:t>
            </a:r>
            <a:r>
              <a:rPr lang="en-US" altLang="zh-CN" sz="18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);</a:t>
            </a:r>
            <a:endParaRPr lang="en-US" altLang="zh-CN" sz="1800" b="0" u="none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6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$data3</a:t>
            </a:r>
            <a:r>
              <a:rPr lang="en-US" altLang="zh-CN" sz="16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6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zh-CN" sz="16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600" b="0" u="none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query</a:t>
            </a:r>
            <a:r>
              <a:rPr lang="en-US" altLang="zh-CN" sz="16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zh-CN" sz="1600" b="0" u="none">
                <a:solidFill>
                  <a:srgbClr val="913618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"20190917"</a:t>
            </a:r>
            <a:r>
              <a:rPr lang="en-US" altLang="zh-CN" sz="16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);</a:t>
            </a:r>
            <a:endParaRPr lang="en-US" altLang="zh-CN" sz="1600" b="0" u="none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797425" y="3220720"/>
            <a:ext cx="2292350" cy="397510"/>
          </a:xfrm>
          <a:prstGeom prst="rect">
            <a:avLst/>
          </a:prstGeom>
          <a:noFill/>
          <a:ln w="28575"/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969645" y="1070610"/>
            <a:ext cx="5467985" cy="944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>
                <a:latin typeface="黑体" panose="02010609060101010101" charset="-122"/>
                <a:ea typeface="黑体" panose="02010609060101010101" charset="-122"/>
              </a:rPr>
              <a:t>POP</a:t>
            </a:r>
            <a:r>
              <a:rPr lang="zh-CN" altLang="en-US" sz="2800">
                <a:latin typeface="黑体" panose="02010609060101010101" charset="-122"/>
                <a:ea typeface="黑体" panose="02010609060101010101" charset="-122"/>
              </a:rPr>
              <a:t>中也用到单例。</a:t>
            </a:r>
            <a:endParaRPr lang="zh-CN" altLang="en-US" sz="2800"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zh-CN" altLang="en-US" sz="2800">
                <a:latin typeface="黑体" panose="02010609060101010101" charset="-122"/>
                <a:ea typeface="黑体" panose="02010609060101010101" charset="-122"/>
              </a:rPr>
              <a:t>没有面向对象特性的支撑很脆弱。</a:t>
            </a:r>
            <a:endParaRPr lang="zh-CN" altLang="en-US" sz="2800"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9">
        <p:fade/>
      </p:transition>
    </mc:Choice>
    <mc:Fallback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8"/>
          <p:cNvSpPr txBox="1"/>
          <p:nvPr/>
        </p:nvSpPr>
        <p:spPr>
          <a:xfrm>
            <a:off x="4454798" y="218805"/>
            <a:ext cx="3949155" cy="52197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单例模式</a:t>
            </a:r>
            <a:endParaRPr lang="zh-CN" altLang="en-US" sz="3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1" name="TextBox 8"/>
          <p:cNvSpPr txBox="1"/>
          <p:nvPr/>
        </p:nvSpPr>
        <p:spPr>
          <a:xfrm>
            <a:off x="5025514" y="737266"/>
            <a:ext cx="2876303" cy="22796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SINGLETON PATTERN</a:t>
            </a:r>
            <a:endParaRPr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886327" y="591989"/>
            <a:ext cx="11086097" cy="0"/>
            <a:chOff x="1028775" y="591989"/>
            <a:chExt cx="11086097" cy="0"/>
          </a:xfrm>
        </p:grpSpPr>
        <p:cxnSp>
          <p:nvCxnSpPr>
            <p:cNvPr id="33" name="直接连接符 32"/>
            <p:cNvCxnSpPr/>
            <p:nvPr/>
          </p:nvCxnSpPr>
          <p:spPr>
            <a:xfrm>
              <a:off x="10287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>
              <a:off x="86106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0" name="文本框 99"/>
          <p:cNvSpPr txBox="1"/>
          <p:nvPr/>
        </p:nvSpPr>
        <p:spPr>
          <a:xfrm>
            <a:off x="7590790" y="1158240"/>
            <a:ext cx="4138295" cy="56997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indent="0" algn="l"/>
            <a:r>
              <a:rPr lang="en-US" altLang="zh-CN" sz="1400" b="0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// </a:t>
            </a:r>
            <a:r>
              <a:rPr lang="zh-CN" altLang="en-US" sz="1400" b="0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饿汉式</a:t>
            </a:r>
            <a:endParaRPr lang="zh-CN" altLang="en-US" sz="1400" b="0" u="none" dirty="0">
              <a:solidFill>
                <a:srgbClr val="5D1DA7"/>
              </a:solidFill>
              <a:highlight>
                <a:srgbClr val="FFFFFF"/>
              </a:highlight>
              <a:latin typeface="Consolas" panose="020B0609020204030204" charset="0"/>
              <a:ea typeface="宋体" panose="02010600030101010101" pitchFamily="2" charset="-122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RedisUtil</a:t>
            </a:r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6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{</a:t>
            </a:r>
            <a:endParaRPr lang="en-US" altLang="zh-CN" sz="1600" b="0" u="none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400" b="0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protected</a:t>
            </a:r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</a:t>
            </a:r>
            <a:r>
              <a:rPr lang="en-US" altLang="zh-CN" sz="1400" b="0" u="none" dirty="0" err="1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redis</a:t>
            </a:r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null</a:t>
            </a:r>
            <a:r>
              <a:rPr lang="en-US" altLang="zh-CN" sz="16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;</a:t>
            </a:r>
            <a:endParaRPr lang="en-US" altLang="zh-CN" sz="1600" b="0" u="none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400" b="0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protected static</a:t>
            </a:r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$instance</a:t>
            </a:r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null</a:t>
            </a:r>
            <a:r>
              <a:rPr lang="en-US" altLang="zh-CN" sz="16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;</a:t>
            </a:r>
            <a:endParaRPr lang="en-US" altLang="zh-CN" sz="1600" b="0" u="none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</a:t>
            </a:r>
            <a:r>
              <a:rPr lang="en-US" altLang="zh-CN" sz="1400" b="0" u="none" dirty="0">
                <a:solidFill>
                  <a:schemeClr val="tx1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// protected static $instance = new self(); // PHP</a:t>
            </a:r>
            <a:r>
              <a:rPr lang="zh-CN" altLang="en-US" sz="1600" b="0" u="none" dirty="0">
                <a:solidFill>
                  <a:schemeClr val="tx1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不支持这样写！</a:t>
            </a:r>
            <a:endParaRPr lang="zh-CN" altLang="en-US" sz="1600" b="0" u="none" dirty="0">
              <a:solidFill>
                <a:schemeClr val="tx1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zh-CN" altLang="en-US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endParaRPr lang="zh-CN" altLang="en-US" sz="1400" b="0" u="none" dirty="0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zh-CN" altLang="en-US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400" b="0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private function</a:t>
            </a:r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__construct</a:t>
            </a:r>
            <a:r>
              <a:rPr lang="en-US" altLang="zh-CN" sz="16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() {}</a:t>
            </a:r>
            <a:endParaRPr lang="en-US" altLang="zh-CN" sz="1600" b="0" u="none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400" b="0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private function</a:t>
            </a:r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__clone</a:t>
            </a:r>
            <a:r>
              <a:rPr lang="en-US" altLang="zh-CN" sz="14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() {}</a:t>
            </a:r>
            <a:endParaRPr lang="en-US" altLang="zh-CN" sz="1400" b="0" u="none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private</a:t>
            </a:r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function</a:t>
            </a:r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__sleep</a:t>
            </a:r>
            <a:r>
              <a:rPr lang="en-US" altLang="zh-CN" sz="16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() {}</a:t>
            </a:r>
            <a:endParaRPr lang="en-US" altLang="zh-CN" sz="1600" b="0" u="none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400" b="0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private  function</a:t>
            </a:r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__wakeup</a:t>
            </a:r>
            <a:r>
              <a:rPr lang="en-US" altLang="zh-CN" sz="16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() {}</a:t>
            </a:r>
            <a:endParaRPr lang="en-US" altLang="zh-CN" sz="1600" b="0" u="none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400" b="0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public static function</a:t>
            </a:r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 dirty="0" err="1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getInstance</a:t>
            </a:r>
            <a:r>
              <a:rPr lang="en-US" altLang="zh-CN" sz="16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()</a:t>
            </a:r>
            <a:endParaRPr lang="en-US" altLang="zh-CN" sz="1600" b="0" u="none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6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{</a:t>
            </a:r>
            <a:endParaRPr lang="en-US" altLang="zh-CN" sz="1600" b="0" u="none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zh-CN" sz="1400" b="0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if</a:t>
            </a:r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(!self::</a:t>
            </a:r>
            <a:r>
              <a:rPr lang="en-US" altLang="zh-CN" sz="1400" b="0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$instance</a:t>
            </a:r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 dirty="0" err="1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instanceof</a:t>
            </a:r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self) {</a:t>
            </a:r>
            <a:endParaRPr lang="en-US" altLang="zh-CN" sz="1400" b="0" u="none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        self::</a:t>
            </a:r>
            <a:r>
              <a:rPr lang="en-US" altLang="zh-CN" sz="1400" b="0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$instance</a:t>
            </a:r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new</a:t>
            </a:r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zh-CN" sz="14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();</a:t>
            </a:r>
            <a:endParaRPr lang="en-US" altLang="zh-CN" sz="1400" b="0" u="none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        self::</a:t>
            </a:r>
            <a:r>
              <a:rPr lang="en-US" altLang="zh-CN" sz="1400" b="0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$instance-&gt;connect</a:t>
            </a:r>
            <a:r>
              <a:rPr lang="en-US" altLang="zh-CN" sz="16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();</a:t>
            </a:r>
            <a:endParaRPr lang="en-US" altLang="zh-CN" sz="1600" b="0" u="none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zh-CN" sz="16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}</a:t>
            </a:r>
            <a:endParaRPr lang="en-US" altLang="zh-CN" sz="1600" b="0" u="none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zh-CN" sz="1400" b="0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return</a:t>
            </a:r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self::</a:t>
            </a:r>
            <a:r>
              <a:rPr lang="en-US" altLang="zh-CN" sz="1400" b="0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$instance</a:t>
            </a:r>
            <a:r>
              <a:rPr lang="en-US" altLang="zh-CN" sz="16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;</a:t>
            </a:r>
            <a:endParaRPr lang="en-US" altLang="zh-CN" sz="1600" b="0" u="none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6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}</a:t>
            </a:r>
            <a:endParaRPr lang="en-US" altLang="zh-CN" sz="1600" b="0" u="none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</a:t>
            </a:r>
            <a:r>
              <a:rPr lang="en-US" altLang="zh-CN" sz="1600" b="0" u="none" dirty="0">
                <a:solidFill>
                  <a:srgbClr val="969896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/* ... */</a:t>
            </a:r>
            <a:endParaRPr lang="en-US" altLang="zh-CN" sz="1600" b="0" u="none" dirty="0">
              <a:solidFill>
                <a:srgbClr val="969896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6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}</a:t>
            </a:r>
            <a:endParaRPr lang="en-US" altLang="zh-CN" sz="1600" b="0" u="none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 dirty="0">
                <a:solidFill>
                  <a:schemeClr val="tx1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// </a:t>
            </a:r>
            <a:r>
              <a:rPr lang="zh-CN" altLang="en-US" sz="1400" b="0" u="none" dirty="0">
                <a:solidFill>
                  <a:schemeClr val="tx1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在程序的入口，比如</a:t>
            </a:r>
            <a:r>
              <a:rPr lang="en-US" altLang="zh-CN" sz="1600" b="0" u="none" dirty="0" err="1">
                <a:solidFill>
                  <a:schemeClr val="tx1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app.php</a:t>
            </a:r>
            <a:endParaRPr lang="en-US" altLang="zh-CN" sz="1600" b="0" u="none" dirty="0">
              <a:solidFill>
                <a:schemeClr val="tx1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RedisUtil</a:t>
            </a:r>
            <a:r>
              <a:rPr lang="en-US" altLang="zh-CN" sz="14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::</a:t>
            </a:r>
            <a:r>
              <a:rPr lang="en-US" altLang="zh-CN" sz="1400" b="0" u="none" dirty="0" err="1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getInstance</a:t>
            </a:r>
            <a:r>
              <a:rPr lang="en-US" altLang="zh-CN" sz="14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();</a:t>
            </a:r>
            <a:endParaRPr lang="en-US" altLang="zh-CN" sz="1400" b="0" u="none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92480" y="1158240"/>
            <a:ext cx="5219065" cy="47548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indent="0" algn="l"/>
            <a:r>
              <a:rPr lang="en-US" altLang="zh-CN" sz="1400" b="0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// </a:t>
            </a:r>
            <a:r>
              <a:rPr lang="zh-CN" altLang="zh-CN" sz="1400" b="0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懒汉式</a:t>
            </a:r>
            <a:endParaRPr lang="zh-CN" altLang="zh-CN" sz="1400" b="0" u="none" dirty="0">
              <a:solidFill>
                <a:srgbClr val="5D1DA7"/>
              </a:solidFill>
              <a:highlight>
                <a:srgbClr val="FFFFFF"/>
              </a:highlight>
              <a:latin typeface="Consolas" panose="020B0609020204030204" charset="0"/>
              <a:ea typeface="宋体" panose="02010600030101010101" pitchFamily="2" charset="-122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RedisUtil</a:t>
            </a:r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6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{</a:t>
            </a:r>
            <a:endParaRPr lang="en-US" altLang="zh-CN" sz="1600" b="0" u="none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400" b="0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protected</a:t>
            </a:r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</a:t>
            </a:r>
            <a:r>
              <a:rPr lang="en-US" altLang="zh-CN" sz="1400" b="0" u="none" dirty="0" err="1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redis</a:t>
            </a:r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null</a:t>
            </a:r>
            <a:r>
              <a:rPr lang="en-US" altLang="zh-CN" sz="16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;</a:t>
            </a:r>
            <a:endParaRPr lang="en-US" altLang="zh-CN" sz="1600" b="0" u="none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400" b="0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protected static</a:t>
            </a:r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$instance</a:t>
            </a:r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6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= 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null</a:t>
            </a:r>
            <a:r>
              <a:rPr lang="en-US" altLang="zh-CN" sz="16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;</a:t>
            </a:r>
            <a:endParaRPr lang="en-US" altLang="zh-CN" sz="1600" b="0" u="none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endParaRPr lang="en-US" altLang="zh-CN" sz="1400" b="0" u="none" dirty="0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400" b="0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private function</a:t>
            </a:r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__construct</a:t>
            </a:r>
            <a:r>
              <a:rPr lang="en-US" altLang="zh-CN" sz="16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() {}</a:t>
            </a:r>
            <a:endParaRPr lang="en-US" altLang="zh-CN" sz="1600" b="0" u="none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400" b="0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private function</a:t>
            </a:r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__clone</a:t>
            </a:r>
            <a:r>
              <a:rPr lang="en-US" altLang="zh-CN" sz="14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() {}</a:t>
            </a:r>
            <a:endParaRPr lang="en-US" altLang="zh-CN" sz="1400" b="0" u="none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private</a:t>
            </a:r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function</a:t>
            </a:r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__sleep</a:t>
            </a:r>
            <a:r>
              <a:rPr lang="en-US" altLang="zh-CN" sz="16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() {}</a:t>
            </a:r>
            <a:endParaRPr lang="en-US" altLang="zh-CN" sz="1600" b="0" u="none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400" b="0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private  function</a:t>
            </a:r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__wakeup</a:t>
            </a:r>
            <a:r>
              <a:rPr lang="en-US" altLang="zh-CN" sz="16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() {}</a:t>
            </a:r>
            <a:endParaRPr lang="en-US" altLang="zh-CN" sz="1600" b="0" u="none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400" b="0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public static function</a:t>
            </a:r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 dirty="0" err="1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getInstance</a:t>
            </a:r>
            <a:r>
              <a:rPr lang="en-US" altLang="zh-CN" sz="14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zh-CN" sz="16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)</a:t>
            </a:r>
            <a:endParaRPr lang="en-US" altLang="zh-CN" sz="1600" b="0" u="none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6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{</a:t>
            </a:r>
            <a:endParaRPr lang="en-US" altLang="zh-CN" sz="1600" b="0" u="none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zh-CN" sz="1400" b="0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if</a:t>
            </a:r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(!self::</a:t>
            </a:r>
            <a:r>
              <a:rPr lang="en-US" altLang="zh-CN" sz="1400" b="0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$instance</a:t>
            </a:r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 dirty="0" err="1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instanceof</a:t>
            </a:r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self) {</a:t>
            </a:r>
            <a:endParaRPr lang="en-US" altLang="zh-CN" sz="1400" b="0" u="none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        self::</a:t>
            </a:r>
            <a:r>
              <a:rPr lang="en-US" altLang="zh-CN" sz="1400" b="0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$instance</a:t>
            </a:r>
            <a:r>
              <a:rPr lang="en-US" altLang="zh-CN" sz="14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=</a:t>
            </a:r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new</a:t>
            </a:r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zh-CN" sz="14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();</a:t>
            </a:r>
            <a:endParaRPr lang="en-US" altLang="zh-CN" sz="1400" b="0" u="none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        self::</a:t>
            </a:r>
            <a:r>
              <a:rPr lang="en-US" altLang="zh-CN" sz="1400" b="0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$instance-</a:t>
            </a:r>
            <a:r>
              <a:rPr lang="en-US" altLang="zh-CN" sz="14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&gt;</a:t>
            </a:r>
            <a:r>
              <a:rPr lang="en-US" altLang="zh-CN" sz="1400" b="0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connect</a:t>
            </a:r>
            <a:r>
              <a:rPr lang="en-US" altLang="zh-CN" sz="16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();</a:t>
            </a:r>
            <a:endParaRPr lang="en-US" altLang="zh-CN" sz="1600" b="0" u="none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zh-CN" sz="16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}</a:t>
            </a:r>
            <a:endParaRPr lang="en-US" altLang="zh-CN" sz="1600" b="0" u="none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zh-CN" sz="1400" b="0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return</a:t>
            </a:r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self::</a:t>
            </a:r>
            <a:r>
              <a:rPr lang="en-US" altLang="zh-CN" sz="1400" b="0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$instance</a:t>
            </a:r>
            <a:r>
              <a:rPr lang="en-US" altLang="zh-CN" sz="16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;</a:t>
            </a:r>
            <a:endParaRPr lang="en-US" altLang="zh-CN" sz="1600" b="0" u="none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6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}</a:t>
            </a:r>
            <a:endParaRPr lang="en-US" altLang="zh-CN" sz="1600" b="0" u="none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</a:t>
            </a:r>
            <a:r>
              <a:rPr lang="en-US" altLang="zh-CN" sz="1600" b="0" u="none" dirty="0">
                <a:solidFill>
                  <a:srgbClr val="969896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/* ... */</a:t>
            </a:r>
            <a:endParaRPr lang="en-US" altLang="zh-CN" sz="1600" b="0" u="none" dirty="0">
              <a:solidFill>
                <a:srgbClr val="969896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}</a:t>
            </a:r>
            <a:endParaRPr lang="en-US" altLang="zh-CN" sz="1400" b="0" u="none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507605" y="2112645"/>
            <a:ext cx="4464685" cy="648335"/>
          </a:xfrm>
          <a:prstGeom prst="rect">
            <a:avLst/>
          </a:prstGeom>
          <a:noFill/>
          <a:ln w="19050"/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9">
        <p:fade/>
      </p:transition>
    </mc:Choice>
    <mc:Fallback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8"/>
          <p:cNvSpPr txBox="1"/>
          <p:nvPr/>
        </p:nvSpPr>
        <p:spPr>
          <a:xfrm>
            <a:off x="4454798" y="218805"/>
            <a:ext cx="3949155" cy="52197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单例模式</a:t>
            </a:r>
            <a:endParaRPr lang="zh-CN" altLang="en-US" sz="3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1" name="TextBox 8"/>
          <p:cNvSpPr txBox="1"/>
          <p:nvPr/>
        </p:nvSpPr>
        <p:spPr>
          <a:xfrm>
            <a:off x="5025514" y="737266"/>
            <a:ext cx="2876303" cy="22796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SINGLETON PATTERN</a:t>
            </a:r>
            <a:endParaRPr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886327" y="591989"/>
            <a:ext cx="11086097" cy="0"/>
            <a:chOff x="1028775" y="591989"/>
            <a:chExt cx="11086097" cy="0"/>
          </a:xfrm>
        </p:grpSpPr>
        <p:cxnSp>
          <p:nvCxnSpPr>
            <p:cNvPr id="33" name="直接连接符 32"/>
            <p:cNvCxnSpPr/>
            <p:nvPr/>
          </p:nvCxnSpPr>
          <p:spPr>
            <a:xfrm>
              <a:off x="10287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>
              <a:off x="86106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文本框 1"/>
          <p:cNvSpPr txBox="1"/>
          <p:nvPr/>
        </p:nvSpPr>
        <p:spPr>
          <a:xfrm>
            <a:off x="2903220" y="1330325"/>
            <a:ext cx="7051040" cy="4572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indent="0" algn="l"/>
            <a:r>
              <a:rPr lang="en-US" altLang="zh-CN" sz="1400" b="0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// </a:t>
            </a:r>
            <a:r>
              <a:rPr lang="zh-CN" altLang="zh-CN" sz="1400" b="0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宋体" panose="02010600030101010101" pitchFamily="2" charset="-122"/>
                <a:cs typeface="Consolas" panose="020B0609020204030204" charset="0"/>
              </a:rPr>
              <a:t>登记式「单」例</a:t>
            </a:r>
            <a:endParaRPr lang="zh-CN" altLang="zh-CN" sz="1400" b="0" u="none" dirty="0">
              <a:solidFill>
                <a:srgbClr val="5D1DA7"/>
              </a:solidFill>
              <a:highlight>
                <a:srgbClr val="FFFFFF"/>
              </a:highlight>
              <a:latin typeface="Consolas" panose="020B0609020204030204" charset="0"/>
              <a:ea typeface="宋体" panose="02010600030101010101" pitchFamily="2" charset="-122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RedisUtil</a:t>
            </a:r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{</a:t>
            </a:r>
            <a:endParaRPr lang="en-US" altLang="zh-CN" sz="1400" b="0" u="none" dirty="0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400" b="0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protected</a:t>
            </a:r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</a:t>
            </a:r>
            <a:r>
              <a:rPr lang="en-US" altLang="zh-CN" sz="1400" b="0" u="none" dirty="0" err="1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redis</a:t>
            </a:r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null</a:t>
            </a:r>
            <a:r>
              <a:rPr lang="en-US" altLang="zh-CN" sz="14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;</a:t>
            </a:r>
            <a:endParaRPr lang="en-US" altLang="zh-CN" sz="1400" b="0" u="none" dirty="0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400" b="0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protected static</a:t>
            </a:r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$instances</a:t>
            </a:r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= [];</a:t>
            </a:r>
            <a:endParaRPr lang="en-US" altLang="zh-CN" sz="1400" b="0" u="none" dirty="0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endParaRPr lang="en-US" altLang="zh-CN" sz="1400" b="0" u="none" dirty="0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400" b="0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private function</a:t>
            </a:r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__construct</a:t>
            </a:r>
            <a:r>
              <a:rPr lang="en-US" altLang="zh-CN" sz="14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() {}</a:t>
            </a:r>
            <a:endParaRPr lang="en-US" altLang="zh-CN" sz="1400" b="0" u="none" dirty="0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400" b="0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private function</a:t>
            </a:r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__clone</a:t>
            </a:r>
            <a:r>
              <a:rPr lang="en-US" altLang="zh-CN" sz="14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() {}</a:t>
            </a:r>
            <a:endParaRPr lang="en-US" altLang="zh-CN" sz="1400" b="0" u="none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private</a:t>
            </a:r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function</a:t>
            </a:r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__sleep</a:t>
            </a:r>
            <a:r>
              <a:rPr lang="en-US" altLang="zh-CN" sz="14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() {}</a:t>
            </a:r>
            <a:endParaRPr lang="en-US" altLang="zh-CN" sz="1400" b="0" u="none" dirty="0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400" b="0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private  function</a:t>
            </a:r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__wakeup</a:t>
            </a:r>
            <a:r>
              <a:rPr lang="en-US" altLang="zh-CN" sz="14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() {}</a:t>
            </a:r>
            <a:endParaRPr lang="en-US" altLang="zh-CN" sz="1400" b="0" u="none" dirty="0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400" b="0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public static function</a:t>
            </a:r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 dirty="0" err="1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getInstance</a:t>
            </a:r>
            <a:r>
              <a:rPr lang="en-US" altLang="zh-CN" sz="14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zh-CN" sz="1400" b="0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$id</a:t>
            </a:r>
            <a:r>
              <a:rPr lang="en-US" altLang="zh-CN" sz="14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)</a:t>
            </a:r>
            <a:endParaRPr lang="en-US" altLang="zh-CN" sz="1400" b="0" u="none" dirty="0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4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{</a:t>
            </a:r>
            <a:endParaRPr lang="en-US" altLang="zh-CN" sz="1400" b="0" u="none" dirty="0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zh-CN" sz="1400" b="0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if</a:t>
            </a:r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(!</a:t>
            </a:r>
            <a:r>
              <a:rPr lang="en-US" altLang="zh-CN" sz="1400" b="0" u="none" dirty="0" err="1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isset</a:t>
            </a:r>
            <a:r>
              <a:rPr lang="en-US" altLang="zh-CN" sz="14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(self::</a:t>
            </a:r>
            <a:r>
              <a:rPr lang="en-US" altLang="zh-CN" sz="1400" b="0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$instances</a:t>
            </a:r>
            <a:r>
              <a:rPr lang="en-US" altLang="zh-CN" sz="14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[</a:t>
            </a:r>
            <a:r>
              <a:rPr lang="en-US" altLang="zh-CN" sz="1400" b="0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$id</a:t>
            </a:r>
            <a:r>
              <a:rPr lang="en-US" altLang="zh-CN" sz="14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])</a:t>
            </a:r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||</a:t>
            </a:r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!self::</a:t>
            </a:r>
            <a:r>
              <a:rPr lang="en-US" altLang="zh-CN" sz="1400" b="0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$instances</a:t>
            </a:r>
            <a:r>
              <a:rPr lang="en-US" altLang="zh-CN" sz="14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[</a:t>
            </a:r>
            <a:r>
              <a:rPr lang="en-US" altLang="zh-CN" sz="1400" b="0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$id</a:t>
            </a:r>
            <a:r>
              <a:rPr lang="en-US" altLang="zh-CN" sz="14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]</a:t>
            </a:r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 dirty="0" err="1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instanceof</a:t>
            </a:r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self) {</a:t>
            </a:r>
            <a:endParaRPr lang="en-US" altLang="zh-CN" sz="1400" b="0" u="none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        self::</a:t>
            </a:r>
            <a:r>
              <a:rPr lang="en-US" altLang="zh-CN" sz="1400" b="0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$instances</a:t>
            </a:r>
            <a:r>
              <a:rPr lang="en-US" altLang="zh-CN" sz="14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[</a:t>
            </a:r>
            <a:r>
              <a:rPr lang="en-US" altLang="zh-CN" sz="1400" b="0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$id</a:t>
            </a:r>
            <a:r>
              <a:rPr lang="en-US" altLang="zh-CN" sz="14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] =</a:t>
            </a:r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new</a:t>
            </a:r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zh-CN" sz="14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();</a:t>
            </a:r>
            <a:endParaRPr lang="en-US" altLang="zh-CN" sz="1400" b="0" u="none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        self::</a:t>
            </a:r>
            <a:r>
              <a:rPr lang="en-US" altLang="zh-CN" sz="1400" b="0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$instances</a:t>
            </a:r>
            <a:r>
              <a:rPr lang="en-US" altLang="zh-CN" sz="14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[</a:t>
            </a:r>
            <a:r>
              <a:rPr lang="en-US" altLang="zh-CN" sz="1400" b="0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$id</a:t>
            </a:r>
            <a:r>
              <a:rPr lang="en-US" altLang="zh-CN" sz="14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]-&gt;</a:t>
            </a:r>
            <a:r>
              <a:rPr lang="en-US" altLang="zh-CN" sz="1400" b="0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connect</a:t>
            </a:r>
            <a:r>
              <a:rPr lang="en-US" altLang="zh-CN" sz="14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();</a:t>
            </a:r>
            <a:endParaRPr lang="en-US" altLang="zh-CN" sz="1400" b="0" u="none" dirty="0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zh-CN" sz="14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}</a:t>
            </a:r>
            <a:endParaRPr lang="en-US" altLang="zh-CN" sz="1400" b="0" u="none" dirty="0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zh-CN" sz="1400" b="0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return</a:t>
            </a:r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self::</a:t>
            </a:r>
            <a:r>
              <a:rPr lang="en-US" altLang="zh-CN" sz="1400" b="0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$instance</a:t>
            </a:r>
            <a:r>
              <a:rPr lang="en-US" altLang="zh-CN" sz="14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;</a:t>
            </a:r>
            <a:endParaRPr lang="en-US" altLang="zh-CN" sz="1400" b="0" u="none" dirty="0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4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}</a:t>
            </a:r>
            <a:endParaRPr lang="en-US" altLang="zh-CN" sz="1400" b="0" u="none" dirty="0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</a:t>
            </a:r>
            <a:r>
              <a:rPr lang="en-US" altLang="zh-CN" sz="1400" b="0" u="none" dirty="0">
                <a:solidFill>
                  <a:srgbClr val="969896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/* ... */</a:t>
            </a:r>
            <a:endParaRPr lang="en-US" altLang="zh-CN" sz="1400" b="0" u="none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}</a:t>
            </a:r>
            <a:endParaRPr lang="en-US" altLang="zh-CN" sz="1400" b="0" u="non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/>
            <a:r>
              <a:rPr lang="en-US" altLang="zh-CN" sz="1400" b="0" u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zh-CN" altLang="en-US" sz="1400" dirty="0"/>
          </a:p>
        </p:txBody>
      </p:sp>
      <p:sp>
        <p:nvSpPr>
          <p:cNvPr id="3" name="矩形 2"/>
          <p:cNvSpPr/>
          <p:nvPr/>
        </p:nvSpPr>
        <p:spPr>
          <a:xfrm>
            <a:off x="3260725" y="2032000"/>
            <a:ext cx="3536950" cy="257175"/>
          </a:xfrm>
          <a:prstGeom prst="rect">
            <a:avLst/>
          </a:prstGeom>
          <a:noFill/>
          <a:ln w="19050">
            <a:solidFill>
              <a:schemeClr val="accent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3934460" y="4088130"/>
            <a:ext cx="3708400" cy="493395"/>
          </a:xfrm>
          <a:prstGeom prst="rect">
            <a:avLst/>
          </a:prstGeom>
          <a:noFill/>
          <a:ln w="19050">
            <a:solidFill>
              <a:schemeClr val="accent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9">
        <p:fade/>
      </p:transition>
    </mc:Choice>
    <mc:Fallback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8"/>
          <p:cNvSpPr txBox="1"/>
          <p:nvPr/>
        </p:nvSpPr>
        <p:spPr>
          <a:xfrm>
            <a:off x="4454798" y="218805"/>
            <a:ext cx="3949155" cy="52197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单例模式</a:t>
            </a:r>
            <a:endParaRPr lang="zh-CN" altLang="en-US" sz="3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1" name="TextBox 8"/>
          <p:cNvSpPr txBox="1"/>
          <p:nvPr/>
        </p:nvSpPr>
        <p:spPr>
          <a:xfrm>
            <a:off x="5025514" y="737266"/>
            <a:ext cx="2876303" cy="22796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SINGLETON PATTERN</a:t>
            </a:r>
            <a:endParaRPr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886327" y="591989"/>
            <a:ext cx="11086097" cy="0"/>
            <a:chOff x="1028775" y="591989"/>
            <a:chExt cx="11086097" cy="0"/>
          </a:xfrm>
        </p:grpSpPr>
        <p:cxnSp>
          <p:nvCxnSpPr>
            <p:cNvPr id="33" name="直接连接符 32"/>
            <p:cNvCxnSpPr/>
            <p:nvPr/>
          </p:nvCxnSpPr>
          <p:spPr>
            <a:xfrm>
              <a:off x="10287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>
              <a:off x="86106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0" name="文本框 99"/>
          <p:cNvSpPr txBox="1"/>
          <p:nvPr/>
        </p:nvSpPr>
        <p:spPr>
          <a:xfrm>
            <a:off x="7590790" y="1158240"/>
            <a:ext cx="4138295" cy="20313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indent="0" algn="l"/>
            <a:r>
              <a:rPr lang="en-US" altLang="zh-CN" sz="14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function </a:t>
            </a:r>
            <a:r>
              <a:rPr lang="en-US" altLang="zh-CN" sz="1400" b="0" u="none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getRedis</a:t>
            </a:r>
            <a:r>
              <a:rPr lang="en-US" altLang="zh-CN" sz="14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() {</a:t>
            </a:r>
            <a:endParaRPr lang="en-US" altLang="zh-CN" sz="1400" b="0" u="none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$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redisUtil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= new 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RedisUtil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();</a:t>
            </a:r>
            <a:endParaRPr lang="en-US" altLang="zh-CN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$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redis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= $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redisUtil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-&gt;connect();</a:t>
            </a:r>
            <a:endParaRPr lang="en-US" altLang="zh-CN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return $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redis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;</a:t>
            </a:r>
            <a:endParaRPr lang="en-US" altLang="zh-CN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}</a:t>
            </a:r>
            <a:endParaRPr lang="en-US" altLang="zh-CN" sz="1400" b="0" u="none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endParaRPr lang="en-US" altLang="zh-CN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redis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getRedis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();</a:t>
            </a:r>
            <a:endParaRPr lang="en-US" altLang="zh-CN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reids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-&gt;get(“AAA”);</a:t>
            </a:r>
            <a:endParaRPr lang="en-US" altLang="zh-CN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endParaRPr lang="en-US" altLang="zh-CN" sz="1400" b="0" u="none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92480" y="1158240"/>
            <a:ext cx="5219065" cy="55707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indent="0" algn="l"/>
            <a:r>
              <a:rPr lang="en-US" altLang="zh-CN" sz="1400" b="0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RedisUtil</a:t>
            </a:r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6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{</a:t>
            </a:r>
            <a:endParaRPr lang="en-US" altLang="zh-CN" sz="1600" b="0" u="none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400" b="0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protected</a:t>
            </a:r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</a:t>
            </a:r>
            <a:r>
              <a:rPr lang="en-US" altLang="zh-CN" sz="1400" b="0" u="none" dirty="0" err="1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redis</a:t>
            </a:r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null</a:t>
            </a:r>
            <a:r>
              <a:rPr lang="en-US" altLang="zh-CN" sz="16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;</a:t>
            </a:r>
            <a:endParaRPr lang="en-US" altLang="zh-CN" sz="1600" b="0" u="none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400" b="0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protected static</a:t>
            </a:r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$instances</a:t>
            </a:r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6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= [];</a:t>
            </a:r>
            <a:endParaRPr lang="en-US" altLang="zh-CN" sz="1600" b="0" u="none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endParaRPr lang="en-US" altLang="zh-CN" sz="1400" b="0" u="none" dirty="0"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400" b="0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public function</a:t>
            </a:r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__construct</a:t>
            </a:r>
            <a:r>
              <a:rPr lang="en-US" altLang="zh-CN" sz="16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() {}</a:t>
            </a:r>
            <a:endParaRPr lang="en-US" altLang="zh-CN" sz="1600" b="0" u="none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400" b="0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private function</a:t>
            </a:r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__clone</a:t>
            </a:r>
            <a:r>
              <a:rPr lang="en-US" altLang="zh-CN" sz="14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() {}</a:t>
            </a:r>
            <a:endParaRPr lang="en-US" altLang="zh-CN" sz="1400" b="0" u="none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private</a:t>
            </a:r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function</a:t>
            </a:r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__sleep</a:t>
            </a:r>
            <a:r>
              <a:rPr lang="en-US" altLang="zh-CN" sz="16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() {}</a:t>
            </a:r>
            <a:endParaRPr lang="en-US" altLang="zh-CN" sz="1600" b="0" u="none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400" b="0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private  function</a:t>
            </a:r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__wakeup</a:t>
            </a:r>
            <a:r>
              <a:rPr lang="en-US" altLang="zh-CN" sz="16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() {}</a:t>
            </a:r>
            <a:endParaRPr lang="en-US" altLang="zh-CN" sz="1600" b="0" u="none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400" b="0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public function</a:t>
            </a:r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400" b="0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connect</a:t>
            </a:r>
            <a:r>
              <a:rPr lang="en-US" altLang="zh-CN" sz="14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zh-CN" sz="16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)</a:t>
            </a:r>
            <a:endParaRPr lang="en-US" altLang="zh-CN" sz="1600" b="0" u="none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6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{</a:t>
            </a:r>
            <a:endParaRPr lang="en-US" altLang="zh-CN" sz="1600" b="0" u="none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    /*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redis</a:t>
            </a:r>
            <a:r>
              <a:rPr lang="zh-CN" alt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连接操作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*/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6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    return $this-&gt;</a:t>
            </a:r>
            <a:r>
              <a:rPr lang="en-US" altLang="zh-CN" sz="1600" b="0" u="none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redis</a:t>
            </a:r>
            <a:r>
              <a:rPr lang="en-US" altLang="zh-CN" sz="16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;</a:t>
            </a:r>
            <a:endParaRPr lang="en-US" altLang="zh-CN" sz="1600" b="0" u="none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6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}</a:t>
            </a:r>
            <a:endParaRPr lang="en-US" altLang="zh-CN" sz="1600" b="0" u="none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public function __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destruct() {</a:t>
            </a:r>
            <a:endParaRPr lang="en-US" altLang="zh-CN" sz="1600" dirty="0">
              <a:solidFill>
                <a:srgbClr val="000000"/>
              </a:solidFill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    if ($this-&gt;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redis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instanceof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\Redis) {</a:t>
            </a:r>
            <a:endParaRPr lang="en-US" altLang="zh-CN" sz="1600" dirty="0">
              <a:solidFill>
                <a:srgbClr val="000000"/>
              </a:solidFill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		$this-&gt;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redis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-&gt;close();</a:t>
            </a:r>
            <a:endParaRPr lang="en-US" altLang="zh-CN" sz="1600" dirty="0">
              <a:solidFill>
                <a:srgbClr val="000000"/>
              </a:solidFill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    }</a:t>
            </a:r>
            <a:endParaRPr lang="en-US" altLang="zh-CN" sz="1600" dirty="0">
              <a:solidFill>
                <a:srgbClr val="000000"/>
              </a:solidFill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}</a:t>
            </a:r>
            <a:endParaRPr lang="en-US" altLang="zh-CN" sz="1600" b="0" u="none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</a:t>
            </a:r>
            <a:r>
              <a:rPr lang="en-US" altLang="zh-CN" sz="1600" b="0" u="none" dirty="0">
                <a:solidFill>
                  <a:srgbClr val="969896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/* ... */</a:t>
            </a:r>
            <a:endParaRPr lang="en-US" altLang="zh-CN" sz="1600" b="0" u="none" dirty="0">
              <a:solidFill>
                <a:srgbClr val="969896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4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}</a:t>
            </a:r>
            <a:endParaRPr lang="en-US" altLang="zh-CN" sz="1400" b="0" u="none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endParaRPr lang="en-US" altLang="zh-CN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endParaRPr lang="en-US" altLang="zh-CN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endParaRPr lang="en-US" altLang="zh-CN" sz="1400" b="0" u="none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9">
        <p:fade/>
      </p:transition>
    </mc:Choice>
    <mc:Fallback>
      <p:transition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8"/>
          <p:cNvSpPr txBox="1"/>
          <p:nvPr/>
        </p:nvSpPr>
        <p:spPr>
          <a:xfrm>
            <a:off x="4454798" y="218805"/>
            <a:ext cx="3949155" cy="52197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单例模式</a:t>
            </a:r>
            <a:endParaRPr lang="zh-CN" altLang="en-US" sz="3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1" name="TextBox 8"/>
          <p:cNvSpPr txBox="1"/>
          <p:nvPr/>
        </p:nvSpPr>
        <p:spPr>
          <a:xfrm>
            <a:off x="5025514" y="737266"/>
            <a:ext cx="2876303" cy="22796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SINGLETON PATTERN</a:t>
            </a:r>
            <a:endParaRPr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886327" y="591989"/>
            <a:ext cx="11086097" cy="0"/>
            <a:chOff x="1028775" y="591989"/>
            <a:chExt cx="11086097" cy="0"/>
          </a:xfrm>
        </p:grpSpPr>
        <p:cxnSp>
          <p:nvCxnSpPr>
            <p:cNvPr id="33" name="直接连接符 32"/>
            <p:cNvCxnSpPr/>
            <p:nvPr/>
          </p:nvCxnSpPr>
          <p:spPr>
            <a:xfrm>
              <a:off x="10287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>
              <a:off x="86106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文本框 26"/>
          <p:cNvSpPr txBox="1"/>
          <p:nvPr/>
        </p:nvSpPr>
        <p:spPr>
          <a:xfrm>
            <a:off x="1785620" y="1654175"/>
            <a:ext cx="9286240" cy="4114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</a:rPr>
              <a:t>优点：</a:t>
            </a:r>
            <a:endParaRPr lang="zh-CN" altLang="en-US" sz="2400" dirty="0"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</a:rPr>
              <a:t>1. </a:t>
            </a: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</a:rPr>
              <a:t>提供了对唯一实例的受控访问，避免对资源的多重占用；</a:t>
            </a:r>
            <a:endParaRPr lang="zh-CN" altLang="en-US" sz="2400" dirty="0"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</a:rPr>
              <a:t>2. </a:t>
            </a:r>
            <a:r>
              <a:rPr lang="en-US" altLang="zh-CN" sz="2400" dirty="0" err="1">
                <a:latin typeface="黑体" panose="02010609060101010101" charset="-122"/>
                <a:ea typeface="黑体" panose="02010609060101010101" charset="-122"/>
              </a:rPr>
              <a:t>在内存里只有一个实例，减少了内存的开销，尤其是频繁的创建和销毁实例</a:t>
            </a:r>
            <a:r>
              <a:rPr lang="zh-CN" altLang="zh-CN" sz="2400" dirty="0">
                <a:latin typeface="黑体" panose="02010609060101010101" charset="-122"/>
                <a:ea typeface="黑体" panose="02010609060101010101" charset="-122"/>
              </a:rPr>
              <a:t>；</a:t>
            </a:r>
            <a:endParaRPr lang="zh-CN" altLang="zh-CN" sz="2400" dirty="0"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</a:rPr>
              <a:t>3. </a:t>
            </a:r>
            <a:r>
              <a:rPr lang="zh-CN" altLang="zh-CN" sz="2400" dirty="0">
                <a:latin typeface="黑体" panose="02010609060101010101" charset="-122"/>
                <a:ea typeface="黑体" panose="02010609060101010101" charset="-122"/>
              </a:rPr>
              <a:t>使用方便，比</a:t>
            </a:r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</a:rPr>
              <a:t>$_GLOBAL[“”]</a:t>
            </a:r>
            <a:r>
              <a:rPr lang="zh-CN" altLang="zh-CN" sz="2400" dirty="0">
                <a:latin typeface="黑体" panose="02010609060101010101" charset="-122"/>
                <a:ea typeface="黑体" panose="02010609060101010101" charset="-122"/>
              </a:rPr>
              <a:t>方式直接读取变量要优雅；</a:t>
            </a:r>
            <a:endParaRPr lang="zh-CN" altLang="zh-CN" sz="2400" dirty="0">
              <a:latin typeface="黑体" panose="02010609060101010101" charset="-122"/>
              <a:ea typeface="黑体" panose="02010609060101010101" charset="-122"/>
            </a:endParaRPr>
          </a:p>
          <a:p>
            <a:endParaRPr lang="zh-CN" altLang="en-US" sz="2400" dirty="0">
              <a:latin typeface="黑体" panose="02010609060101010101" charset="-122"/>
              <a:ea typeface="黑体" panose="02010609060101010101" charset="-122"/>
            </a:endParaRPr>
          </a:p>
          <a:p>
            <a:endParaRPr lang="zh-CN" altLang="en-US" sz="2400" dirty="0"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zh-CN" altLang="zh-CN" sz="2400" dirty="0">
                <a:latin typeface="黑体" panose="02010609060101010101" charset="-122"/>
                <a:ea typeface="黑体" panose="02010609060101010101" charset="-122"/>
              </a:rPr>
              <a:t>缺点：</a:t>
            </a:r>
            <a:endParaRPr lang="zh-CN" altLang="zh-CN" sz="2400" dirty="0"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</a:rPr>
              <a:t>1. </a:t>
            </a:r>
            <a:r>
              <a:rPr lang="en-US" altLang="zh-CN" sz="2400" dirty="0" err="1">
                <a:latin typeface="黑体" panose="02010609060101010101" charset="-122"/>
                <a:ea typeface="黑体" panose="02010609060101010101" charset="-122"/>
              </a:rPr>
              <a:t>由于单例模式中没有抽象层，因此单例类的扩展</a:t>
            </a:r>
            <a:r>
              <a:rPr lang="zh-CN" altLang="zh-CN" sz="2400" dirty="0">
                <a:latin typeface="黑体" panose="02010609060101010101" charset="-122"/>
                <a:ea typeface="黑体" panose="02010609060101010101" charset="-122"/>
              </a:rPr>
              <a:t>比较</a:t>
            </a:r>
            <a:r>
              <a:rPr lang="en-US" altLang="zh-CN" sz="2400" dirty="0" err="1">
                <a:latin typeface="黑体" panose="02010609060101010101" charset="-122"/>
                <a:ea typeface="黑体" panose="02010609060101010101" charset="-122"/>
              </a:rPr>
              <a:t>困难</a:t>
            </a:r>
            <a:r>
              <a:rPr lang="zh-CN" altLang="zh-CN" sz="2400" dirty="0">
                <a:latin typeface="黑体" panose="02010609060101010101" charset="-122"/>
                <a:ea typeface="黑体" panose="02010609060101010101" charset="-122"/>
              </a:rPr>
              <a:t>；</a:t>
            </a:r>
            <a:endParaRPr lang="zh-CN" altLang="zh-CN" sz="2400" dirty="0"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</a:rPr>
              <a:t>2. </a:t>
            </a:r>
            <a:r>
              <a:rPr lang="en-US" altLang="zh-CN" sz="2400" dirty="0" err="1">
                <a:latin typeface="黑体" panose="02010609060101010101" charset="-122"/>
                <a:ea typeface="黑体" panose="02010609060101010101" charset="-122"/>
              </a:rPr>
              <a:t>单例类的职责过重，在一定程度上违背了</a:t>
            </a:r>
            <a:r>
              <a:rPr lang="zh-CN" altLang="zh-CN" sz="2400" b="1" dirty="0">
                <a:latin typeface="黑体" panose="02010609060101010101" charset="-122"/>
                <a:ea typeface="黑体" panose="02010609060101010101" charset="-122"/>
              </a:rPr>
              <a:t>「</a:t>
            </a:r>
            <a:r>
              <a:rPr lang="en-US" altLang="zh-CN" sz="2400" b="1" dirty="0" err="1">
                <a:latin typeface="黑体" panose="02010609060101010101" charset="-122"/>
                <a:ea typeface="黑体" panose="02010609060101010101" charset="-122"/>
              </a:rPr>
              <a:t>单一职责原则</a:t>
            </a:r>
            <a:r>
              <a:rPr lang="zh-CN" altLang="en-US" sz="2400" b="1" dirty="0">
                <a:latin typeface="黑体" panose="02010609060101010101" charset="-122"/>
                <a:ea typeface="黑体" panose="02010609060101010101" charset="-122"/>
              </a:rPr>
              <a:t>」</a:t>
            </a:r>
            <a:r>
              <a:rPr lang="zh-CN" altLang="zh-CN" sz="2400" dirty="0">
                <a:latin typeface="黑体" panose="02010609060101010101" charset="-122"/>
                <a:ea typeface="黑体" panose="02010609060101010101" charset="-122"/>
              </a:rPr>
              <a:t>；</a:t>
            </a:r>
            <a:endParaRPr lang="zh-CN" altLang="zh-CN" sz="2400" dirty="0"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zh-CN" altLang="zh-CN" sz="2400" dirty="0">
                <a:latin typeface="黑体" panose="02010609060101010101" charset="-122"/>
                <a:ea typeface="黑体" panose="02010609060101010101" charset="-122"/>
              </a:rPr>
              <a:t>（即维护和生产单例的同时，通常又包含业务方法）</a:t>
            </a:r>
            <a:endParaRPr lang="zh-CN" altLang="en-US" sz="2400" dirty="0"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9">
        <p:fade/>
      </p:transition>
    </mc:Choice>
    <mc:Fallback>
      <p:transition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8"/>
          <p:cNvSpPr txBox="1"/>
          <p:nvPr/>
        </p:nvSpPr>
        <p:spPr>
          <a:xfrm>
            <a:off x="4454798" y="218805"/>
            <a:ext cx="3949155" cy="52197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单例模式</a:t>
            </a:r>
            <a:endParaRPr lang="zh-CN" altLang="en-US" sz="3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1" name="TextBox 8"/>
          <p:cNvSpPr txBox="1"/>
          <p:nvPr/>
        </p:nvSpPr>
        <p:spPr>
          <a:xfrm>
            <a:off x="5025514" y="737266"/>
            <a:ext cx="2876303" cy="22796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SINGLETON PATTERN</a:t>
            </a:r>
            <a:endParaRPr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886327" y="591989"/>
            <a:ext cx="11086097" cy="0"/>
            <a:chOff x="1028775" y="591989"/>
            <a:chExt cx="11086097" cy="0"/>
          </a:xfrm>
        </p:grpSpPr>
        <p:cxnSp>
          <p:nvCxnSpPr>
            <p:cNvPr id="33" name="直接连接符 32"/>
            <p:cNvCxnSpPr/>
            <p:nvPr/>
          </p:nvCxnSpPr>
          <p:spPr>
            <a:xfrm>
              <a:off x="10287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>
              <a:off x="86106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文本框 1"/>
          <p:cNvSpPr txBox="1"/>
          <p:nvPr/>
        </p:nvSpPr>
        <p:spPr>
          <a:xfrm>
            <a:off x="1969135" y="1028700"/>
            <a:ext cx="8989695" cy="57607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0" algn="l"/>
            <a:r>
              <a:rPr lang="en-US" altLang="zh-CN" sz="1600" b="0" u="none">
                <a:solidFill>
                  <a:srgbClr val="55008F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zh-CN" sz="16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6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A</a:t>
            </a:r>
            <a:r>
              <a:rPr lang="en-US" altLang="zh-CN" sz="16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8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{</a:t>
            </a:r>
            <a:endParaRPr lang="en-US" altLang="zh-CN" sz="1800" b="0" u="none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6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600" b="0" u="none">
                <a:solidFill>
                  <a:srgbClr val="55008F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protected static</a:t>
            </a:r>
            <a:r>
              <a:rPr lang="en-US" altLang="zh-CN" sz="16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600" b="0" u="none">
                <a:solidFill>
                  <a:srgbClr val="55008F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$instance</a:t>
            </a:r>
            <a:r>
              <a:rPr lang="en-US" altLang="zh-CN" sz="16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6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zh-CN" sz="16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600" b="0" u="none">
                <a:solidFill>
                  <a:srgbClr val="55008F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null</a:t>
            </a:r>
            <a:r>
              <a:rPr lang="en-US" altLang="zh-CN" sz="18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;</a:t>
            </a:r>
            <a:endParaRPr lang="en-US" altLang="zh-CN" sz="1800" b="0" u="none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6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600" b="0" u="none">
                <a:solidFill>
                  <a:srgbClr val="55008F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public static function</a:t>
            </a:r>
            <a:r>
              <a:rPr lang="en-US" altLang="zh-CN" sz="16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8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getInstance() {</a:t>
            </a:r>
            <a:endParaRPr lang="en-US" altLang="zh-CN" sz="1800" b="0" u="none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6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zh-CN" sz="1600" b="0" u="none">
                <a:solidFill>
                  <a:srgbClr val="55008F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if</a:t>
            </a:r>
            <a:r>
              <a:rPr lang="en-US" altLang="zh-CN" sz="16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6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(!</a:t>
            </a:r>
            <a:r>
              <a:rPr lang="en-US" altLang="zh-CN" sz="1600" b="0" u="none">
                <a:solidFill>
                  <a:srgbClr val="55008F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static</a:t>
            </a:r>
            <a:r>
              <a:rPr lang="en-US" altLang="zh-CN" sz="16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::</a:t>
            </a:r>
            <a:r>
              <a:rPr lang="en-US" altLang="zh-CN" sz="1600" b="0" u="none">
                <a:solidFill>
                  <a:srgbClr val="55008F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$instance</a:t>
            </a:r>
            <a:r>
              <a:rPr lang="en-US" altLang="zh-CN" sz="16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600" b="0" u="none">
                <a:solidFill>
                  <a:srgbClr val="55008F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instanceof static</a:t>
            </a:r>
            <a:r>
              <a:rPr lang="en-US" altLang="zh-CN" sz="18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) {</a:t>
            </a:r>
            <a:endParaRPr lang="en-US" altLang="zh-CN" sz="1800" b="0" u="none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8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       echo 'getInstance()' . PHP_EOL;</a:t>
            </a:r>
            <a:endParaRPr lang="en-US" altLang="zh-CN" sz="1800" b="0" u="none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6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        </a:t>
            </a:r>
            <a:r>
              <a:rPr lang="en-US" altLang="zh-CN" sz="1600" b="0" u="none">
                <a:solidFill>
                  <a:srgbClr val="55008F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static</a:t>
            </a:r>
            <a:r>
              <a:rPr lang="en-US" altLang="zh-CN" sz="16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::</a:t>
            </a:r>
            <a:r>
              <a:rPr lang="en-US" altLang="zh-CN" sz="1600" b="0" u="none">
                <a:solidFill>
                  <a:srgbClr val="55008F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$instance</a:t>
            </a:r>
            <a:r>
              <a:rPr lang="en-US" altLang="zh-CN" sz="16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6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zh-CN" sz="16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600" b="0" u="none">
                <a:solidFill>
                  <a:srgbClr val="55008F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new static</a:t>
            </a:r>
            <a:r>
              <a:rPr lang="en-US" altLang="zh-CN" sz="18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();</a:t>
            </a:r>
            <a:endParaRPr lang="en-US" altLang="zh-CN" sz="1800" b="0" u="none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6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zh-CN" sz="18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}</a:t>
            </a:r>
            <a:endParaRPr lang="en-US" altLang="zh-CN" sz="1800" b="0" u="none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6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zh-CN" sz="1600" b="0" u="none">
                <a:solidFill>
                  <a:srgbClr val="55008F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return static</a:t>
            </a:r>
            <a:r>
              <a:rPr lang="en-US" altLang="zh-CN" sz="16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::</a:t>
            </a:r>
            <a:r>
              <a:rPr lang="en-US" altLang="zh-CN" sz="1600" b="0" u="none">
                <a:solidFill>
                  <a:srgbClr val="55008F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$instance</a:t>
            </a:r>
            <a:r>
              <a:rPr lang="en-US" altLang="zh-CN" sz="18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;</a:t>
            </a:r>
            <a:endParaRPr lang="en-US" altLang="zh-CN" sz="1800" b="0" u="none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6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8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}}</a:t>
            </a:r>
            <a:endParaRPr lang="en-US" altLang="zh-CN" sz="1800" b="0" u="none">
              <a:solidFill>
                <a:srgbClr val="55008F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600" b="0" u="none">
                <a:solidFill>
                  <a:srgbClr val="55008F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zh-CN" sz="16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6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B</a:t>
            </a:r>
            <a:r>
              <a:rPr lang="en-US" altLang="zh-CN" sz="16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600" b="0" u="none">
                <a:solidFill>
                  <a:srgbClr val="55008F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extends</a:t>
            </a:r>
            <a:r>
              <a:rPr lang="en-US" altLang="zh-CN" sz="16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6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A</a:t>
            </a:r>
            <a:r>
              <a:rPr lang="en-US" altLang="zh-CN" sz="16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8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{}</a:t>
            </a:r>
            <a:endParaRPr lang="en-US" altLang="zh-CN" sz="1800" b="0" u="none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800">
                <a:solidFill>
                  <a:srgbClr val="55008F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  <a:sym typeface="+mn-ea"/>
              </a:rPr>
              <a:t>class</a:t>
            </a:r>
            <a:r>
              <a:rPr lang="en-US" altLang="zh-CN" sz="180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  <a:sym typeface="+mn-ea"/>
              </a:rPr>
              <a:t> C </a:t>
            </a:r>
            <a:r>
              <a:rPr lang="en-US" altLang="zh-CN" sz="1800">
                <a:solidFill>
                  <a:srgbClr val="55008F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  <a:sym typeface="+mn-ea"/>
              </a:rPr>
              <a:t>extends</a:t>
            </a:r>
            <a:r>
              <a:rPr lang="en-US" altLang="zh-CN" sz="180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  <a:sym typeface="+mn-ea"/>
              </a:rPr>
              <a:t>A</a:t>
            </a:r>
            <a:r>
              <a:rPr lang="en-US" altLang="zh-CN" sz="180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  <a:sym typeface="+mn-ea"/>
              </a:rPr>
              <a:t>{}</a:t>
            </a:r>
            <a:endParaRPr lang="en-US" altLang="zh-CN" sz="1800" b="0" u="none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6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endParaRPr lang="en-US" altLang="zh-CN" sz="1800" b="0" u="none">
              <a:solidFill>
                <a:srgbClr val="55008F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600" b="0" u="none">
                <a:solidFill>
                  <a:srgbClr val="55008F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$b</a:t>
            </a:r>
            <a:r>
              <a:rPr lang="en-US" altLang="zh-CN" sz="16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6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zh-CN" sz="16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B</a:t>
            </a:r>
            <a:r>
              <a:rPr lang="en-US" altLang="zh-CN" sz="18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::getInstance();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  <a:sym typeface="+mn-ea"/>
              </a:rPr>
              <a:t>var_dump(get_class(</a:t>
            </a:r>
            <a:r>
              <a:rPr lang="en-US" altLang="zh-CN" sz="1800">
                <a:solidFill>
                  <a:srgbClr val="55008F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  <a:sym typeface="+mn-ea"/>
              </a:rPr>
              <a:t>$b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  <a:sym typeface="+mn-ea"/>
              </a:rPr>
              <a:t>)); // </a:t>
            </a:r>
            <a:r>
              <a:rPr lang="zh-CN" altLang="en-US" sz="18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cs typeface="Consolas" panose="020B0609020204030204" charset="0"/>
                <a:sym typeface="+mn-ea"/>
              </a:rPr>
              <a:t>输出 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  <a:sym typeface="+mn-ea"/>
              </a:rPr>
              <a:t>getInstance()B</a:t>
            </a:r>
            <a:endParaRPr lang="en-US" altLang="zh-CN" sz="1800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  <a:sym typeface="+mn-ea"/>
            </a:endParaRPr>
          </a:p>
          <a:p>
            <a:pPr marL="0" indent="0" algn="l"/>
            <a:r>
              <a:rPr lang="en-US" altLang="zh-CN" sz="1600" b="0" u="none">
                <a:solidFill>
                  <a:srgbClr val="55008F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$c</a:t>
            </a:r>
            <a:r>
              <a:rPr lang="en-US" altLang="zh-CN" sz="16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6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zh-CN" sz="1600" b="0" u="none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C</a:t>
            </a:r>
            <a:r>
              <a:rPr lang="en-US" altLang="zh-CN" sz="1800" b="0" u="none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::getInstance();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  <a:sym typeface="+mn-ea"/>
              </a:rPr>
              <a:t>var_dump(get_class(</a:t>
            </a:r>
            <a:r>
              <a:rPr lang="en-US" altLang="zh-CN" sz="1800">
                <a:solidFill>
                  <a:srgbClr val="55008F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  <a:sym typeface="+mn-ea"/>
              </a:rPr>
              <a:t>$c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  <a:sym typeface="+mn-ea"/>
              </a:rPr>
              <a:t>)); // </a:t>
            </a:r>
            <a:r>
              <a:rPr lang="zh-CN" altLang="zh-CN" sz="18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cs typeface="Consolas" panose="020B0609020204030204" charset="0"/>
                <a:sym typeface="+mn-ea"/>
              </a:rPr>
              <a:t>输出 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  <a:sym typeface="+mn-ea"/>
              </a:rPr>
              <a:t>getInstance()C</a:t>
            </a:r>
            <a:endParaRPr lang="en-US" altLang="zh-CN" sz="1800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indent="0" algn="l"/>
            <a:r>
              <a:rPr lang="en-US" altLang="zh-CN" sz="1800">
                <a:solidFill>
                  <a:srgbClr val="55008F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  <a:sym typeface="+mn-ea"/>
              </a:rPr>
              <a:t>$b</a:t>
            </a:r>
            <a:r>
              <a:rPr lang="en-US" altLang="zh-CN" sz="180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  <a:sym typeface="+mn-ea"/>
              </a:rPr>
              <a:t>=</a:t>
            </a:r>
            <a:r>
              <a:rPr lang="en-US" altLang="zh-CN" sz="180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  <a:sym typeface="+mn-ea"/>
              </a:rPr>
              <a:t> B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  <a:sym typeface="+mn-ea"/>
              </a:rPr>
              <a:t>::getInstance();var_dump(get_class(</a:t>
            </a:r>
            <a:r>
              <a:rPr lang="en-US" altLang="zh-CN" sz="1800">
                <a:solidFill>
                  <a:srgbClr val="55008F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  <a:sym typeface="+mn-ea"/>
              </a:rPr>
              <a:t>$b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  <a:sym typeface="+mn-ea"/>
              </a:rPr>
              <a:t>)); // </a:t>
            </a:r>
            <a:r>
              <a:rPr lang="zh-CN" altLang="en-US" sz="18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cs typeface="Consolas" panose="020B0609020204030204" charset="0"/>
                <a:sym typeface="+mn-ea"/>
              </a:rPr>
              <a:t>输出 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  <a:sym typeface="+mn-ea"/>
              </a:rPr>
              <a:t>getInstance()B</a:t>
            </a:r>
            <a:endParaRPr lang="en-US" altLang="zh-CN" sz="1800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  <a:sym typeface="+mn-ea"/>
            </a:endParaRPr>
          </a:p>
          <a:p>
            <a:pPr marL="0" indent="0" algn="l"/>
            <a:r>
              <a:rPr lang="en-US" altLang="zh-CN" sz="1800">
                <a:solidFill>
                  <a:srgbClr val="55008F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  <a:sym typeface="+mn-ea"/>
              </a:rPr>
              <a:t>$c</a:t>
            </a:r>
            <a:r>
              <a:rPr lang="en-US" altLang="zh-CN" sz="180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  <a:sym typeface="+mn-ea"/>
              </a:rPr>
              <a:t>=</a:t>
            </a:r>
            <a:r>
              <a:rPr lang="en-US" altLang="zh-CN" sz="180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  <a:sym typeface="+mn-ea"/>
              </a:rPr>
              <a:t> C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  <a:sym typeface="+mn-ea"/>
              </a:rPr>
              <a:t>::getInstance();var_dump(get_class(</a:t>
            </a:r>
            <a:r>
              <a:rPr lang="en-US" altLang="zh-CN" sz="1800">
                <a:solidFill>
                  <a:srgbClr val="55008F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  <a:sym typeface="+mn-ea"/>
              </a:rPr>
              <a:t>$c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  <a:sym typeface="+mn-ea"/>
              </a:rPr>
              <a:t>)); // </a:t>
            </a:r>
            <a:r>
              <a:rPr lang="zh-CN" altLang="zh-CN" sz="18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cs typeface="Consolas" panose="020B0609020204030204" charset="0"/>
                <a:sym typeface="+mn-ea"/>
              </a:rPr>
              <a:t>输出 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  <a:sym typeface="+mn-ea"/>
              </a:rPr>
              <a:t>getInstance()C</a:t>
            </a:r>
            <a:endParaRPr lang="en-US" altLang="zh-CN" sz="1800" b="0" u="none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endParaRPr lang="en-US" altLang="zh-CN" sz="1600" b="0" u="none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endParaRPr lang="en-US" altLang="zh-CN" sz="1600" b="0" u="none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315835" y="3724910"/>
            <a:ext cx="45859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思考一下是不是可以用</a:t>
            </a:r>
            <a:r>
              <a:rPr lang="en-US" altLang="zh-CN"/>
              <a:t>trait</a:t>
            </a:r>
            <a:r>
              <a:rPr lang="zh-CN" altLang="zh-CN"/>
              <a:t>来实现呢？</a:t>
            </a:r>
            <a:endParaRPr lang="zh-CN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9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8"/>
          <p:cNvSpPr txBox="1"/>
          <p:nvPr/>
        </p:nvSpPr>
        <p:spPr>
          <a:xfrm>
            <a:off x="4454798" y="233568"/>
            <a:ext cx="3949155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设计模式</a:t>
            </a:r>
            <a:endParaRPr lang="zh-CN" altLang="en-US" sz="3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1" name="TextBox 8"/>
          <p:cNvSpPr txBox="1"/>
          <p:nvPr/>
        </p:nvSpPr>
        <p:spPr>
          <a:xfrm>
            <a:off x="5025514" y="743527"/>
            <a:ext cx="2876303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DESIGN PATTERNS</a:t>
            </a:r>
            <a:endParaRPr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886327" y="591989"/>
            <a:ext cx="11086097" cy="0"/>
            <a:chOff x="1028775" y="591989"/>
            <a:chExt cx="11086097" cy="0"/>
          </a:xfrm>
        </p:grpSpPr>
        <p:cxnSp>
          <p:nvCxnSpPr>
            <p:cNvPr id="33" name="直接连接符 32"/>
            <p:cNvCxnSpPr/>
            <p:nvPr/>
          </p:nvCxnSpPr>
          <p:spPr>
            <a:xfrm>
              <a:off x="10287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>
              <a:off x="86106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文本框 1"/>
          <p:cNvSpPr txBox="1"/>
          <p:nvPr/>
        </p:nvSpPr>
        <p:spPr>
          <a:xfrm>
            <a:off x="3763645" y="2796540"/>
            <a:ext cx="6568440" cy="822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三、简单工厂模式</a:t>
            </a:r>
            <a:endParaRPr lang="zh-CN" altLang="en-US" sz="48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9">
        <p:fade/>
      </p:transition>
    </mc:Choice>
    <mc:Fallback>
      <p:transition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8"/>
          <p:cNvSpPr txBox="1"/>
          <p:nvPr/>
        </p:nvSpPr>
        <p:spPr>
          <a:xfrm>
            <a:off x="4454798" y="233569"/>
            <a:ext cx="3949155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简单工厂模式</a:t>
            </a:r>
            <a:endParaRPr lang="zh-CN" altLang="en-US" sz="3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1" name="TextBox 8"/>
          <p:cNvSpPr txBox="1"/>
          <p:nvPr/>
        </p:nvSpPr>
        <p:spPr>
          <a:xfrm>
            <a:off x="5025514" y="743526"/>
            <a:ext cx="2876303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SIMPLE FACTORY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PATTERN</a:t>
            </a:r>
            <a:endParaRPr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886327" y="591989"/>
            <a:ext cx="11086097" cy="0"/>
            <a:chOff x="1028775" y="591989"/>
            <a:chExt cx="11086097" cy="0"/>
          </a:xfrm>
        </p:grpSpPr>
        <p:cxnSp>
          <p:nvCxnSpPr>
            <p:cNvPr id="33" name="直接连接符 32"/>
            <p:cNvCxnSpPr/>
            <p:nvPr/>
          </p:nvCxnSpPr>
          <p:spPr>
            <a:xfrm>
              <a:off x="10287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>
              <a:off x="86106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文本框 2"/>
          <p:cNvSpPr txBox="1"/>
          <p:nvPr/>
        </p:nvSpPr>
        <p:spPr>
          <a:xfrm>
            <a:off x="1820545" y="1993265"/>
            <a:ext cx="983805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latin typeface="黑体" panose="02010609060101010101" charset="-122"/>
                <a:ea typeface="黑体" panose="02010609060101010101" charset="-122"/>
              </a:rPr>
              <a:t>简单工厂模式</a:t>
            </a: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</a:rPr>
              <a:t>根据参数的不同返回不同类的实例。简单工厂模式专门定义一个类来负责创建其他类的实例，被创建的实例通常都具有共同的父类。</a:t>
            </a:r>
            <a:endParaRPr lang="zh-CN" altLang="en-US" sz="2400" dirty="0">
              <a:latin typeface="黑体" panose="02010609060101010101" charset="-122"/>
              <a:ea typeface="黑体" panose="02010609060101010101" charset="-122"/>
            </a:endParaRPr>
          </a:p>
          <a:p>
            <a:endParaRPr lang="zh-CN" altLang="en-US" sz="2400" dirty="0">
              <a:latin typeface="黑体" panose="02010609060101010101" charset="-122"/>
              <a:ea typeface="黑体" panose="02010609060101010101" charset="-122"/>
            </a:endParaRPr>
          </a:p>
          <a:p>
            <a:endParaRPr lang="zh-CN" altLang="en-US" sz="2400" dirty="0"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9">
        <p:fade/>
      </p:transition>
    </mc:Choice>
    <mc:Fallback>
      <p:transition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/>
          <p:cNvGrpSpPr/>
          <p:nvPr/>
        </p:nvGrpSpPr>
        <p:grpSpPr>
          <a:xfrm>
            <a:off x="886327" y="591989"/>
            <a:ext cx="11086097" cy="0"/>
            <a:chOff x="1028775" y="591989"/>
            <a:chExt cx="11086097" cy="0"/>
          </a:xfrm>
        </p:grpSpPr>
        <p:cxnSp>
          <p:nvCxnSpPr>
            <p:cNvPr id="33" name="直接连接符 32"/>
            <p:cNvCxnSpPr/>
            <p:nvPr/>
          </p:nvCxnSpPr>
          <p:spPr>
            <a:xfrm>
              <a:off x="10287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>
              <a:off x="86106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26" name="Picture 2" descr="这里写图片描述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7917" y="1113264"/>
            <a:ext cx="7382915" cy="5006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4454798" y="233569"/>
            <a:ext cx="3949155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简单工厂模式</a:t>
            </a:r>
            <a:endParaRPr lang="zh-CN" altLang="en-US" sz="3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" name="TextBox 8"/>
          <p:cNvSpPr txBox="1"/>
          <p:nvPr/>
        </p:nvSpPr>
        <p:spPr>
          <a:xfrm>
            <a:off x="5025514" y="743526"/>
            <a:ext cx="2876303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SIMPLE FACTORY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PATTERN</a:t>
            </a:r>
            <a:endParaRPr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9">
        <p:fade/>
      </p:transition>
    </mc:Choice>
    <mc:Fallback>
      <p:transition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/>
          <p:cNvGrpSpPr/>
          <p:nvPr/>
        </p:nvGrpSpPr>
        <p:grpSpPr>
          <a:xfrm>
            <a:off x="886327" y="591989"/>
            <a:ext cx="11086097" cy="0"/>
            <a:chOff x="1028775" y="591989"/>
            <a:chExt cx="11086097" cy="0"/>
          </a:xfrm>
        </p:grpSpPr>
        <p:cxnSp>
          <p:nvCxnSpPr>
            <p:cNvPr id="33" name="直接连接符 32"/>
            <p:cNvCxnSpPr/>
            <p:nvPr/>
          </p:nvCxnSpPr>
          <p:spPr>
            <a:xfrm>
              <a:off x="10287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>
              <a:off x="86106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文本框 1"/>
          <p:cNvSpPr txBox="1"/>
          <p:nvPr/>
        </p:nvSpPr>
        <p:spPr>
          <a:xfrm>
            <a:off x="1758950" y="1553845"/>
            <a:ext cx="866711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</a:rPr>
              <a:t>需求：</a:t>
            </a:r>
            <a:endParaRPr lang="en-US" altLang="zh-CN" sz="2400" dirty="0"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</a:rPr>
              <a:t>双十一活动会场三</a:t>
            </a:r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</a:rPr>
              <a:t>——</a:t>
            </a: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</a:rPr>
              <a:t>财富地图</a:t>
            </a:r>
            <a:endParaRPr lang="en-US" altLang="zh-CN" sz="2400" dirty="0"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</a:rPr>
              <a:t>用户掷骰子在地图上前进，踩到礼品则给用户赠送奖品，奖品由</a:t>
            </a:r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</a:rPr>
              <a:t>6</a:t>
            </a: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</a:rPr>
              <a:t>个承接方分别提供，每个业务方又只针对符合要求的用户赠送奖品。</a:t>
            </a:r>
            <a:endParaRPr lang="en-US" altLang="zh-CN" sz="2400" dirty="0"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</a:rPr>
              <a:t>页面上同时需要查询用户奖品的使用情况，这个状态也由各承接方提供接口查询。</a:t>
            </a:r>
            <a:endParaRPr lang="zh-CN" altLang="en-US" sz="240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0" name="TextBox 8"/>
          <p:cNvSpPr txBox="1"/>
          <p:nvPr/>
        </p:nvSpPr>
        <p:spPr>
          <a:xfrm>
            <a:off x="4454798" y="233569"/>
            <a:ext cx="3949155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简单工厂模式</a:t>
            </a:r>
            <a:endParaRPr lang="zh-CN" altLang="en-US" sz="3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TextBox 8"/>
          <p:cNvSpPr txBox="1"/>
          <p:nvPr/>
        </p:nvSpPr>
        <p:spPr>
          <a:xfrm>
            <a:off x="5025514" y="743526"/>
            <a:ext cx="2876303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SIMPLE FACTORY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PATTERN</a:t>
            </a:r>
            <a:endParaRPr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9">
        <p:fade/>
      </p:transition>
    </mc:Choice>
    <mc:Fallback>
      <p:transition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/>
          <p:cNvGrpSpPr/>
          <p:nvPr/>
        </p:nvGrpSpPr>
        <p:grpSpPr>
          <a:xfrm>
            <a:off x="886327" y="591989"/>
            <a:ext cx="11086097" cy="0"/>
            <a:chOff x="1028775" y="591989"/>
            <a:chExt cx="11086097" cy="0"/>
          </a:xfrm>
        </p:grpSpPr>
        <p:cxnSp>
          <p:nvCxnSpPr>
            <p:cNvPr id="33" name="直接连接符 32"/>
            <p:cNvCxnSpPr/>
            <p:nvPr/>
          </p:nvCxnSpPr>
          <p:spPr>
            <a:xfrm>
              <a:off x="10287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>
              <a:off x="86106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Box 8"/>
          <p:cNvSpPr txBox="1"/>
          <p:nvPr/>
        </p:nvSpPr>
        <p:spPr>
          <a:xfrm>
            <a:off x="4454798" y="233569"/>
            <a:ext cx="3949155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简单工厂模式</a:t>
            </a:r>
            <a:endParaRPr lang="zh-CN" altLang="en-US" sz="3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" name="TextBox 8"/>
          <p:cNvSpPr txBox="1"/>
          <p:nvPr/>
        </p:nvSpPr>
        <p:spPr>
          <a:xfrm>
            <a:off x="5025514" y="743526"/>
            <a:ext cx="2876303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SIMPLE FACTORY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PATTERN</a:t>
            </a:r>
            <a:endParaRPr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629175" y="31842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3477047" y="1122458"/>
            <a:ext cx="6429375" cy="5212080"/>
          </a:xfrm>
          <a:prstGeom prst="rect">
            <a:avLst/>
          </a:prstGeom>
        </p:spPr>
        <p:txBody>
          <a:bodyPr>
            <a:spAutoFit/>
          </a:bodyPr>
          <a:lstStyle/>
          <a:p>
            <a:pPr defTabSz="-635">
              <a:spcBef>
                <a:spcPts val="90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1200" b="1" kern="0" dirty="0">
                <a:solidFill>
                  <a:srgbClr val="8F0055"/>
                </a:solidFill>
                <a:latin typeface="Consolas" panose="020B0609020204030204" charset="0"/>
                <a:cs typeface="宋体" panose="02010600030101010101" pitchFamily="2" charset="-122"/>
              </a:rPr>
              <a:t>class</a:t>
            </a:r>
            <a:r>
              <a:rPr lang="en-US" altLang="zh-CN" sz="1200" b="1" kern="0" dirty="0">
                <a:solidFill>
                  <a:srgbClr val="000000"/>
                </a:solidFill>
                <a:latin typeface="Consolas" panose="020B0609020204030204" charset="0"/>
                <a:cs typeface="宋体" panose="02010600030101010101" pitchFamily="2" charset="-122"/>
              </a:rPr>
              <a:t> </a:t>
            </a:r>
            <a:r>
              <a:rPr lang="en-US" altLang="zh-CN" sz="1200" b="1" kern="0" dirty="0" err="1">
                <a:solidFill>
                  <a:srgbClr val="000000"/>
                </a:solidFill>
                <a:latin typeface="Consolas" panose="020B0609020204030204" charset="0"/>
                <a:cs typeface="宋体" panose="02010600030101010101" pitchFamily="2" charset="-122"/>
              </a:rPr>
              <a:t>PrizeBiz</a:t>
            </a:r>
            <a:r>
              <a:rPr lang="en-US" altLang="zh-CN" sz="1200" b="1" kern="0" dirty="0">
                <a:solidFill>
                  <a:srgbClr val="000000"/>
                </a:solidFill>
                <a:latin typeface="Consolas" panose="020B0609020204030204" charset="0"/>
                <a:cs typeface="宋体" panose="02010600030101010101" pitchFamily="2" charset="-122"/>
              </a:rPr>
              <a:t> {</a:t>
            </a:r>
            <a:endParaRPr lang="zh-CN" altLang="zh-CN" sz="1400" b="1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defTabSz="-635"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1200" b="1" kern="0" dirty="0">
                <a:solidFill>
                  <a:srgbClr val="000000"/>
                </a:solidFill>
                <a:latin typeface="Consolas" panose="020B0609020204030204" charset="0"/>
                <a:cs typeface="宋体" panose="02010600030101010101" pitchFamily="2" charset="-122"/>
              </a:rPr>
              <a:t>    </a:t>
            </a:r>
            <a:r>
              <a:rPr lang="en-US" altLang="zh-CN" sz="1200" b="1" kern="0" dirty="0">
                <a:solidFill>
                  <a:srgbClr val="007F1C"/>
                </a:solidFill>
                <a:latin typeface="Consolas" panose="020B0609020204030204" charset="0"/>
                <a:cs typeface="宋体" panose="02010600030101010101" pitchFamily="2" charset="-122"/>
              </a:rPr>
              <a:t>/**</a:t>
            </a:r>
            <a:endParaRPr lang="zh-CN" altLang="zh-CN" sz="1400" b="1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defTabSz="-635"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1200" b="1" kern="0" dirty="0">
                <a:solidFill>
                  <a:srgbClr val="007F1C"/>
                </a:solidFill>
                <a:latin typeface="Consolas" panose="020B0609020204030204" charset="0"/>
                <a:cs typeface="宋体" panose="02010600030101010101" pitchFamily="2" charset="-122"/>
              </a:rPr>
              <a:t>     * </a:t>
            </a:r>
            <a:r>
              <a:rPr lang="zh-CN" altLang="zh-CN" sz="1200" b="1" kern="0" dirty="0">
                <a:solidFill>
                  <a:srgbClr val="007F1C"/>
                </a:solidFill>
                <a:latin typeface="Consolas" panose="020B0609020204030204" charset="0"/>
                <a:cs typeface="宋体" panose="02010600030101010101" pitchFamily="2" charset="-122"/>
              </a:rPr>
              <a:t>查询用户猎金奖品</a:t>
            </a:r>
            <a:r>
              <a:rPr lang="zh-CN" altLang="en-US" sz="1200" b="1" kern="0" dirty="0">
                <a:solidFill>
                  <a:srgbClr val="007F1C"/>
                </a:solidFill>
                <a:latin typeface="Consolas" panose="020B0609020204030204" charset="0"/>
                <a:cs typeface="宋体" panose="02010600030101010101" pitchFamily="2" charset="-122"/>
              </a:rPr>
              <a:t>资格</a:t>
            </a:r>
            <a:endParaRPr lang="zh-CN" altLang="zh-CN" sz="1400" b="1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defTabSz="-635"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1200" b="1" kern="0" dirty="0">
                <a:solidFill>
                  <a:srgbClr val="007F1C"/>
                </a:solidFill>
                <a:latin typeface="Consolas" panose="020B0609020204030204" charset="0"/>
                <a:cs typeface="宋体" panose="02010600030101010101" pitchFamily="2" charset="-122"/>
              </a:rPr>
              <a:t>     */</a:t>
            </a:r>
            <a:endParaRPr lang="zh-CN" altLang="zh-CN" sz="1400" b="1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defTabSz="-635"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1200" b="1" kern="0" dirty="0">
                <a:solidFill>
                  <a:srgbClr val="000000"/>
                </a:solidFill>
                <a:latin typeface="Consolas" panose="020B0609020204030204" charset="0"/>
                <a:cs typeface="宋体" panose="02010600030101010101" pitchFamily="2" charset="-122"/>
              </a:rPr>
              <a:t>    </a:t>
            </a:r>
            <a:r>
              <a:rPr lang="en-US" altLang="zh-CN" sz="1200" b="1" kern="0" dirty="0">
                <a:solidFill>
                  <a:srgbClr val="8F0055"/>
                </a:solidFill>
                <a:latin typeface="Consolas" panose="020B0609020204030204" charset="0"/>
                <a:cs typeface="宋体" panose="02010600030101010101" pitchFamily="2" charset="-122"/>
              </a:rPr>
              <a:t>public function</a:t>
            </a:r>
            <a:r>
              <a:rPr lang="en-US" altLang="zh-CN" sz="1200" b="1" kern="0" dirty="0">
                <a:solidFill>
                  <a:srgbClr val="000000"/>
                </a:solidFill>
                <a:latin typeface="Consolas" panose="020B0609020204030204" charset="0"/>
                <a:cs typeface="宋体" panose="02010600030101010101" pitchFamily="2" charset="-122"/>
              </a:rPr>
              <a:t> </a:t>
            </a:r>
            <a:r>
              <a:rPr lang="en-US" altLang="zh-CN" sz="1200" b="1" kern="0" dirty="0" err="1">
                <a:solidFill>
                  <a:srgbClr val="000000"/>
                </a:solidFill>
                <a:latin typeface="Consolas" panose="020B0609020204030204" charset="0"/>
                <a:cs typeface="宋体" panose="02010600030101010101" pitchFamily="2" charset="-122"/>
              </a:rPr>
              <a:t>checkUserLiejinPrizeQualifications</a:t>
            </a:r>
            <a:r>
              <a:rPr lang="en-US" altLang="zh-CN" sz="1200" b="1" kern="0" dirty="0">
                <a:solidFill>
                  <a:srgbClr val="000000"/>
                </a:solidFill>
                <a:latin typeface="Consolas" panose="020B0609020204030204" charset="0"/>
                <a:cs typeface="宋体" panose="02010600030101010101" pitchFamily="2" charset="-122"/>
              </a:rPr>
              <a:t>(</a:t>
            </a:r>
            <a:r>
              <a:rPr lang="en-US" altLang="zh-CN" sz="1200" b="1" kern="0" dirty="0">
                <a:solidFill>
                  <a:srgbClr val="8F0055"/>
                </a:solidFill>
                <a:latin typeface="Consolas" panose="020B0609020204030204" charset="0"/>
                <a:cs typeface="宋体" panose="02010600030101010101" pitchFamily="2" charset="-122"/>
              </a:rPr>
              <a:t>$</a:t>
            </a:r>
            <a:r>
              <a:rPr lang="en-US" altLang="zh-CN" sz="1200" b="1" kern="0" dirty="0" err="1">
                <a:solidFill>
                  <a:srgbClr val="8F0055"/>
                </a:solidFill>
                <a:latin typeface="Consolas" panose="020B0609020204030204" charset="0"/>
                <a:cs typeface="宋体" panose="02010600030101010101" pitchFamily="2" charset="-122"/>
              </a:rPr>
              <a:t>userId</a:t>
            </a:r>
            <a:r>
              <a:rPr lang="en-US" altLang="zh-CN" sz="1200" b="1" kern="0" dirty="0">
                <a:solidFill>
                  <a:srgbClr val="000000"/>
                </a:solidFill>
                <a:latin typeface="Consolas" panose="020B0609020204030204" charset="0"/>
                <a:cs typeface="宋体" panose="02010600030101010101" pitchFamily="2" charset="-122"/>
              </a:rPr>
              <a:t>)</a:t>
            </a:r>
            <a:endParaRPr lang="zh-CN" altLang="zh-CN" sz="1400" b="1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defTabSz="-635"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1200" b="1" kern="0" dirty="0">
                <a:solidFill>
                  <a:srgbClr val="000000"/>
                </a:solidFill>
                <a:latin typeface="Consolas" panose="020B0609020204030204" charset="0"/>
                <a:cs typeface="宋体" panose="02010600030101010101" pitchFamily="2" charset="-122"/>
              </a:rPr>
              <a:t>    {</a:t>
            </a:r>
            <a:endParaRPr lang="zh-CN" altLang="zh-CN" sz="1400" b="1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defTabSz="-635"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1200" b="1" kern="0" dirty="0">
                <a:solidFill>
                  <a:srgbClr val="000000"/>
                </a:solidFill>
                <a:latin typeface="Consolas" panose="020B0609020204030204" charset="0"/>
                <a:cs typeface="宋体" panose="02010600030101010101" pitchFamily="2" charset="-122"/>
              </a:rPr>
              <a:t> </a:t>
            </a:r>
            <a:endParaRPr lang="zh-CN" altLang="zh-CN" sz="1400" b="1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defTabSz="-635"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1200" b="1" kern="0" dirty="0">
                <a:solidFill>
                  <a:srgbClr val="000000"/>
                </a:solidFill>
                <a:latin typeface="Consolas" panose="020B0609020204030204" charset="0"/>
                <a:cs typeface="宋体" panose="02010600030101010101" pitchFamily="2" charset="-122"/>
              </a:rPr>
              <a:t>    }</a:t>
            </a:r>
            <a:endParaRPr lang="zh-CN" altLang="zh-CN" sz="1400" b="1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defTabSz="-635"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1200" b="1" kern="0" dirty="0">
                <a:solidFill>
                  <a:srgbClr val="000000"/>
                </a:solidFill>
                <a:latin typeface="Consolas" panose="020B0609020204030204" charset="0"/>
                <a:cs typeface="宋体" panose="02010600030101010101" pitchFamily="2" charset="-122"/>
              </a:rPr>
              <a:t> </a:t>
            </a:r>
            <a:endParaRPr lang="zh-CN" altLang="zh-CN" sz="1400" b="1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defTabSz="-635"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1200" b="1" kern="0" dirty="0">
                <a:solidFill>
                  <a:srgbClr val="000000"/>
                </a:solidFill>
                <a:latin typeface="Consolas" panose="020B0609020204030204" charset="0"/>
                <a:cs typeface="宋体" panose="02010600030101010101" pitchFamily="2" charset="-122"/>
              </a:rPr>
              <a:t>    </a:t>
            </a:r>
            <a:r>
              <a:rPr lang="en-US" altLang="zh-CN" sz="1200" b="1" kern="0" dirty="0">
                <a:solidFill>
                  <a:srgbClr val="007F1C"/>
                </a:solidFill>
                <a:latin typeface="Consolas" panose="020B0609020204030204" charset="0"/>
                <a:cs typeface="宋体" panose="02010600030101010101" pitchFamily="2" charset="-122"/>
              </a:rPr>
              <a:t>/**</a:t>
            </a:r>
            <a:endParaRPr lang="zh-CN" altLang="zh-CN" sz="1400" b="1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defTabSz="-635"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1200" b="1" kern="0" dirty="0">
                <a:solidFill>
                  <a:srgbClr val="007F1C"/>
                </a:solidFill>
                <a:latin typeface="Consolas" panose="020B0609020204030204" charset="0"/>
                <a:cs typeface="宋体" panose="02010600030101010101" pitchFamily="2" charset="-122"/>
              </a:rPr>
              <a:t>     * </a:t>
            </a:r>
            <a:r>
              <a:rPr lang="zh-CN" altLang="zh-CN" sz="1200" b="1" kern="0" dirty="0">
                <a:solidFill>
                  <a:srgbClr val="007F1C"/>
                </a:solidFill>
                <a:latin typeface="Consolas" panose="020B0609020204030204" charset="0"/>
                <a:cs typeface="宋体" panose="02010600030101010101" pitchFamily="2" charset="-122"/>
              </a:rPr>
              <a:t>分发猎金奖品</a:t>
            </a:r>
            <a:endParaRPr lang="zh-CN" altLang="zh-CN" sz="1400" b="1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defTabSz="-635"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1200" b="1" kern="0" dirty="0">
                <a:solidFill>
                  <a:srgbClr val="007F1C"/>
                </a:solidFill>
                <a:latin typeface="Consolas" panose="020B0609020204030204" charset="0"/>
                <a:cs typeface="宋体" panose="02010600030101010101" pitchFamily="2" charset="-122"/>
              </a:rPr>
              <a:t>     */</a:t>
            </a:r>
            <a:endParaRPr lang="zh-CN" altLang="zh-CN" sz="1400" b="1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defTabSz="-635"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1200" b="1" kern="0" dirty="0">
                <a:solidFill>
                  <a:srgbClr val="000000"/>
                </a:solidFill>
                <a:latin typeface="Consolas" panose="020B0609020204030204" charset="0"/>
                <a:cs typeface="宋体" panose="02010600030101010101" pitchFamily="2" charset="-122"/>
              </a:rPr>
              <a:t>    </a:t>
            </a:r>
            <a:r>
              <a:rPr lang="en-US" altLang="zh-CN" sz="1200" b="1" kern="0" dirty="0">
                <a:solidFill>
                  <a:srgbClr val="8F0055"/>
                </a:solidFill>
                <a:latin typeface="Consolas" panose="020B0609020204030204" charset="0"/>
                <a:cs typeface="宋体" panose="02010600030101010101" pitchFamily="2" charset="-122"/>
              </a:rPr>
              <a:t>public function</a:t>
            </a:r>
            <a:r>
              <a:rPr lang="en-US" altLang="zh-CN" sz="1200" b="1" kern="0" dirty="0">
                <a:solidFill>
                  <a:srgbClr val="000000"/>
                </a:solidFill>
                <a:latin typeface="Consolas" panose="020B0609020204030204" charset="0"/>
                <a:cs typeface="宋体" panose="02010600030101010101" pitchFamily="2" charset="-122"/>
              </a:rPr>
              <a:t> </a:t>
            </a:r>
            <a:r>
              <a:rPr lang="en-US" altLang="zh-CN" sz="1200" b="1" kern="0" dirty="0" err="1">
                <a:solidFill>
                  <a:srgbClr val="000000"/>
                </a:solidFill>
                <a:latin typeface="Consolas" panose="020B0609020204030204" charset="0"/>
                <a:cs typeface="宋体" panose="02010600030101010101" pitchFamily="2" charset="-122"/>
              </a:rPr>
              <a:t>giveOutLiejinPrizeStatus</a:t>
            </a:r>
            <a:r>
              <a:rPr lang="en-US" altLang="zh-CN" sz="1200" b="1" kern="0" dirty="0">
                <a:solidFill>
                  <a:srgbClr val="000000"/>
                </a:solidFill>
                <a:latin typeface="Consolas" panose="020B0609020204030204" charset="0"/>
                <a:cs typeface="宋体" panose="02010600030101010101" pitchFamily="2" charset="-122"/>
              </a:rPr>
              <a:t>(</a:t>
            </a:r>
            <a:r>
              <a:rPr lang="en-US" altLang="zh-CN" sz="1200" b="1" kern="0" dirty="0">
                <a:solidFill>
                  <a:srgbClr val="8F0055"/>
                </a:solidFill>
                <a:latin typeface="Consolas" panose="020B0609020204030204" charset="0"/>
                <a:cs typeface="宋体" panose="02010600030101010101" pitchFamily="2" charset="-122"/>
              </a:rPr>
              <a:t>$</a:t>
            </a:r>
            <a:r>
              <a:rPr lang="en-US" altLang="zh-CN" sz="1200" b="1" kern="0" dirty="0" err="1">
                <a:solidFill>
                  <a:srgbClr val="8F0055"/>
                </a:solidFill>
                <a:latin typeface="Consolas" panose="020B0609020204030204" charset="0"/>
                <a:cs typeface="宋体" panose="02010600030101010101" pitchFamily="2" charset="-122"/>
              </a:rPr>
              <a:t>userId</a:t>
            </a:r>
            <a:r>
              <a:rPr lang="en-US" altLang="zh-CN" sz="1200" b="1" kern="0" dirty="0">
                <a:solidFill>
                  <a:srgbClr val="000000"/>
                </a:solidFill>
                <a:latin typeface="Consolas" panose="020B0609020204030204" charset="0"/>
                <a:cs typeface="宋体" panose="02010600030101010101" pitchFamily="2" charset="-122"/>
              </a:rPr>
              <a:t>)</a:t>
            </a:r>
            <a:endParaRPr lang="zh-CN" altLang="zh-CN" sz="1400" b="1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defTabSz="-635"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1200" b="1" kern="0" dirty="0">
                <a:solidFill>
                  <a:srgbClr val="000000"/>
                </a:solidFill>
                <a:latin typeface="Consolas" panose="020B0609020204030204" charset="0"/>
                <a:cs typeface="宋体" panose="02010600030101010101" pitchFamily="2" charset="-122"/>
              </a:rPr>
              <a:t>    {</a:t>
            </a:r>
            <a:endParaRPr lang="zh-CN" altLang="zh-CN" sz="1400" b="1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defTabSz="-635"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1200" b="1" kern="0" dirty="0">
                <a:solidFill>
                  <a:srgbClr val="000000"/>
                </a:solidFill>
                <a:latin typeface="Consolas" panose="020B0609020204030204" charset="0"/>
                <a:cs typeface="宋体" panose="02010600030101010101" pitchFamily="2" charset="-122"/>
              </a:rPr>
              <a:t> </a:t>
            </a:r>
            <a:endParaRPr lang="zh-CN" altLang="zh-CN" sz="1400" b="1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defTabSz="-635"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1200" b="1" kern="0" dirty="0">
                <a:solidFill>
                  <a:srgbClr val="000000"/>
                </a:solidFill>
                <a:latin typeface="Consolas" panose="020B0609020204030204" charset="0"/>
                <a:cs typeface="宋体" panose="02010600030101010101" pitchFamily="2" charset="-122"/>
              </a:rPr>
              <a:t>    }</a:t>
            </a:r>
            <a:endParaRPr lang="zh-CN" altLang="zh-CN" sz="1400" b="1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defTabSz="-635"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1200" b="1" kern="0" dirty="0">
                <a:solidFill>
                  <a:srgbClr val="000000"/>
                </a:solidFill>
                <a:latin typeface="Consolas" panose="020B0609020204030204" charset="0"/>
                <a:cs typeface="宋体" panose="02010600030101010101" pitchFamily="2" charset="-122"/>
              </a:rPr>
              <a:t> </a:t>
            </a:r>
            <a:endParaRPr lang="zh-CN" altLang="zh-CN" sz="1400" b="1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defTabSz="-635"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1200" b="1" kern="0" dirty="0">
                <a:solidFill>
                  <a:srgbClr val="000000"/>
                </a:solidFill>
                <a:latin typeface="Consolas" panose="020B0609020204030204" charset="0"/>
                <a:cs typeface="宋体" panose="02010600030101010101" pitchFamily="2" charset="-122"/>
              </a:rPr>
              <a:t>    </a:t>
            </a:r>
            <a:r>
              <a:rPr lang="en-US" altLang="zh-CN" sz="1200" b="1" kern="0" dirty="0">
                <a:solidFill>
                  <a:srgbClr val="007F1C"/>
                </a:solidFill>
                <a:latin typeface="Consolas" panose="020B0609020204030204" charset="0"/>
                <a:cs typeface="宋体" panose="02010600030101010101" pitchFamily="2" charset="-122"/>
              </a:rPr>
              <a:t>/**</a:t>
            </a:r>
            <a:endParaRPr lang="zh-CN" altLang="zh-CN" sz="1400" b="1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defTabSz="-635"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1200" b="1" kern="0" dirty="0">
                <a:solidFill>
                  <a:srgbClr val="007F1C"/>
                </a:solidFill>
                <a:latin typeface="Consolas" panose="020B0609020204030204" charset="0"/>
                <a:cs typeface="宋体" panose="02010600030101010101" pitchFamily="2" charset="-122"/>
              </a:rPr>
              <a:t>     * </a:t>
            </a:r>
            <a:r>
              <a:rPr lang="zh-CN" altLang="zh-CN" sz="1200" b="1" kern="0" dirty="0">
                <a:solidFill>
                  <a:srgbClr val="007F1C"/>
                </a:solidFill>
                <a:latin typeface="Consolas" panose="020B0609020204030204" charset="0"/>
                <a:cs typeface="宋体" panose="02010600030101010101" pitchFamily="2" charset="-122"/>
              </a:rPr>
              <a:t>查询用户猎金奖品状态</a:t>
            </a:r>
            <a:endParaRPr lang="zh-CN" altLang="zh-CN" sz="1400" b="1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defTabSz="-635"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1200" b="1" kern="0" dirty="0">
                <a:solidFill>
                  <a:srgbClr val="007F1C"/>
                </a:solidFill>
                <a:latin typeface="Consolas" panose="020B0609020204030204" charset="0"/>
                <a:cs typeface="宋体" panose="02010600030101010101" pitchFamily="2" charset="-122"/>
              </a:rPr>
              <a:t>     */</a:t>
            </a:r>
            <a:endParaRPr lang="zh-CN" altLang="zh-CN" sz="1400" b="1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defTabSz="-635"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1200" b="1" kern="0" dirty="0">
                <a:solidFill>
                  <a:srgbClr val="000000"/>
                </a:solidFill>
                <a:latin typeface="Consolas" panose="020B0609020204030204" charset="0"/>
                <a:cs typeface="宋体" panose="02010600030101010101" pitchFamily="2" charset="-122"/>
              </a:rPr>
              <a:t>    </a:t>
            </a:r>
            <a:r>
              <a:rPr lang="en-US" altLang="zh-CN" sz="1200" b="1" kern="0" dirty="0">
                <a:solidFill>
                  <a:srgbClr val="8F0055"/>
                </a:solidFill>
                <a:latin typeface="Consolas" panose="020B0609020204030204" charset="0"/>
                <a:cs typeface="宋体" panose="02010600030101010101" pitchFamily="2" charset="-122"/>
              </a:rPr>
              <a:t>public function</a:t>
            </a:r>
            <a:r>
              <a:rPr lang="en-US" altLang="zh-CN" sz="1200" b="1" kern="0" dirty="0">
                <a:solidFill>
                  <a:srgbClr val="000000"/>
                </a:solidFill>
                <a:latin typeface="Consolas" panose="020B0609020204030204" charset="0"/>
                <a:cs typeface="宋体" panose="02010600030101010101" pitchFamily="2" charset="-122"/>
              </a:rPr>
              <a:t> </a:t>
            </a:r>
            <a:r>
              <a:rPr lang="en-US" altLang="zh-CN" sz="1200" b="1" kern="0" dirty="0" err="1">
                <a:solidFill>
                  <a:srgbClr val="000000"/>
                </a:solidFill>
                <a:latin typeface="Consolas" panose="020B0609020204030204" charset="0"/>
                <a:cs typeface="宋体" panose="02010600030101010101" pitchFamily="2" charset="-122"/>
              </a:rPr>
              <a:t>queryUserLiejinPrizeStatus</a:t>
            </a:r>
            <a:r>
              <a:rPr lang="en-US" altLang="zh-CN" sz="1200" b="1" kern="0" dirty="0">
                <a:solidFill>
                  <a:srgbClr val="000000"/>
                </a:solidFill>
                <a:latin typeface="Consolas" panose="020B0609020204030204" charset="0"/>
                <a:cs typeface="宋体" panose="02010600030101010101" pitchFamily="2" charset="-122"/>
              </a:rPr>
              <a:t>(</a:t>
            </a:r>
            <a:r>
              <a:rPr lang="en-US" altLang="zh-CN" sz="1200" b="1" kern="0" dirty="0">
                <a:solidFill>
                  <a:srgbClr val="8F0055"/>
                </a:solidFill>
                <a:latin typeface="Consolas" panose="020B0609020204030204" charset="0"/>
                <a:cs typeface="宋体" panose="02010600030101010101" pitchFamily="2" charset="-122"/>
              </a:rPr>
              <a:t>$</a:t>
            </a:r>
            <a:r>
              <a:rPr lang="en-US" altLang="zh-CN" sz="1200" b="1" kern="0" dirty="0" err="1">
                <a:solidFill>
                  <a:srgbClr val="8F0055"/>
                </a:solidFill>
                <a:latin typeface="Consolas" panose="020B0609020204030204" charset="0"/>
                <a:cs typeface="宋体" panose="02010600030101010101" pitchFamily="2" charset="-122"/>
              </a:rPr>
              <a:t>userId</a:t>
            </a:r>
            <a:r>
              <a:rPr lang="en-US" altLang="zh-CN" sz="1200" b="1" kern="0" dirty="0">
                <a:solidFill>
                  <a:srgbClr val="000000"/>
                </a:solidFill>
                <a:latin typeface="Consolas" panose="020B0609020204030204" charset="0"/>
                <a:cs typeface="宋体" panose="02010600030101010101" pitchFamily="2" charset="-122"/>
              </a:rPr>
              <a:t>)</a:t>
            </a:r>
            <a:endParaRPr lang="zh-CN" altLang="zh-CN" sz="1400" b="1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defTabSz="-635"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1200" b="1" kern="0" dirty="0">
                <a:solidFill>
                  <a:srgbClr val="000000"/>
                </a:solidFill>
                <a:latin typeface="Consolas" panose="020B0609020204030204" charset="0"/>
                <a:cs typeface="宋体" panose="02010600030101010101" pitchFamily="2" charset="-122"/>
              </a:rPr>
              <a:t>    {</a:t>
            </a:r>
            <a:endParaRPr lang="zh-CN" altLang="zh-CN" sz="1400" b="1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defTabSz="-635"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1200" b="1" kern="0" dirty="0">
                <a:solidFill>
                  <a:srgbClr val="000000"/>
                </a:solidFill>
                <a:latin typeface="Consolas" panose="020B0609020204030204" charset="0"/>
                <a:cs typeface="宋体" panose="02010600030101010101" pitchFamily="2" charset="-122"/>
              </a:rPr>
              <a:t> </a:t>
            </a:r>
            <a:endParaRPr lang="zh-CN" altLang="zh-CN" sz="1400" b="1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defTabSz="-635"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1200" b="1" kern="0" dirty="0">
                <a:solidFill>
                  <a:srgbClr val="000000"/>
                </a:solidFill>
                <a:latin typeface="Consolas" panose="020B0609020204030204" charset="0"/>
                <a:cs typeface="宋体" panose="02010600030101010101" pitchFamily="2" charset="-122"/>
              </a:rPr>
              <a:t>    }</a:t>
            </a:r>
            <a:endParaRPr lang="zh-CN" altLang="zh-CN" sz="1400" b="1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defTabSz="-635"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1200" b="1" kern="0" dirty="0">
                <a:solidFill>
                  <a:srgbClr val="000000"/>
                </a:solidFill>
                <a:latin typeface="Consolas" panose="020B0609020204030204" charset="0"/>
                <a:cs typeface="宋体" panose="02010600030101010101" pitchFamily="2" charset="-122"/>
              </a:rPr>
              <a:t> </a:t>
            </a:r>
            <a:endParaRPr lang="zh-CN" altLang="zh-CN" sz="1400" b="1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defTabSz="-635"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1200" b="1" kern="0" dirty="0">
                <a:solidFill>
                  <a:srgbClr val="000000"/>
                </a:solidFill>
                <a:latin typeface="Consolas" panose="020B0609020204030204" charset="0"/>
                <a:cs typeface="宋体" panose="02010600030101010101" pitchFamily="2" charset="-122"/>
              </a:rPr>
              <a:t>    </a:t>
            </a:r>
            <a:r>
              <a:rPr lang="en-US" altLang="zh-CN" sz="1200" b="1" kern="0" dirty="0">
                <a:solidFill>
                  <a:srgbClr val="007F1C"/>
                </a:solidFill>
                <a:latin typeface="Consolas" panose="020B0609020204030204" charset="0"/>
                <a:cs typeface="宋体" panose="02010600030101010101" pitchFamily="2" charset="-122"/>
              </a:rPr>
              <a:t>// </a:t>
            </a:r>
            <a:r>
              <a:rPr lang="zh-CN" altLang="zh-CN" sz="1200" b="1" kern="0" dirty="0">
                <a:solidFill>
                  <a:srgbClr val="007F1C"/>
                </a:solidFill>
                <a:latin typeface="Consolas" panose="020B0609020204030204" charset="0"/>
                <a:cs typeface="宋体" panose="02010600030101010101" pitchFamily="2" charset="-122"/>
              </a:rPr>
              <a:t>其他基金、期货等承接方也这样三个方法都来一遍</a:t>
            </a:r>
            <a:endParaRPr lang="zh-CN" altLang="zh-CN" sz="1400" b="1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defTabSz="-635"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1200" b="1" kern="0" dirty="0">
                <a:solidFill>
                  <a:srgbClr val="000000"/>
                </a:solidFill>
                <a:latin typeface="Consolas" panose="020B0609020204030204" charset="0"/>
                <a:cs typeface="宋体" panose="02010600030101010101" pitchFamily="2" charset="-122"/>
              </a:rPr>
              <a:t>    </a:t>
            </a:r>
            <a:r>
              <a:rPr lang="en-US" altLang="zh-CN" sz="1200" b="1" kern="0" dirty="0">
                <a:solidFill>
                  <a:srgbClr val="007F1C"/>
                </a:solidFill>
                <a:latin typeface="Consolas" panose="020B0609020204030204" charset="0"/>
                <a:cs typeface="宋体" panose="02010600030101010101" pitchFamily="2" charset="-122"/>
              </a:rPr>
              <a:t>// ...</a:t>
            </a:r>
            <a:endParaRPr lang="zh-CN" altLang="zh-CN" sz="1400" b="1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1200" b="1" kern="0" dirty="0">
                <a:solidFill>
                  <a:srgbClr val="000000"/>
                </a:solidFill>
                <a:latin typeface="Consolas" panose="020B0609020204030204" charset="0"/>
                <a:cs typeface="宋体" panose="02010600030101010101" pitchFamily="2" charset="-122"/>
              </a:rPr>
              <a:t>}</a:t>
            </a:r>
            <a:endParaRPr lang="zh-CN" altLang="zh-CN" sz="1400" b="1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9">
        <p:fade/>
      </p:transition>
    </mc:Choice>
    <mc:Fallback>
      <p:transition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/>
          <p:cNvGrpSpPr/>
          <p:nvPr/>
        </p:nvGrpSpPr>
        <p:grpSpPr>
          <a:xfrm>
            <a:off x="886327" y="591989"/>
            <a:ext cx="11086097" cy="0"/>
            <a:chOff x="1028775" y="591989"/>
            <a:chExt cx="11086097" cy="0"/>
          </a:xfrm>
        </p:grpSpPr>
        <p:cxnSp>
          <p:nvCxnSpPr>
            <p:cNvPr id="33" name="直接连接符 32"/>
            <p:cNvCxnSpPr/>
            <p:nvPr/>
          </p:nvCxnSpPr>
          <p:spPr>
            <a:xfrm>
              <a:off x="10287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>
              <a:off x="86106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文本框 2"/>
          <p:cNvSpPr txBox="1"/>
          <p:nvPr/>
        </p:nvSpPr>
        <p:spPr>
          <a:xfrm>
            <a:off x="3398520" y="2032149"/>
            <a:ext cx="6130290" cy="243143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indent="0" algn="l"/>
            <a:r>
              <a:rPr lang="en-US" altLang="zh-CN" sz="1600" b="1" u="none" dirty="0">
                <a:solidFill>
                  <a:schemeClr val="tx1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// </a:t>
            </a:r>
            <a:r>
              <a:rPr lang="zh-CN" altLang="en-US" sz="1600" b="1" u="none" dirty="0">
                <a:solidFill>
                  <a:schemeClr val="tx1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承接方接口</a:t>
            </a:r>
            <a:endParaRPr lang="zh-CN" altLang="en-US" sz="1800" b="1" u="none" dirty="0">
              <a:solidFill>
                <a:schemeClr val="tx1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600" b="0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interface</a:t>
            </a:r>
            <a:r>
              <a:rPr lang="en-US" altLang="zh-CN" sz="16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8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Support {</a:t>
            </a:r>
            <a:endParaRPr lang="en-US" altLang="zh-CN" sz="1800" b="0" u="none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8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// </a:t>
            </a:r>
            <a:r>
              <a:rPr lang="zh-CN" altLang="en-US" sz="18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确认资格</a:t>
            </a:r>
            <a:endParaRPr lang="en-US" altLang="zh-CN" sz="1800" b="0" u="none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r>
              <a:rPr lang="en-US" altLang="zh-CN" sz="16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600" b="0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public function</a:t>
            </a:r>
            <a:r>
              <a:rPr lang="en-US" altLang="zh-CN" sz="16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600" dirty="0" err="1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check</a:t>
            </a:r>
            <a:r>
              <a:rPr lang="en-US" altLang="zh-CN" sz="1600" dirty="0" err="1">
                <a:solidFill>
                  <a:srgbClr val="B38600"/>
                </a:solidFill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Qualifications</a:t>
            </a:r>
            <a:r>
              <a:rPr lang="en-US" altLang="zh-CN" sz="16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zh-CN" sz="1600" b="0" u="none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</a:t>
            </a:r>
            <a:r>
              <a:rPr lang="en-US" altLang="zh-CN" sz="1600" b="0" u="none" dirty="0" err="1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userId</a:t>
            </a:r>
            <a:r>
              <a:rPr lang="en-US" altLang="zh-CN" sz="18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);</a:t>
            </a:r>
            <a:endParaRPr lang="en-US" altLang="zh-CN" sz="1800" b="0" u="none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// </a:t>
            </a:r>
            <a:r>
              <a:rPr lang="zh-CN" alt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查询奖品状态</a:t>
            </a:r>
            <a:endParaRPr lang="en-US" altLang="zh-CN" sz="1800" b="0" u="none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r>
              <a:rPr lang="en-US" altLang="zh-CN" sz="16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600" b="0" u="none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public function</a:t>
            </a:r>
            <a:r>
              <a:rPr lang="en-US" altLang="zh-CN" sz="1600" b="0" u="none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zh-CN" sz="1600" b="0" u="none" dirty="0" err="1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queryStatus</a:t>
            </a:r>
            <a:r>
              <a:rPr lang="en-US" altLang="zh-CN" sz="16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zh-CN" sz="1600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</a:t>
            </a:r>
            <a:r>
              <a:rPr lang="en-US" altLang="zh-CN" sz="1600" dirty="0" err="1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userId</a:t>
            </a:r>
            <a:r>
              <a:rPr lang="en-US" altLang="zh-CN" sz="16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);</a:t>
            </a:r>
            <a:endParaRPr lang="en-US" altLang="zh-CN" sz="1600" b="0" u="none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// </a:t>
            </a:r>
            <a:r>
              <a:rPr lang="zh-CN" alt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奖品分发</a:t>
            </a:r>
            <a:endParaRPr lang="en-US" altLang="zh-CN" sz="1600" b="0" u="none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r>
              <a:rPr lang="en-US" altLang="zh-CN" sz="16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zh-CN" sz="1600" dirty="0">
                <a:solidFill>
                  <a:srgbClr val="5D1DA7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  <a:sym typeface="+mn-ea"/>
              </a:rPr>
              <a:t>public function</a:t>
            </a:r>
            <a:r>
              <a:rPr lang="en-US" altLang="zh-CN" sz="1600" dirty="0"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en-US" altLang="zh-CN" sz="1600" dirty="0" err="1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giveOut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zh-CN" sz="1600" dirty="0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$</a:t>
            </a:r>
            <a:r>
              <a:rPr lang="en-US" altLang="zh-CN" sz="1600" dirty="0" err="1">
                <a:solidFill>
                  <a:srgbClr val="B386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userId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  <a:sym typeface="+mn-ea"/>
              </a:rPr>
              <a:t>);</a:t>
            </a:r>
            <a:endParaRPr lang="en-US" altLang="zh-CN" sz="1600" b="0" u="none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  <a:p>
            <a:pPr marL="0" indent="0" algn="l"/>
            <a:r>
              <a:rPr lang="en-US" altLang="zh-CN" sz="1600" b="0" u="none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charset="0"/>
                <a:ea typeface="Consolas" panose="020B0609020204030204" charset="0"/>
                <a:cs typeface="Consolas" panose="020B0609020204030204" charset="0"/>
              </a:rPr>
              <a:t>}</a:t>
            </a:r>
            <a:endParaRPr lang="en-US" altLang="zh-CN" sz="1600" b="0" u="none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charset="0"/>
              <a:ea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569720" y="1017905"/>
            <a:ext cx="3923665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latin typeface="黑体" panose="02010609060101010101" charset="-122"/>
                <a:ea typeface="黑体" panose="02010609060101010101" charset="-122"/>
              </a:rPr>
              <a:t>接口定义</a:t>
            </a:r>
            <a:endParaRPr lang="zh-CN" altLang="en-US" sz="24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0" name="TextBox 8"/>
          <p:cNvSpPr txBox="1"/>
          <p:nvPr/>
        </p:nvSpPr>
        <p:spPr>
          <a:xfrm>
            <a:off x="4454798" y="233569"/>
            <a:ext cx="3949155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简单工厂模式</a:t>
            </a:r>
            <a:endParaRPr lang="zh-CN" altLang="en-US" sz="3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TextBox 8"/>
          <p:cNvSpPr txBox="1"/>
          <p:nvPr/>
        </p:nvSpPr>
        <p:spPr>
          <a:xfrm>
            <a:off x="5025514" y="743526"/>
            <a:ext cx="2876303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SIMPLE FACTORY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PATTERN</a:t>
            </a:r>
            <a:endParaRPr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9">
        <p:fade/>
      </p:transition>
    </mc:Choice>
    <mc:Fallback>
      <p:transition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/>
          <p:cNvGrpSpPr/>
          <p:nvPr/>
        </p:nvGrpSpPr>
        <p:grpSpPr>
          <a:xfrm>
            <a:off x="886327" y="591989"/>
            <a:ext cx="11086097" cy="0"/>
            <a:chOff x="1028775" y="591989"/>
            <a:chExt cx="11086097" cy="0"/>
          </a:xfrm>
        </p:grpSpPr>
        <p:cxnSp>
          <p:nvCxnSpPr>
            <p:cNvPr id="33" name="直接连接符 32"/>
            <p:cNvCxnSpPr/>
            <p:nvPr/>
          </p:nvCxnSpPr>
          <p:spPr>
            <a:xfrm>
              <a:off x="10287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>
              <a:off x="86106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Box 8"/>
          <p:cNvSpPr txBox="1"/>
          <p:nvPr/>
        </p:nvSpPr>
        <p:spPr>
          <a:xfrm>
            <a:off x="4454798" y="233569"/>
            <a:ext cx="3949155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简单工厂模式</a:t>
            </a:r>
            <a:endParaRPr lang="zh-CN" altLang="en-US" sz="3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" name="TextBox 8"/>
          <p:cNvSpPr txBox="1"/>
          <p:nvPr/>
        </p:nvSpPr>
        <p:spPr>
          <a:xfrm>
            <a:off x="5025514" y="743526"/>
            <a:ext cx="2876303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SIMPLE FACTORY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PATTERN</a:t>
            </a:r>
            <a:endParaRPr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629175" y="31842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3214688" y="1138724"/>
            <a:ext cx="6429375" cy="495520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kern="0" dirty="0">
                <a:solidFill>
                  <a:srgbClr val="007F1C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// </a:t>
            </a:r>
            <a:r>
              <a:rPr lang="zh-CN" altLang="zh-CN" kern="0" dirty="0">
                <a:solidFill>
                  <a:srgbClr val="007F1C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猎金承接方</a:t>
            </a:r>
            <a:endParaRPr lang="zh-CN" altLang="zh-CN" sz="20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altLang="zh-CN" kern="0" dirty="0">
                <a:solidFill>
                  <a:srgbClr val="8F0055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class</a:t>
            </a:r>
            <a:r>
              <a:rPr lang="en-US" altLang="zh-CN" kern="0" dirty="0">
                <a:solidFill>
                  <a:srgbClr val="0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 </a:t>
            </a:r>
            <a:r>
              <a:rPr lang="en-US" altLang="zh-CN" kern="0" dirty="0" err="1">
                <a:solidFill>
                  <a:srgbClr val="0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LiejinSupport</a:t>
            </a:r>
            <a:r>
              <a:rPr lang="en-US" altLang="zh-CN" kern="0" dirty="0">
                <a:solidFill>
                  <a:srgbClr val="0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 </a:t>
            </a:r>
            <a:r>
              <a:rPr lang="en-US" altLang="zh-CN" kern="0" dirty="0">
                <a:solidFill>
                  <a:srgbClr val="8F0055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implements</a:t>
            </a:r>
            <a:r>
              <a:rPr lang="en-US" altLang="zh-CN" kern="0" dirty="0">
                <a:solidFill>
                  <a:srgbClr val="0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 Support {</a:t>
            </a:r>
            <a:endParaRPr lang="zh-CN" altLang="zh-CN" sz="20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altLang="zh-CN" kern="0" dirty="0">
                <a:solidFill>
                  <a:srgbClr val="0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    </a:t>
            </a:r>
            <a:r>
              <a:rPr lang="en-US" altLang="zh-CN" kern="0" dirty="0">
                <a:solidFill>
                  <a:srgbClr val="8F0055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public function</a:t>
            </a:r>
            <a:r>
              <a:rPr lang="en-US" altLang="zh-CN" kern="0" dirty="0">
                <a:solidFill>
                  <a:srgbClr val="0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 </a:t>
            </a:r>
            <a:r>
              <a:rPr lang="en-US" altLang="zh-CN" kern="0" dirty="0" err="1">
                <a:solidFill>
                  <a:srgbClr val="0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queryStatus</a:t>
            </a:r>
            <a:r>
              <a:rPr lang="en-US" altLang="zh-CN" kern="0" dirty="0">
                <a:solidFill>
                  <a:srgbClr val="0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(</a:t>
            </a:r>
            <a:r>
              <a:rPr lang="en-US" altLang="zh-CN" kern="0" dirty="0">
                <a:solidFill>
                  <a:srgbClr val="8F0055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$</a:t>
            </a:r>
            <a:r>
              <a:rPr lang="en-US" altLang="zh-CN" kern="0" dirty="0" err="1">
                <a:solidFill>
                  <a:srgbClr val="8F0055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userId</a:t>
            </a:r>
            <a:r>
              <a:rPr lang="en-US" altLang="zh-CN" kern="0" dirty="0">
                <a:solidFill>
                  <a:srgbClr val="0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) { ... }</a:t>
            </a:r>
            <a:endParaRPr lang="zh-CN" altLang="zh-CN" sz="20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altLang="zh-CN" kern="0" dirty="0">
                <a:solidFill>
                  <a:srgbClr val="0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    </a:t>
            </a:r>
            <a:r>
              <a:rPr lang="en-US" altLang="zh-CN" kern="0" dirty="0">
                <a:solidFill>
                  <a:srgbClr val="8F0055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public function</a:t>
            </a:r>
            <a:r>
              <a:rPr lang="en-US" altLang="zh-CN" kern="0" dirty="0">
                <a:solidFill>
                  <a:srgbClr val="0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 </a:t>
            </a:r>
            <a:r>
              <a:rPr lang="en-US" altLang="zh-CN" kern="0" dirty="0" err="1">
                <a:solidFill>
                  <a:srgbClr val="0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checkQualifications</a:t>
            </a:r>
            <a:r>
              <a:rPr lang="en-US" altLang="zh-CN" kern="0" dirty="0">
                <a:solidFill>
                  <a:srgbClr val="0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(</a:t>
            </a:r>
            <a:r>
              <a:rPr lang="en-US" altLang="zh-CN" kern="0" dirty="0">
                <a:solidFill>
                  <a:srgbClr val="8F0055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$</a:t>
            </a:r>
            <a:r>
              <a:rPr lang="en-US" altLang="zh-CN" kern="0" dirty="0" err="1">
                <a:solidFill>
                  <a:srgbClr val="8F0055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userId</a:t>
            </a:r>
            <a:r>
              <a:rPr lang="en-US" altLang="zh-CN" kern="0" dirty="0">
                <a:solidFill>
                  <a:srgbClr val="0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) { ... }</a:t>
            </a:r>
            <a:endParaRPr lang="zh-CN" altLang="zh-CN" sz="20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altLang="zh-CN" kern="0" dirty="0">
                <a:solidFill>
                  <a:srgbClr val="0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    </a:t>
            </a:r>
            <a:r>
              <a:rPr lang="en-US" altLang="zh-CN" kern="0" dirty="0">
                <a:solidFill>
                  <a:srgbClr val="8F0055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public function</a:t>
            </a:r>
            <a:r>
              <a:rPr lang="en-US" altLang="zh-CN" kern="0" dirty="0">
                <a:solidFill>
                  <a:srgbClr val="0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 </a:t>
            </a:r>
            <a:r>
              <a:rPr lang="en-US" altLang="zh-CN" kern="0" dirty="0" err="1">
                <a:solidFill>
                  <a:srgbClr val="0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giveOut</a:t>
            </a:r>
            <a:r>
              <a:rPr lang="en-US" altLang="zh-CN" kern="0" dirty="0">
                <a:solidFill>
                  <a:srgbClr val="0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(</a:t>
            </a:r>
            <a:r>
              <a:rPr lang="en-US" altLang="zh-CN" kern="0" dirty="0">
                <a:solidFill>
                  <a:srgbClr val="8F0055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$</a:t>
            </a:r>
            <a:r>
              <a:rPr lang="en-US" altLang="zh-CN" kern="0" dirty="0" err="1">
                <a:solidFill>
                  <a:srgbClr val="8F0055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userId</a:t>
            </a:r>
            <a:r>
              <a:rPr lang="en-US" altLang="zh-CN" kern="0" dirty="0">
                <a:solidFill>
                  <a:srgbClr val="0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) { ... }</a:t>
            </a:r>
            <a:endParaRPr lang="zh-CN" altLang="zh-CN" sz="20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altLang="zh-CN" kern="0" dirty="0">
                <a:solidFill>
                  <a:srgbClr val="0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}</a:t>
            </a:r>
            <a:endParaRPr lang="zh-CN" altLang="zh-CN" sz="20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altLang="zh-CN" kern="0" dirty="0">
                <a:solidFill>
                  <a:srgbClr val="007F1C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// </a:t>
            </a:r>
            <a:r>
              <a:rPr lang="zh-CN" altLang="zh-CN" kern="0" dirty="0">
                <a:solidFill>
                  <a:srgbClr val="007F1C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开户承接方</a:t>
            </a:r>
            <a:endParaRPr lang="zh-CN" altLang="zh-CN" sz="20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altLang="zh-CN" kern="0" dirty="0">
                <a:solidFill>
                  <a:srgbClr val="8F0055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class</a:t>
            </a:r>
            <a:r>
              <a:rPr lang="en-US" altLang="zh-CN" kern="0" dirty="0">
                <a:solidFill>
                  <a:srgbClr val="0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 </a:t>
            </a:r>
            <a:r>
              <a:rPr lang="en-US" altLang="zh-CN" kern="0" dirty="0" err="1">
                <a:solidFill>
                  <a:srgbClr val="0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KHSupport</a:t>
            </a:r>
            <a:r>
              <a:rPr lang="en-US" altLang="zh-CN" kern="0" dirty="0">
                <a:solidFill>
                  <a:srgbClr val="0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 </a:t>
            </a:r>
            <a:r>
              <a:rPr lang="en-US" altLang="zh-CN" kern="0" dirty="0">
                <a:solidFill>
                  <a:srgbClr val="8F0055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implements</a:t>
            </a:r>
            <a:r>
              <a:rPr lang="en-US" altLang="zh-CN" kern="0" dirty="0">
                <a:solidFill>
                  <a:srgbClr val="0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 Support {</a:t>
            </a:r>
            <a:endParaRPr lang="zh-CN" altLang="zh-CN" sz="20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altLang="zh-CN" kern="0" dirty="0">
                <a:solidFill>
                  <a:srgbClr val="0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    </a:t>
            </a:r>
            <a:r>
              <a:rPr lang="en-US" altLang="zh-CN" kern="0" dirty="0">
                <a:solidFill>
                  <a:srgbClr val="8F0055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public function</a:t>
            </a:r>
            <a:r>
              <a:rPr lang="en-US" altLang="zh-CN" kern="0" dirty="0">
                <a:solidFill>
                  <a:srgbClr val="0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 </a:t>
            </a:r>
            <a:r>
              <a:rPr lang="en-US" altLang="zh-CN" kern="0" dirty="0" err="1">
                <a:solidFill>
                  <a:srgbClr val="0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queryStatus</a:t>
            </a:r>
            <a:r>
              <a:rPr lang="en-US" altLang="zh-CN" kern="0" dirty="0">
                <a:solidFill>
                  <a:srgbClr val="0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(</a:t>
            </a:r>
            <a:r>
              <a:rPr lang="en-US" altLang="zh-CN" kern="0" dirty="0">
                <a:solidFill>
                  <a:srgbClr val="8F0055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$</a:t>
            </a:r>
            <a:r>
              <a:rPr lang="en-US" altLang="zh-CN" kern="0" dirty="0" err="1">
                <a:solidFill>
                  <a:srgbClr val="8F0055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userId</a:t>
            </a:r>
            <a:r>
              <a:rPr lang="en-US" altLang="zh-CN" kern="0" dirty="0">
                <a:solidFill>
                  <a:srgbClr val="0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) { ... }</a:t>
            </a:r>
            <a:endParaRPr lang="zh-CN" altLang="zh-CN" sz="20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altLang="zh-CN" kern="0" dirty="0">
                <a:solidFill>
                  <a:srgbClr val="0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    </a:t>
            </a:r>
            <a:r>
              <a:rPr lang="en-US" altLang="zh-CN" kern="0" dirty="0">
                <a:solidFill>
                  <a:srgbClr val="8F0055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public function</a:t>
            </a:r>
            <a:r>
              <a:rPr lang="en-US" altLang="zh-CN" kern="0" dirty="0">
                <a:solidFill>
                  <a:srgbClr val="0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 </a:t>
            </a:r>
            <a:r>
              <a:rPr lang="en-US" altLang="zh-CN" kern="0" dirty="0" err="1">
                <a:solidFill>
                  <a:srgbClr val="0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checkQualifications</a:t>
            </a:r>
            <a:r>
              <a:rPr lang="en-US" altLang="zh-CN" kern="0" dirty="0">
                <a:solidFill>
                  <a:srgbClr val="0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(</a:t>
            </a:r>
            <a:r>
              <a:rPr lang="en-US" altLang="zh-CN" kern="0" dirty="0">
                <a:solidFill>
                  <a:srgbClr val="8F0055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$</a:t>
            </a:r>
            <a:r>
              <a:rPr lang="en-US" altLang="zh-CN" kern="0" dirty="0" err="1">
                <a:solidFill>
                  <a:srgbClr val="8F0055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userId</a:t>
            </a:r>
            <a:r>
              <a:rPr lang="en-US" altLang="zh-CN" kern="0" dirty="0">
                <a:solidFill>
                  <a:srgbClr val="0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) { ... }</a:t>
            </a:r>
            <a:endParaRPr lang="zh-CN" altLang="zh-CN" sz="20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altLang="zh-CN" kern="0" dirty="0">
                <a:solidFill>
                  <a:srgbClr val="0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    </a:t>
            </a:r>
            <a:r>
              <a:rPr lang="en-US" altLang="zh-CN" kern="0" dirty="0">
                <a:solidFill>
                  <a:srgbClr val="8F0055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public function</a:t>
            </a:r>
            <a:r>
              <a:rPr lang="en-US" altLang="zh-CN" kern="0" dirty="0">
                <a:solidFill>
                  <a:srgbClr val="0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 </a:t>
            </a:r>
            <a:r>
              <a:rPr lang="en-US" altLang="zh-CN" kern="0" dirty="0" err="1">
                <a:solidFill>
                  <a:srgbClr val="0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giveOut</a:t>
            </a:r>
            <a:r>
              <a:rPr lang="en-US" altLang="zh-CN" kern="0" dirty="0">
                <a:solidFill>
                  <a:srgbClr val="0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(</a:t>
            </a:r>
            <a:r>
              <a:rPr lang="en-US" altLang="zh-CN" kern="0" dirty="0">
                <a:solidFill>
                  <a:srgbClr val="8F0055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$</a:t>
            </a:r>
            <a:r>
              <a:rPr lang="en-US" altLang="zh-CN" kern="0" dirty="0" err="1">
                <a:solidFill>
                  <a:srgbClr val="8F0055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userId</a:t>
            </a:r>
            <a:r>
              <a:rPr lang="en-US" altLang="zh-CN" kern="0" dirty="0">
                <a:solidFill>
                  <a:srgbClr val="0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) { ... }</a:t>
            </a:r>
            <a:endParaRPr lang="zh-CN" altLang="zh-CN" sz="20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altLang="zh-CN" kern="0" dirty="0">
                <a:solidFill>
                  <a:srgbClr val="0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}</a:t>
            </a:r>
            <a:endParaRPr lang="zh-CN" altLang="zh-CN" sz="20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altLang="zh-CN" kern="0" dirty="0"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 </a:t>
            </a:r>
            <a:endParaRPr lang="zh-CN" altLang="zh-CN" sz="20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altLang="zh-CN" kern="0" dirty="0">
                <a:solidFill>
                  <a:srgbClr val="007F1C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// .. </a:t>
            </a:r>
            <a:r>
              <a:rPr lang="zh-CN" altLang="zh-CN" kern="0" dirty="0">
                <a:solidFill>
                  <a:srgbClr val="007F1C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其他期货等承接方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9">
        <p:fade/>
      </p:transition>
    </mc:Choice>
    <mc:Fallback>
      <p:transition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/>
          <p:cNvGrpSpPr/>
          <p:nvPr/>
        </p:nvGrpSpPr>
        <p:grpSpPr>
          <a:xfrm>
            <a:off x="886327" y="591989"/>
            <a:ext cx="11086097" cy="0"/>
            <a:chOff x="1028775" y="591989"/>
            <a:chExt cx="11086097" cy="0"/>
          </a:xfrm>
        </p:grpSpPr>
        <p:cxnSp>
          <p:nvCxnSpPr>
            <p:cNvPr id="33" name="直接连接符 32"/>
            <p:cNvCxnSpPr/>
            <p:nvPr/>
          </p:nvCxnSpPr>
          <p:spPr>
            <a:xfrm>
              <a:off x="10287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>
              <a:off x="86106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矩形 3"/>
          <p:cNvSpPr/>
          <p:nvPr/>
        </p:nvSpPr>
        <p:spPr>
          <a:xfrm>
            <a:off x="886328" y="1110451"/>
            <a:ext cx="5975096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sz="1500" kern="0" dirty="0">
                <a:solidFill>
                  <a:srgbClr val="8F0055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// </a:t>
            </a:r>
            <a:r>
              <a:rPr lang="zh-CN" altLang="en-US" sz="1500" kern="0" dirty="0">
                <a:solidFill>
                  <a:srgbClr val="8F0055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赠送奖品</a:t>
            </a:r>
            <a:endParaRPr lang="en-US" altLang="zh-CN" sz="1500" kern="0" dirty="0">
              <a:solidFill>
                <a:srgbClr val="8F0055"/>
              </a:solidFill>
              <a:latin typeface="Consolas" panose="020B0609020204030204" charset="0"/>
              <a:ea typeface="等线" panose="02010600030101010101" pitchFamily="2" charset="-122"/>
              <a:cs typeface="Consolas" panose="020B0609020204030204" charset="0"/>
            </a:endParaRPr>
          </a:p>
          <a:p>
            <a:pPr>
              <a:spcAft>
                <a:spcPts val="0"/>
              </a:spcAft>
            </a:pPr>
            <a:r>
              <a:rPr lang="en-US" altLang="zh-CN" sz="1500" kern="0" dirty="0">
                <a:solidFill>
                  <a:srgbClr val="8F0055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if</a:t>
            </a:r>
            <a:r>
              <a:rPr lang="en-US" altLang="zh-CN" sz="1500" kern="0" dirty="0">
                <a:solidFill>
                  <a:srgbClr val="0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 (</a:t>
            </a:r>
            <a:r>
              <a:rPr lang="en-US" altLang="zh-CN" sz="1500" kern="0" dirty="0">
                <a:solidFill>
                  <a:srgbClr val="8F0055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$prize</a:t>
            </a:r>
            <a:r>
              <a:rPr lang="en-US" altLang="zh-CN" sz="1500" kern="0" dirty="0">
                <a:solidFill>
                  <a:srgbClr val="0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 == </a:t>
            </a:r>
            <a:r>
              <a:rPr lang="en-US" altLang="zh-CN" sz="1500" kern="0" dirty="0">
                <a:solidFill>
                  <a:srgbClr val="C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"</a:t>
            </a:r>
            <a:r>
              <a:rPr lang="en-US" altLang="zh-CN" sz="1500" kern="0" dirty="0" err="1">
                <a:solidFill>
                  <a:srgbClr val="C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liejin</a:t>
            </a:r>
            <a:r>
              <a:rPr lang="en-US" altLang="zh-CN" sz="1500" kern="0" dirty="0">
                <a:solidFill>
                  <a:srgbClr val="C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"</a:t>
            </a:r>
            <a:r>
              <a:rPr lang="en-US" altLang="zh-CN" sz="1500" kern="0" dirty="0">
                <a:solidFill>
                  <a:srgbClr val="0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) {</a:t>
            </a:r>
            <a:endParaRPr lang="zh-CN" altLang="zh-CN" sz="15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altLang="zh-CN" sz="1500" kern="0" dirty="0">
                <a:solidFill>
                  <a:srgbClr val="0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    </a:t>
            </a:r>
            <a:r>
              <a:rPr lang="en-US" altLang="zh-CN" sz="1500" kern="0" dirty="0">
                <a:solidFill>
                  <a:srgbClr val="8F0055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$</a:t>
            </a:r>
            <a:r>
              <a:rPr lang="en-US" altLang="zh-CN" sz="1500" kern="0" dirty="0" err="1">
                <a:solidFill>
                  <a:srgbClr val="8F0055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liejinSupport</a:t>
            </a:r>
            <a:r>
              <a:rPr lang="en-US" altLang="zh-CN" sz="1500" kern="0" dirty="0">
                <a:solidFill>
                  <a:srgbClr val="0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 = </a:t>
            </a:r>
            <a:r>
              <a:rPr lang="en-US" altLang="zh-CN" sz="1500" kern="0" dirty="0">
                <a:solidFill>
                  <a:srgbClr val="8F0055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new</a:t>
            </a:r>
            <a:r>
              <a:rPr lang="en-US" altLang="zh-CN" sz="1500" kern="0" dirty="0">
                <a:solidFill>
                  <a:srgbClr val="0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 </a:t>
            </a:r>
            <a:r>
              <a:rPr lang="en-US" altLang="zh-CN" sz="1500" kern="0" dirty="0" err="1">
                <a:solidFill>
                  <a:srgbClr val="0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LiejinSupport</a:t>
            </a:r>
            <a:r>
              <a:rPr lang="en-US" altLang="zh-CN" sz="1500" kern="0" dirty="0">
                <a:solidFill>
                  <a:srgbClr val="0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();</a:t>
            </a:r>
            <a:endParaRPr lang="zh-CN" altLang="zh-CN" sz="15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altLang="zh-CN" sz="1500" kern="0" dirty="0">
                <a:solidFill>
                  <a:srgbClr val="0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    </a:t>
            </a:r>
            <a:r>
              <a:rPr lang="en-US" altLang="zh-CN" sz="1500" kern="0" dirty="0">
                <a:solidFill>
                  <a:srgbClr val="8F0055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if</a:t>
            </a:r>
            <a:r>
              <a:rPr lang="en-US" altLang="zh-CN" sz="1500" kern="0" dirty="0">
                <a:solidFill>
                  <a:srgbClr val="0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 (</a:t>
            </a:r>
            <a:r>
              <a:rPr lang="en-US" altLang="zh-CN" sz="1500" kern="0" dirty="0">
                <a:solidFill>
                  <a:srgbClr val="8F0055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$</a:t>
            </a:r>
            <a:r>
              <a:rPr lang="en-US" altLang="zh-CN" sz="1500" kern="0" dirty="0" err="1">
                <a:solidFill>
                  <a:srgbClr val="8F0055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liejinSupport</a:t>
            </a:r>
            <a:r>
              <a:rPr lang="en-US" altLang="zh-CN" sz="1500" kern="0" dirty="0">
                <a:solidFill>
                  <a:srgbClr val="8F0055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-&gt;</a:t>
            </a:r>
            <a:r>
              <a:rPr lang="en-US" altLang="zh-CN" sz="1500" kern="0" dirty="0" err="1">
                <a:solidFill>
                  <a:srgbClr val="8F0055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checkQualifications</a:t>
            </a:r>
            <a:r>
              <a:rPr lang="en-US" altLang="zh-CN" sz="1500" kern="0" dirty="0">
                <a:solidFill>
                  <a:srgbClr val="0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(</a:t>
            </a:r>
            <a:r>
              <a:rPr lang="en-US" altLang="zh-CN" sz="1500" kern="0" dirty="0">
                <a:solidFill>
                  <a:srgbClr val="8F0055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$</a:t>
            </a:r>
            <a:r>
              <a:rPr lang="en-US" altLang="zh-CN" sz="1500" kern="0" dirty="0" err="1">
                <a:solidFill>
                  <a:srgbClr val="8F0055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userId</a:t>
            </a:r>
            <a:r>
              <a:rPr lang="en-US" altLang="zh-CN" sz="1500" kern="0" dirty="0">
                <a:solidFill>
                  <a:srgbClr val="0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)) {</a:t>
            </a:r>
            <a:endParaRPr lang="zh-CN" altLang="zh-CN" sz="15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altLang="zh-CN" sz="1500" kern="0" dirty="0">
                <a:solidFill>
                  <a:srgbClr val="0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        </a:t>
            </a:r>
            <a:r>
              <a:rPr lang="en-US" altLang="zh-CN" sz="1500" kern="0" dirty="0">
                <a:solidFill>
                  <a:srgbClr val="8F0055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$</a:t>
            </a:r>
            <a:r>
              <a:rPr lang="en-US" altLang="zh-CN" sz="1500" kern="0" dirty="0" err="1">
                <a:solidFill>
                  <a:srgbClr val="8F0055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liejinSupport</a:t>
            </a:r>
            <a:r>
              <a:rPr lang="en-US" altLang="zh-CN" sz="1500" kern="0" dirty="0">
                <a:solidFill>
                  <a:srgbClr val="8F0055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-&gt;</a:t>
            </a:r>
            <a:r>
              <a:rPr lang="en-US" altLang="zh-CN" sz="1500" kern="0" dirty="0" err="1">
                <a:solidFill>
                  <a:srgbClr val="8F0055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giveOut</a:t>
            </a:r>
            <a:r>
              <a:rPr lang="en-US" altLang="zh-CN" sz="1500" kern="0" dirty="0">
                <a:solidFill>
                  <a:srgbClr val="0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(</a:t>
            </a:r>
            <a:r>
              <a:rPr lang="en-US" altLang="zh-CN" sz="1500" kern="0" dirty="0">
                <a:solidFill>
                  <a:srgbClr val="8F0055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$</a:t>
            </a:r>
            <a:r>
              <a:rPr lang="en-US" altLang="zh-CN" sz="1500" kern="0" dirty="0" err="1">
                <a:solidFill>
                  <a:srgbClr val="8F0055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userId</a:t>
            </a:r>
            <a:r>
              <a:rPr lang="en-US" altLang="zh-CN" sz="1500" kern="0" dirty="0">
                <a:solidFill>
                  <a:srgbClr val="0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);</a:t>
            </a:r>
            <a:endParaRPr lang="zh-CN" altLang="zh-CN" sz="15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altLang="zh-CN" sz="1500" kern="0" dirty="0">
                <a:solidFill>
                  <a:srgbClr val="0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    }</a:t>
            </a:r>
            <a:endParaRPr lang="zh-CN" altLang="zh-CN" sz="15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altLang="zh-CN" sz="1500" kern="0" dirty="0">
                <a:solidFill>
                  <a:srgbClr val="0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} </a:t>
            </a:r>
            <a:r>
              <a:rPr lang="en-US" altLang="zh-CN" sz="1500" kern="0" dirty="0">
                <a:solidFill>
                  <a:srgbClr val="8F0055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elseif</a:t>
            </a:r>
            <a:r>
              <a:rPr lang="en-US" altLang="zh-CN" sz="1500" kern="0" dirty="0">
                <a:solidFill>
                  <a:srgbClr val="0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 (</a:t>
            </a:r>
            <a:r>
              <a:rPr lang="en-US" altLang="zh-CN" sz="1500" kern="0" dirty="0">
                <a:solidFill>
                  <a:srgbClr val="8F0055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$prize</a:t>
            </a:r>
            <a:r>
              <a:rPr lang="en-US" altLang="zh-CN" sz="1500" kern="0" dirty="0">
                <a:solidFill>
                  <a:srgbClr val="0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 == </a:t>
            </a:r>
            <a:r>
              <a:rPr lang="en-US" altLang="zh-CN" sz="1500" kern="0" dirty="0">
                <a:solidFill>
                  <a:srgbClr val="C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"</a:t>
            </a:r>
            <a:r>
              <a:rPr lang="en-US" altLang="zh-CN" sz="1500" kern="0" dirty="0" err="1">
                <a:solidFill>
                  <a:srgbClr val="C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kh</a:t>
            </a:r>
            <a:r>
              <a:rPr lang="en-US" altLang="zh-CN" sz="1500" kern="0" dirty="0">
                <a:solidFill>
                  <a:srgbClr val="C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"</a:t>
            </a:r>
            <a:r>
              <a:rPr lang="en-US" altLang="zh-CN" sz="1500" kern="0" dirty="0">
                <a:solidFill>
                  <a:srgbClr val="0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) {</a:t>
            </a:r>
            <a:endParaRPr lang="zh-CN" altLang="zh-CN" sz="15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altLang="zh-CN" sz="1500" kern="0" dirty="0">
                <a:solidFill>
                  <a:srgbClr val="0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    </a:t>
            </a:r>
            <a:r>
              <a:rPr lang="en-US" altLang="zh-CN" sz="1500" kern="0" dirty="0">
                <a:solidFill>
                  <a:srgbClr val="8F0055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$</a:t>
            </a:r>
            <a:r>
              <a:rPr lang="en-US" altLang="zh-CN" sz="1500" kern="0" dirty="0" err="1">
                <a:solidFill>
                  <a:srgbClr val="8F0055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khSupport</a:t>
            </a:r>
            <a:r>
              <a:rPr lang="en-US" altLang="zh-CN" sz="1500" kern="0" dirty="0">
                <a:solidFill>
                  <a:srgbClr val="0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 = </a:t>
            </a:r>
            <a:r>
              <a:rPr lang="en-US" altLang="zh-CN" sz="1500" kern="0" dirty="0">
                <a:solidFill>
                  <a:srgbClr val="8F0055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new</a:t>
            </a:r>
            <a:r>
              <a:rPr lang="en-US" altLang="zh-CN" sz="1500" kern="0" dirty="0">
                <a:solidFill>
                  <a:srgbClr val="0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 </a:t>
            </a:r>
            <a:r>
              <a:rPr lang="en-US" altLang="zh-CN" sz="1500" kern="0" dirty="0" err="1">
                <a:solidFill>
                  <a:srgbClr val="0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KHSupport</a:t>
            </a:r>
            <a:r>
              <a:rPr lang="en-US" altLang="zh-CN" sz="1500" kern="0" dirty="0">
                <a:solidFill>
                  <a:srgbClr val="0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();</a:t>
            </a:r>
            <a:endParaRPr lang="zh-CN" altLang="zh-CN" sz="15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altLang="zh-CN" sz="1500" kern="0" dirty="0">
                <a:solidFill>
                  <a:srgbClr val="0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    </a:t>
            </a:r>
            <a:r>
              <a:rPr lang="en-US" altLang="zh-CN" sz="1500" kern="0" dirty="0">
                <a:solidFill>
                  <a:srgbClr val="8F0055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if</a:t>
            </a:r>
            <a:r>
              <a:rPr lang="en-US" altLang="zh-CN" sz="1500" kern="0" dirty="0">
                <a:solidFill>
                  <a:srgbClr val="0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 (</a:t>
            </a:r>
            <a:r>
              <a:rPr lang="en-US" altLang="zh-CN" sz="1500" kern="0" dirty="0">
                <a:solidFill>
                  <a:srgbClr val="8F0055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$</a:t>
            </a:r>
            <a:r>
              <a:rPr lang="en-US" altLang="zh-CN" sz="1500" kern="0" dirty="0" err="1">
                <a:solidFill>
                  <a:srgbClr val="8F0055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khSupport</a:t>
            </a:r>
            <a:r>
              <a:rPr lang="en-US" altLang="zh-CN" sz="1500" kern="0" dirty="0">
                <a:solidFill>
                  <a:srgbClr val="8F0055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-&gt;</a:t>
            </a:r>
            <a:r>
              <a:rPr lang="en-US" altLang="zh-CN" sz="1500" kern="0" dirty="0" err="1">
                <a:solidFill>
                  <a:srgbClr val="8F0055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checkQualifications</a:t>
            </a:r>
            <a:r>
              <a:rPr lang="en-US" altLang="zh-CN" sz="1500" kern="0" dirty="0">
                <a:solidFill>
                  <a:srgbClr val="0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(</a:t>
            </a:r>
            <a:r>
              <a:rPr lang="en-US" altLang="zh-CN" sz="1500" kern="0" dirty="0">
                <a:solidFill>
                  <a:srgbClr val="8F0055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$</a:t>
            </a:r>
            <a:r>
              <a:rPr lang="en-US" altLang="zh-CN" sz="1500" kern="0" dirty="0" err="1">
                <a:solidFill>
                  <a:srgbClr val="8F0055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userId</a:t>
            </a:r>
            <a:r>
              <a:rPr lang="en-US" altLang="zh-CN" sz="1500" kern="0" dirty="0">
                <a:solidFill>
                  <a:srgbClr val="0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)) {</a:t>
            </a:r>
            <a:endParaRPr lang="zh-CN" altLang="zh-CN" sz="15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altLang="zh-CN" sz="1500" kern="0" dirty="0">
                <a:solidFill>
                  <a:srgbClr val="0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        </a:t>
            </a:r>
            <a:r>
              <a:rPr lang="en-US" altLang="zh-CN" sz="1500" kern="0" dirty="0">
                <a:solidFill>
                  <a:srgbClr val="8F0055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$</a:t>
            </a:r>
            <a:r>
              <a:rPr lang="en-US" altLang="zh-CN" sz="1500" kern="0" dirty="0" err="1">
                <a:solidFill>
                  <a:srgbClr val="8F0055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khSupport</a:t>
            </a:r>
            <a:r>
              <a:rPr lang="en-US" altLang="zh-CN" sz="1500" kern="0" dirty="0">
                <a:solidFill>
                  <a:srgbClr val="8F0055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-&gt;</a:t>
            </a:r>
            <a:r>
              <a:rPr lang="en-US" altLang="zh-CN" sz="1500" kern="0" dirty="0" err="1">
                <a:solidFill>
                  <a:srgbClr val="8F0055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giveOut</a:t>
            </a:r>
            <a:r>
              <a:rPr lang="en-US" altLang="zh-CN" sz="1500" kern="0" dirty="0">
                <a:solidFill>
                  <a:srgbClr val="0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(</a:t>
            </a:r>
            <a:r>
              <a:rPr lang="en-US" altLang="zh-CN" sz="1500" kern="0" dirty="0">
                <a:solidFill>
                  <a:srgbClr val="8F0055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$</a:t>
            </a:r>
            <a:r>
              <a:rPr lang="en-US" altLang="zh-CN" sz="1500" kern="0" dirty="0" err="1">
                <a:solidFill>
                  <a:srgbClr val="8F0055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userId</a:t>
            </a:r>
            <a:r>
              <a:rPr lang="en-US" altLang="zh-CN" sz="1500" kern="0" dirty="0">
                <a:solidFill>
                  <a:srgbClr val="0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);</a:t>
            </a:r>
            <a:endParaRPr lang="zh-CN" altLang="zh-CN" sz="15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altLang="zh-CN" sz="1500" kern="0" dirty="0">
                <a:solidFill>
                  <a:srgbClr val="0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    }</a:t>
            </a:r>
            <a:endParaRPr lang="zh-CN" altLang="zh-CN" sz="15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altLang="zh-CN" sz="1500" kern="0" dirty="0">
                <a:solidFill>
                  <a:srgbClr val="0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} </a:t>
            </a:r>
            <a:r>
              <a:rPr lang="en-US" altLang="zh-CN" sz="1500" kern="0" dirty="0">
                <a:solidFill>
                  <a:srgbClr val="8F0055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elseif</a:t>
            </a:r>
            <a:r>
              <a:rPr lang="en-US" altLang="zh-CN" sz="1500" kern="0" dirty="0">
                <a:solidFill>
                  <a:srgbClr val="0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 (...) {</a:t>
            </a:r>
            <a:endParaRPr lang="zh-CN" altLang="zh-CN" sz="15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altLang="zh-CN" sz="1500" kern="0" dirty="0">
                <a:solidFill>
                  <a:srgbClr val="0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    ...</a:t>
            </a:r>
            <a:endParaRPr lang="zh-CN" altLang="zh-CN" sz="15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altLang="zh-CN" sz="1500" kern="0" dirty="0">
                <a:solidFill>
                  <a:srgbClr val="0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}</a:t>
            </a:r>
            <a:endParaRPr lang="zh-CN" altLang="zh-CN" sz="15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TextBox 8"/>
          <p:cNvSpPr txBox="1"/>
          <p:nvPr/>
        </p:nvSpPr>
        <p:spPr>
          <a:xfrm>
            <a:off x="4454798" y="233569"/>
            <a:ext cx="3949155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简单工厂模式</a:t>
            </a:r>
            <a:endParaRPr lang="zh-CN" altLang="en-US" sz="3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2" name="TextBox 8"/>
          <p:cNvSpPr txBox="1"/>
          <p:nvPr/>
        </p:nvSpPr>
        <p:spPr>
          <a:xfrm>
            <a:off x="5025514" y="743526"/>
            <a:ext cx="2876303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SIMPLE FACTORY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PATTERN</a:t>
            </a:r>
            <a:endParaRPr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285359" y="4091876"/>
            <a:ext cx="6429375" cy="240065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500" dirty="0">
                <a:solidFill>
                  <a:srgbClr val="8F0055"/>
                </a:solidFill>
                <a:latin typeface="Consolas" panose="020B0609020204030204" charset="0"/>
              </a:rPr>
              <a:t>//</a:t>
            </a:r>
            <a:r>
              <a:rPr lang="zh-CN" altLang="en-US" sz="1500" dirty="0">
                <a:solidFill>
                  <a:srgbClr val="8F0055"/>
                </a:solidFill>
                <a:latin typeface="Consolas" panose="020B0609020204030204" charset="0"/>
              </a:rPr>
              <a:t>查询奖品状态</a:t>
            </a:r>
            <a:endParaRPr lang="en-US" altLang="zh-CN" sz="1500" dirty="0">
              <a:solidFill>
                <a:srgbClr val="8F0055"/>
              </a:solidFill>
              <a:latin typeface="Consolas" panose="020B0609020204030204" charset="0"/>
            </a:endParaRPr>
          </a:p>
          <a:p>
            <a:r>
              <a:rPr lang="en-US" altLang="zh-CN" sz="1500" dirty="0">
                <a:solidFill>
                  <a:srgbClr val="8F0055"/>
                </a:solidFill>
                <a:latin typeface="Consolas" panose="020B0609020204030204" charset="0"/>
              </a:rPr>
              <a:t>if </a:t>
            </a:r>
            <a:r>
              <a:rPr lang="en-US" altLang="zh-CN" sz="1500" dirty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altLang="zh-CN" sz="1500" dirty="0">
                <a:solidFill>
                  <a:srgbClr val="8F0055"/>
                </a:solidFill>
                <a:latin typeface="Consolas" panose="020B0609020204030204" charset="0"/>
              </a:rPr>
              <a:t>$prize </a:t>
            </a:r>
            <a:r>
              <a:rPr lang="en-US" altLang="zh-CN" sz="1500" dirty="0">
                <a:solidFill>
                  <a:srgbClr val="000000"/>
                </a:solidFill>
                <a:latin typeface="Consolas" panose="020B0609020204030204" charset="0"/>
              </a:rPr>
              <a:t>== </a:t>
            </a:r>
            <a:r>
              <a:rPr lang="en-US" altLang="zh-CN" sz="1500" dirty="0">
                <a:solidFill>
                  <a:srgbClr val="C00000"/>
                </a:solidFill>
                <a:latin typeface="Consolas" panose="020B0609020204030204" charset="0"/>
              </a:rPr>
              <a:t>"</a:t>
            </a:r>
            <a:r>
              <a:rPr lang="en-US" altLang="zh-CN" sz="1500" dirty="0" err="1">
                <a:solidFill>
                  <a:srgbClr val="C00000"/>
                </a:solidFill>
                <a:latin typeface="Consolas" panose="020B0609020204030204" charset="0"/>
              </a:rPr>
              <a:t>liejin</a:t>
            </a:r>
            <a:r>
              <a:rPr lang="en-US" altLang="zh-CN" sz="1500" dirty="0">
                <a:solidFill>
                  <a:srgbClr val="C00000"/>
                </a:solidFill>
                <a:latin typeface="Consolas" panose="020B0609020204030204" charset="0"/>
              </a:rPr>
              <a:t>"</a:t>
            </a:r>
            <a:r>
              <a:rPr lang="en-US" altLang="zh-CN" sz="1500" dirty="0">
                <a:solidFill>
                  <a:srgbClr val="000000"/>
                </a:solidFill>
                <a:latin typeface="Consolas" panose="020B0609020204030204" charset="0"/>
              </a:rPr>
              <a:t>) {</a:t>
            </a:r>
            <a:endParaRPr lang="en-US" altLang="zh-CN" sz="1500" dirty="0">
              <a:solidFill>
                <a:srgbClr val="000000"/>
              </a:solidFill>
              <a:latin typeface="Consolas" panose="020B0609020204030204" charset="0"/>
            </a:endParaRPr>
          </a:p>
          <a:p>
            <a:r>
              <a:rPr lang="en-US" altLang="zh-CN" sz="1500" dirty="0">
                <a:latin typeface="Consolas" panose="020B0609020204030204" charset="0"/>
              </a:rPr>
              <a:t>    </a:t>
            </a:r>
            <a:r>
              <a:rPr lang="en-US" altLang="zh-CN" sz="1500" dirty="0">
                <a:solidFill>
                  <a:srgbClr val="8F0055"/>
                </a:solidFill>
                <a:latin typeface="Consolas" panose="020B0609020204030204" charset="0"/>
              </a:rPr>
              <a:t>$</a:t>
            </a:r>
            <a:r>
              <a:rPr lang="en-US" altLang="zh-CN" sz="1500" dirty="0" err="1">
                <a:solidFill>
                  <a:srgbClr val="8F0055"/>
                </a:solidFill>
                <a:latin typeface="Consolas" panose="020B0609020204030204" charset="0"/>
              </a:rPr>
              <a:t>liejinSupport</a:t>
            </a:r>
            <a:r>
              <a:rPr lang="en-US" altLang="zh-CN" sz="1500" dirty="0">
                <a:solidFill>
                  <a:srgbClr val="8F0055"/>
                </a:solidFill>
                <a:latin typeface="Consolas" panose="020B0609020204030204" charset="0"/>
              </a:rPr>
              <a:t> </a:t>
            </a:r>
            <a:r>
              <a:rPr lang="en-US" altLang="zh-CN" sz="1500" dirty="0">
                <a:solidFill>
                  <a:srgbClr val="000000"/>
                </a:solidFill>
                <a:latin typeface="Consolas" panose="020B0609020204030204" charset="0"/>
              </a:rPr>
              <a:t>= </a:t>
            </a:r>
            <a:r>
              <a:rPr lang="en-US" altLang="zh-CN" sz="1500" dirty="0">
                <a:solidFill>
                  <a:srgbClr val="8F0055"/>
                </a:solidFill>
                <a:latin typeface="Consolas" panose="020B0609020204030204" charset="0"/>
              </a:rPr>
              <a:t>new </a:t>
            </a:r>
            <a:r>
              <a:rPr lang="en-US" altLang="zh-CN" sz="1500" dirty="0" err="1">
                <a:solidFill>
                  <a:srgbClr val="000000"/>
                </a:solidFill>
                <a:latin typeface="Consolas" panose="020B0609020204030204" charset="0"/>
              </a:rPr>
              <a:t>LiejinSupport</a:t>
            </a:r>
            <a:r>
              <a:rPr lang="en-US" altLang="zh-CN" sz="1500" dirty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altLang="zh-CN" sz="1500" dirty="0">
                <a:solidFill>
                  <a:srgbClr val="8F0055"/>
                </a:solidFill>
                <a:latin typeface="Consolas" panose="020B0609020204030204" charset="0"/>
              </a:rPr>
              <a:t>$</a:t>
            </a:r>
            <a:r>
              <a:rPr lang="en-US" altLang="zh-CN" sz="1500" dirty="0" err="1">
                <a:solidFill>
                  <a:srgbClr val="8F0055"/>
                </a:solidFill>
                <a:latin typeface="Consolas" panose="020B0609020204030204" charset="0"/>
              </a:rPr>
              <a:t>userId</a:t>
            </a:r>
            <a:r>
              <a:rPr lang="en-US" altLang="zh-CN" sz="1500" dirty="0">
                <a:solidFill>
                  <a:srgbClr val="000000"/>
                </a:solidFill>
                <a:latin typeface="Consolas" panose="020B0609020204030204" charset="0"/>
              </a:rPr>
              <a:t>);</a:t>
            </a:r>
            <a:endParaRPr lang="en-US" altLang="zh-CN" sz="1500" dirty="0">
              <a:solidFill>
                <a:srgbClr val="000000"/>
              </a:solidFill>
              <a:latin typeface="Consolas" panose="020B0609020204030204" charset="0"/>
            </a:endParaRPr>
          </a:p>
          <a:p>
            <a:r>
              <a:rPr lang="en-US" altLang="zh-CN" sz="1500" dirty="0">
                <a:latin typeface="Consolas" panose="020B0609020204030204" charset="0"/>
              </a:rPr>
              <a:t>    </a:t>
            </a:r>
            <a:r>
              <a:rPr lang="en-US" altLang="zh-CN" sz="1500" dirty="0">
                <a:solidFill>
                  <a:srgbClr val="8F0055"/>
                </a:solidFill>
                <a:latin typeface="Consolas" panose="020B0609020204030204" charset="0"/>
              </a:rPr>
              <a:t>return $</a:t>
            </a:r>
            <a:r>
              <a:rPr lang="en-US" altLang="zh-CN" sz="1500" dirty="0" err="1">
                <a:solidFill>
                  <a:srgbClr val="8F0055"/>
                </a:solidFill>
                <a:latin typeface="Consolas" panose="020B0609020204030204" charset="0"/>
              </a:rPr>
              <a:t>liejinSupport</a:t>
            </a:r>
            <a:r>
              <a:rPr lang="en-US" altLang="zh-CN" sz="1500" dirty="0">
                <a:solidFill>
                  <a:srgbClr val="8F0055"/>
                </a:solidFill>
                <a:latin typeface="Consolas" panose="020B0609020204030204" charset="0"/>
              </a:rPr>
              <a:t>-&gt;</a:t>
            </a:r>
            <a:r>
              <a:rPr lang="en-US" altLang="zh-CN" sz="1500" dirty="0" err="1">
                <a:solidFill>
                  <a:srgbClr val="8F0055"/>
                </a:solidFill>
                <a:latin typeface="Consolas" panose="020B0609020204030204" charset="0"/>
              </a:rPr>
              <a:t>queryStatus</a:t>
            </a:r>
            <a:r>
              <a:rPr lang="en-US" altLang="zh-CN" sz="1500" dirty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altLang="zh-CN" sz="1500" dirty="0">
                <a:solidFill>
                  <a:srgbClr val="8F0055"/>
                </a:solidFill>
                <a:latin typeface="Consolas" panose="020B0609020204030204" charset="0"/>
              </a:rPr>
              <a:t>$</a:t>
            </a:r>
            <a:r>
              <a:rPr lang="en-US" altLang="zh-CN" sz="1500" dirty="0" err="1">
                <a:solidFill>
                  <a:srgbClr val="8F0055"/>
                </a:solidFill>
                <a:latin typeface="Consolas" panose="020B0609020204030204" charset="0"/>
              </a:rPr>
              <a:t>userId</a:t>
            </a:r>
            <a:r>
              <a:rPr lang="en-US" altLang="zh-CN" sz="1500" dirty="0">
                <a:solidFill>
                  <a:srgbClr val="000000"/>
                </a:solidFill>
                <a:latin typeface="Consolas" panose="020B0609020204030204" charset="0"/>
              </a:rPr>
              <a:t>);</a:t>
            </a:r>
            <a:endParaRPr lang="en-US" altLang="zh-CN" sz="1500" dirty="0">
              <a:solidFill>
                <a:srgbClr val="000000"/>
              </a:solidFill>
              <a:latin typeface="Consolas" panose="020B0609020204030204" charset="0"/>
            </a:endParaRPr>
          </a:p>
          <a:p>
            <a:r>
              <a:rPr lang="en-US" altLang="zh-CN" sz="1500" dirty="0">
                <a:solidFill>
                  <a:srgbClr val="000000"/>
                </a:solidFill>
                <a:latin typeface="Consolas" panose="020B0609020204030204" charset="0"/>
              </a:rPr>
              <a:t>} </a:t>
            </a:r>
            <a:r>
              <a:rPr lang="en-US" altLang="zh-CN" sz="1500" dirty="0">
                <a:solidFill>
                  <a:srgbClr val="8F0055"/>
                </a:solidFill>
                <a:latin typeface="Consolas" panose="020B0609020204030204" charset="0"/>
              </a:rPr>
              <a:t>elseif </a:t>
            </a:r>
            <a:r>
              <a:rPr lang="en-US" altLang="zh-CN" sz="1500" dirty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altLang="zh-CN" sz="1500" dirty="0">
                <a:solidFill>
                  <a:srgbClr val="8F0055"/>
                </a:solidFill>
                <a:latin typeface="Consolas" panose="020B0609020204030204" charset="0"/>
              </a:rPr>
              <a:t>$prize </a:t>
            </a:r>
            <a:r>
              <a:rPr lang="en-US" altLang="zh-CN" sz="1500" dirty="0">
                <a:solidFill>
                  <a:srgbClr val="000000"/>
                </a:solidFill>
                <a:latin typeface="Consolas" panose="020B0609020204030204" charset="0"/>
              </a:rPr>
              <a:t>== </a:t>
            </a:r>
            <a:r>
              <a:rPr lang="en-US" altLang="zh-CN" sz="1500" dirty="0">
                <a:solidFill>
                  <a:srgbClr val="C00000"/>
                </a:solidFill>
                <a:latin typeface="Consolas" panose="020B0609020204030204" charset="0"/>
              </a:rPr>
              <a:t>"</a:t>
            </a:r>
            <a:r>
              <a:rPr lang="en-US" altLang="zh-CN" sz="1500" dirty="0" err="1">
                <a:solidFill>
                  <a:srgbClr val="C00000"/>
                </a:solidFill>
                <a:latin typeface="Consolas" panose="020B0609020204030204" charset="0"/>
              </a:rPr>
              <a:t>kh</a:t>
            </a:r>
            <a:r>
              <a:rPr lang="en-US" altLang="zh-CN" sz="1500" dirty="0">
                <a:solidFill>
                  <a:srgbClr val="C00000"/>
                </a:solidFill>
                <a:latin typeface="Consolas" panose="020B0609020204030204" charset="0"/>
              </a:rPr>
              <a:t>"</a:t>
            </a:r>
            <a:r>
              <a:rPr lang="en-US" altLang="zh-CN" sz="1500" dirty="0">
                <a:solidFill>
                  <a:srgbClr val="000000"/>
                </a:solidFill>
                <a:latin typeface="Consolas" panose="020B0609020204030204" charset="0"/>
              </a:rPr>
              <a:t>) {</a:t>
            </a:r>
            <a:endParaRPr lang="en-US" altLang="zh-CN" sz="1500" dirty="0">
              <a:solidFill>
                <a:srgbClr val="000000"/>
              </a:solidFill>
              <a:latin typeface="Consolas" panose="020B0609020204030204" charset="0"/>
            </a:endParaRPr>
          </a:p>
          <a:p>
            <a:r>
              <a:rPr lang="en-US" altLang="zh-CN" sz="1500" dirty="0">
                <a:latin typeface="Consolas" panose="020B0609020204030204" charset="0"/>
              </a:rPr>
              <a:t>    </a:t>
            </a:r>
            <a:r>
              <a:rPr lang="en-US" altLang="zh-CN" sz="1500" dirty="0">
                <a:solidFill>
                  <a:srgbClr val="8F0055"/>
                </a:solidFill>
                <a:latin typeface="Consolas" panose="020B0609020204030204" charset="0"/>
              </a:rPr>
              <a:t>$</a:t>
            </a:r>
            <a:r>
              <a:rPr lang="en-US" altLang="zh-CN" sz="1500" dirty="0" err="1">
                <a:solidFill>
                  <a:srgbClr val="8F0055"/>
                </a:solidFill>
                <a:latin typeface="Consolas" panose="020B0609020204030204" charset="0"/>
              </a:rPr>
              <a:t>khSupport</a:t>
            </a:r>
            <a:r>
              <a:rPr lang="en-US" altLang="zh-CN" sz="1500" dirty="0">
                <a:solidFill>
                  <a:srgbClr val="8F0055"/>
                </a:solidFill>
                <a:latin typeface="Consolas" panose="020B0609020204030204" charset="0"/>
              </a:rPr>
              <a:t> </a:t>
            </a:r>
            <a:r>
              <a:rPr lang="en-US" altLang="zh-CN" sz="1500" dirty="0">
                <a:solidFill>
                  <a:srgbClr val="000000"/>
                </a:solidFill>
                <a:latin typeface="Consolas" panose="020B0609020204030204" charset="0"/>
              </a:rPr>
              <a:t>= </a:t>
            </a:r>
            <a:r>
              <a:rPr lang="en-US" altLang="zh-CN" sz="1500" dirty="0">
                <a:solidFill>
                  <a:srgbClr val="8F0055"/>
                </a:solidFill>
                <a:latin typeface="Consolas" panose="020B0609020204030204" charset="0"/>
              </a:rPr>
              <a:t>new </a:t>
            </a:r>
            <a:r>
              <a:rPr lang="en-US" altLang="zh-CN" sz="1500" dirty="0" err="1">
                <a:solidFill>
                  <a:srgbClr val="000000"/>
                </a:solidFill>
                <a:latin typeface="Consolas" panose="020B0609020204030204" charset="0"/>
              </a:rPr>
              <a:t>KHSupport</a:t>
            </a:r>
            <a:r>
              <a:rPr lang="en-US" altLang="zh-CN" sz="1500" dirty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altLang="zh-CN" sz="1500" dirty="0">
                <a:solidFill>
                  <a:srgbClr val="8F0055"/>
                </a:solidFill>
                <a:latin typeface="Consolas" panose="020B0609020204030204" charset="0"/>
              </a:rPr>
              <a:t>$</a:t>
            </a:r>
            <a:r>
              <a:rPr lang="en-US" altLang="zh-CN" sz="1500" dirty="0" err="1">
                <a:solidFill>
                  <a:srgbClr val="8F0055"/>
                </a:solidFill>
                <a:latin typeface="Consolas" panose="020B0609020204030204" charset="0"/>
              </a:rPr>
              <a:t>userId</a:t>
            </a:r>
            <a:r>
              <a:rPr lang="en-US" altLang="zh-CN" sz="1500" dirty="0">
                <a:solidFill>
                  <a:srgbClr val="000000"/>
                </a:solidFill>
                <a:latin typeface="Consolas" panose="020B0609020204030204" charset="0"/>
              </a:rPr>
              <a:t>);</a:t>
            </a:r>
            <a:endParaRPr lang="en-US" altLang="zh-CN" sz="1500" dirty="0">
              <a:solidFill>
                <a:srgbClr val="000000"/>
              </a:solidFill>
              <a:latin typeface="Consolas" panose="020B0609020204030204" charset="0"/>
            </a:endParaRPr>
          </a:p>
          <a:p>
            <a:r>
              <a:rPr lang="en-US" altLang="zh-CN" sz="1500" dirty="0">
                <a:latin typeface="Consolas" panose="020B0609020204030204" charset="0"/>
              </a:rPr>
              <a:t>    </a:t>
            </a:r>
            <a:r>
              <a:rPr lang="en-US" altLang="zh-CN" sz="1500" dirty="0">
                <a:solidFill>
                  <a:srgbClr val="8F0055"/>
                </a:solidFill>
                <a:latin typeface="Consolas" panose="020B0609020204030204" charset="0"/>
              </a:rPr>
              <a:t>return $</a:t>
            </a:r>
            <a:r>
              <a:rPr lang="en-US" altLang="zh-CN" sz="1500" dirty="0" err="1">
                <a:solidFill>
                  <a:srgbClr val="8F0055"/>
                </a:solidFill>
                <a:latin typeface="Consolas" panose="020B0609020204030204" charset="0"/>
              </a:rPr>
              <a:t>khSupport</a:t>
            </a:r>
            <a:r>
              <a:rPr lang="en-US" altLang="zh-CN" sz="1500" dirty="0">
                <a:solidFill>
                  <a:srgbClr val="8F0055"/>
                </a:solidFill>
                <a:latin typeface="Consolas" panose="020B0609020204030204" charset="0"/>
              </a:rPr>
              <a:t>-&gt;</a:t>
            </a:r>
            <a:r>
              <a:rPr lang="en-US" altLang="zh-CN" sz="1500" dirty="0" err="1">
                <a:solidFill>
                  <a:srgbClr val="8F0055"/>
                </a:solidFill>
                <a:latin typeface="Consolas" panose="020B0609020204030204" charset="0"/>
              </a:rPr>
              <a:t>queryStatus</a:t>
            </a:r>
            <a:r>
              <a:rPr lang="en-US" altLang="zh-CN" sz="1500" dirty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altLang="zh-CN" sz="1500" dirty="0">
                <a:solidFill>
                  <a:srgbClr val="8F0055"/>
                </a:solidFill>
                <a:latin typeface="Consolas" panose="020B0609020204030204" charset="0"/>
              </a:rPr>
              <a:t>$</a:t>
            </a:r>
            <a:r>
              <a:rPr lang="en-US" altLang="zh-CN" sz="1500" dirty="0" err="1">
                <a:solidFill>
                  <a:srgbClr val="8F0055"/>
                </a:solidFill>
                <a:latin typeface="Consolas" panose="020B0609020204030204" charset="0"/>
              </a:rPr>
              <a:t>userId</a:t>
            </a:r>
            <a:r>
              <a:rPr lang="en-US" altLang="zh-CN" sz="1500" dirty="0">
                <a:solidFill>
                  <a:srgbClr val="000000"/>
                </a:solidFill>
                <a:latin typeface="Consolas" panose="020B0609020204030204" charset="0"/>
              </a:rPr>
              <a:t>);</a:t>
            </a:r>
            <a:endParaRPr lang="en-US" altLang="zh-CN" sz="1500" dirty="0">
              <a:solidFill>
                <a:srgbClr val="000000"/>
              </a:solidFill>
              <a:latin typeface="Consolas" panose="020B0609020204030204" charset="0"/>
            </a:endParaRPr>
          </a:p>
          <a:p>
            <a:r>
              <a:rPr lang="en-US" altLang="zh-CN" sz="1500" dirty="0">
                <a:solidFill>
                  <a:srgbClr val="000000"/>
                </a:solidFill>
                <a:latin typeface="Consolas" panose="020B0609020204030204" charset="0"/>
              </a:rPr>
              <a:t>} </a:t>
            </a:r>
            <a:r>
              <a:rPr lang="en-US" altLang="zh-CN" sz="1500" dirty="0">
                <a:solidFill>
                  <a:srgbClr val="8F0055"/>
                </a:solidFill>
                <a:latin typeface="Consolas" panose="020B0609020204030204" charset="0"/>
              </a:rPr>
              <a:t>elseif </a:t>
            </a:r>
            <a:r>
              <a:rPr lang="en-US" altLang="zh-CN" sz="1500" dirty="0">
                <a:solidFill>
                  <a:srgbClr val="000000"/>
                </a:solidFill>
                <a:latin typeface="Consolas" panose="020B0609020204030204" charset="0"/>
              </a:rPr>
              <a:t>(...) {</a:t>
            </a:r>
            <a:endParaRPr lang="en-US" altLang="zh-CN" sz="1500" dirty="0">
              <a:solidFill>
                <a:srgbClr val="000000"/>
              </a:solidFill>
              <a:latin typeface="Consolas" panose="020B0609020204030204" charset="0"/>
            </a:endParaRPr>
          </a:p>
          <a:p>
            <a:r>
              <a:rPr lang="zh-CN" altLang="en-US" sz="1500" dirty="0">
                <a:latin typeface="Consolas" panose="020B0609020204030204" charset="0"/>
              </a:rPr>
              <a:t>    </a:t>
            </a:r>
            <a:r>
              <a:rPr lang="en-US" altLang="zh-CN" sz="1500" dirty="0">
                <a:solidFill>
                  <a:srgbClr val="000000"/>
                </a:solidFill>
                <a:latin typeface="Consolas" panose="020B0609020204030204" charset="0"/>
              </a:rPr>
              <a:t>...</a:t>
            </a:r>
            <a:endParaRPr lang="en-US" altLang="zh-CN" sz="1500" dirty="0">
              <a:solidFill>
                <a:srgbClr val="000000"/>
              </a:solidFill>
              <a:latin typeface="Consolas" panose="020B0609020204030204" charset="0"/>
            </a:endParaRPr>
          </a:p>
          <a:p>
            <a:r>
              <a:rPr lang="en-US" altLang="zh-CN" sz="1500" dirty="0">
                <a:solidFill>
                  <a:srgbClr val="000000"/>
                </a:solidFill>
                <a:latin typeface="Consolas" panose="020B0609020204030204" charset="0"/>
              </a:rPr>
              <a:t>}</a:t>
            </a:r>
            <a:endParaRPr lang="en-US" altLang="zh-CN" sz="1500" dirty="0">
              <a:solidFill>
                <a:srgbClr val="000000"/>
              </a:solidFill>
              <a:latin typeface="Consolas" panose="020B060902020403020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805639" y="2416498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太多的</a:t>
            </a:r>
            <a:r>
              <a:rPr lang="en-US" altLang="zh-CN" sz="2400" dirty="0"/>
              <a:t>new</a:t>
            </a:r>
            <a:r>
              <a:rPr lang="zh-CN" altLang="en-US" sz="2400" dirty="0"/>
              <a:t>操作！</a:t>
            </a:r>
            <a:endParaRPr lang="zh-CN" altLang="en-US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9">
        <p:fade/>
      </p:transition>
    </mc:Choice>
    <mc:Fallback>
      <p:transition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/>
          <p:cNvGrpSpPr/>
          <p:nvPr/>
        </p:nvGrpSpPr>
        <p:grpSpPr>
          <a:xfrm>
            <a:off x="886327" y="591989"/>
            <a:ext cx="11086097" cy="0"/>
            <a:chOff x="1028775" y="591989"/>
            <a:chExt cx="11086097" cy="0"/>
          </a:xfrm>
        </p:grpSpPr>
        <p:cxnSp>
          <p:nvCxnSpPr>
            <p:cNvPr id="33" name="直接连接符 32"/>
            <p:cNvCxnSpPr/>
            <p:nvPr/>
          </p:nvCxnSpPr>
          <p:spPr>
            <a:xfrm>
              <a:off x="10287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>
              <a:off x="86106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Box 8"/>
          <p:cNvSpPr txBox="1"/>
          <p:nvPr/>
        </p:nvSpPr>
        <p:spPr>
          <a:xfrm>
            <a:off x="4454798" y="233569"/>
            <a:ext cx="3949155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简单工厂模式</a:t>
            </a:r>
            <a:endParaRPr lang="zh-CN" altLang="en-US" sz="3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" name="TextBox 8"/>
          <p:cNvSpPr txBox="1"/>
          <p:nvPr/>
        </p:nvSpPr>
        <p:spPr>
          <a:xfrm>
            <a:off x="5025514" y="743526"/>
            <a:ext cx="2876303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SIMPLE FACTORY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PATTERN</a:t>
            </a:r>
            <a:endParaRPr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629175" y="31842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3261023" y="1600101"/>
            <a:ext cx="7271239" cy="47244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8F0055"/>
                </a:solidFill>
                <a:latin typeface="Consolas" panose="020B0609020204030204" charset="0"/>
              </a:rPr>
              <a:t>// </a:t>
            </a:r>
            <a:r>
              <a:rPr lang="zh-CN" altLang="en-US" sz="1600" dirty="0">
                <a:solidFill>
                  <a:srgbClr val="8F0055"/>
                </a:solidFill>
                <a:latin typeface="Consolas" panose="020B0609020204030204" charset="0"/>
              </a:rPr>
              <a:t>定义承接方工厂</a:t>
            </a:r>
            <a:endParaRPr lang="en-US" altLang="zh-CN" sz="1600" dirty="0">
              <a:solidFill>
                <a:srgbClr val="8F0055"/>
              </a:solidFill>
              <a:latin typeface="Consolas" panose="020B0609020204030204" charset="0"/>
            </a:endParaRPr>
          </a:p>
          <a:p>
            <a:r>
              <a:rPr lang="en-US" altLang="zh-CN" sz="1600" dirty="0">
                <a:solidFill>
                  <a:srgbClr val="8F0055"/>
                </a:solidFill>
                <a:latin typeface="Consolas" panose="020B0609020204030204" charset="0"/>
              </a:rPr>
              <a:t>class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charset="0"/>
              </a:rPr>
              <a:t>SupportFactory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charset="0"/>
              </a:rPr>
              <a:t> {</a:t>
            </a:r>
            <a:endParaRPr lang="en-US" altLang="zh-CN" sz="1600" dirty="0">
              <a:solidFill>
                <a:srgbClr val="000000"/>
              </a:solidFill>
              <a:latin typeface="Consolas" panose="020B0609020204030204" charset="0"/>
            </a:endParaRPr>
          </a:p>
          <a:p>
            <a:r>
              <a:rPr lang="zh-CN" altLang="en-US" sz="1600" dirty="0">
                <a:latin typeface="Consolas" panose="020B0609020204030204" charset="0"/>
              </a:rPr>
              <a:t>    </a:t>
            </a:r>
            <a:r>
              <a:rPr lang="en-US" altLang="zh-CN" sz="1600" dirty="0">
                <a:solidFill>
                  <a:srgbClr val="007F1C"/>
                </a:solidFill>
                <a:latin typeface="Consolas" panose="020B0609020204030204" charset="0"/>
              </a:rPr>
              <a:t>/**</a:t>
            </a:r>
            <a:endParaRPr lang="en-US" altLang="zh-CN" sz="1600" dirty="0">
              <a:solidFill>
                <a:srgbClr val="007F1C"/>
              </a:solidFill>
              <a:latin typeface="Consolas" panose="020B0609020204030204" charset="0"/>
            </a:endParaRPr>
          </a:p>
          <a:p>
            <a:r>
              <a:rPr lang="zh-CN" altLang="en-US" sz="1600" dirty="0">
                <a:solidFill>
                  <a:srgbClr val="007F1C"/>
                </a:solidFill>
                <a:latin typeface="Consolas" panose="020B0609020204030204" charset="0"/>
              </a:rPr>
              <a:t>     * 创建承接方对象</a:t>
            </a:r>
            <a:endParaRPr lang="zh-CN" altLang="en-US" sz="1600" dirty="0">
              <a:solidFill>
                <a:srgbClr val="007F1C"/>
              </a:solidFill>
              <a:latin typeface="Consolas" panose="020B0609020204030204" charset="0"/>
            </a:endParaRPr>
          </a:p>
          <a:p>
            <a:r>
              <a:rPr lang="en-US" altLang="zh-CN" sz="1600" dirty="0">
                <a:solidFill>
                  <a:srgbClr val="007F1C"/>
                </a:solidFill>
                <a:latin typeface="Consolas" panose="020B0609020204030204" charset="0"/>
              </a:rPr>
              <a:t>     * @return Support</a:t>
            </a:r>
            <a:endParaRPr lang="en-US" altLang="zh-CN" sz="1600" dirty="0">
              <a:solidFill>
                <a:srgbClr val="007F1C"/>
              </a:solidFill>
              <a:latin typeface="Consolas" panose="020B0609020204030204" charset="0"/>
            </a:endParaRPr>
          </a:p>
          <a:p>
            <a:r>
              <a:rPr lang="zh-CN" altLang="en-US" sz="1600" dirty="0">
                <a:solidFill>
                  <a:srgbClr val="007F1C"/>
                </a:solidFill>
                <a:latin typeface="Consolas" panose="020B0609020204030204" charset="0"/>
              </a:rPr>
              <a:t>     *</a:t>
            </a:r>
            <a:r>
              <a:rPr lang="en-US" altLang="zh-CN" sz="1600" dirty="0">
                <a:solidFill>
                  <a:srgbClr val="007F1C"/>
                </a:solidFill>
                <a:latin typeface="Consolas" panose="020B0609020204030204" charset="0"/>
              </a:rPr>
              <a:t>/</a:t>
            </a:r>
            <a:endParaRPr lang="en-US" altLang="zh-CN" sz="1600" dirty="0">
              <a:solidFill>
                <a:srgbClr val="007F1C"/>
              </a:solidFill>
              <a:latin typeface="Consolas" panose="020B0609020204030204" charset="0"/>
            </a:endParaRPr>
          </a:p>
          <a:p>
            <a:r>
              <a:rPr lang="en-US" altLang="zh-CN" sz="1600" dirty="0">
                <a:latin typeface="Consolas" panose="020B0609020204030204" charset="0"/>
              </a:rPr>
              <a:t>    </a:t>
            </a:r>
            <a:r>
              <a:rPr lang="en-US" altLang="zh-CN" sz="1600" dirty="0">
                <a:solidFill>
                  <a:srgbClr val="8F0055"/>
                </a:solidFill>
                <a:latin typeface="Consolas" panose="020B0609020204030204" charset="0"/>
              </a:rPr>
              <a:t>public static function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charset="0"/>
              </a:rPr>
              <a:t>create(</a:t>
            </a:r>
            <a:r>
              <a:rPr lang="en-US" altLang="zh-CN" sz="1600" dirty="0">
                <a:solidFill>
                  <a:srgbClr val="8F0055"/>
                </a:solidFill>
                <a:latin typeface="Consolas" panose="020B0609020204030204" charset="0"/>
              </a:rPr>
              <a:t>$prize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charset="0"/>
              </a:rPr>
              <a:t>)</a:t>
            </a:r>
            <a:endParaRPr lang="en-US" altLang="zh-CN" sz="1600" dirty="0">
              <a:solidFill>
                <a:srgbClr val="000000"/>
              </a:solidFill>
              <a:latin typeface="Consolas" panose="020B0609020204030204" charset="0"/>
            </a:endParaRPr>
          </a:p>
          <a:p>
            <a:r>
              <a:rPr lang="zh-CN" altLang="en-US" sz="1600" dirty="0">
                <a:latin typeface="Consolas" panose="020B0609020204030204" charset="0"/>
              </a:rPr>
              <a:t>   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charset="0"/>
              </a:rPr>
              <a:t>{</a:t>
            </a:r>
            <a:endParaRPr lang="en-US" altLang="zh-CN" sz="1600" dirty="0">
              <a:solidFill>
                <a:srgbClr val="000000"/>
              </a:solidFill>
              <a:latin typeface="Consolas" panose="020B0609020204030204" charset="0"/>
            </a:endParaRPr>
          </a:p>
          <a:p>
            <a:r>
              <a:rPr lang="en-US" altLang="zh-CN" sz="1600" dirty="0">
                <a:latin typeface="Consolas" panose="020B0609020204030204" charset="0"/>
              </a:rPr>
              <a:t>        </a:t>
            </a:r>
            <a:r>
              <a:rPr lang="en-US" altLang="zh-CN" sz="1600" dirty="0">
                <a:solidFill>
                  <a:srgbClr val="8F0055"/>
                </a:solidFill>
                <a:latin typeface="Consolas" panose="020B0609020204030204" charset="0"/>
              </a:rPr>
              <a:t>$support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charset="0"/>
              </a:rPr>
              <a:t>= </a:t>
            </a:r>
            <a:r>
              <a:rPr lang="en-US" altLang="zh-CN" sz="1600" dirty="0">
                <a:solidFill>
                  <a:srgbClr val="8F0055"/>
                </a:solidFill>
                <a:latin typeface="Consolas" panose="020B0609020204030204" charset="0"/>
              </a:rPr>
              <a:t>null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charset="0"/>
              </a:rPr>
              <a:t>;</a:t>
            </a:r>
            <a:endParaRPr lang="en-US" altLang="zh-CN" sz="1600" dirty="0">
              <a:solidFill>
                <a:srgbClr val="000000"/>
              </a:solidFill>
              <a:latin typeface="Consolas" panose="020B0609020204030204" charset="0"/>
            </a:endParaRPr>
          </a:p>
          <a:p>
            <a:r>
              <a:rPr lang="en-US" altLang="zh-CN" sz="1600" dirty="0">
                <a:latin typeface="Consolas" panose="020B0609020204030204" charset="0"/>
              </a:rPr>
              <a:t>        </a:t>
            </a:r>
            <a:r>
              <a:rPr lang="en-US" altLang="zh-CN" sz="1600" dirty="0">
                <a:solidFill>
                  <a:srgbClr val="8F0055"/>
                </a:solidFill>
                <a:latin typeface="Consolas" panose="020B0609020204030204" charset="0"/>
              </a:rPr>
              <a:t>switch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charset="0"/>
              </a:rPr>
              <a:t>(</a:t>
            </a:r>
            <a:r>
              <a:rPr lang="en-US" altLang="zh-CN" sz="1600" dirty="0">
                <a:solidFill>
                  <a:srgbClr val="8F0055"/>
                </a:solidFill>
                <a:latin typeface="Consolas" panose="020B0609020204030204" charset="0"/>
              </a:rPr>
              <a:t>$prize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charset="0"/>
              </a:rPr>
              <a:t>) {</a:t>
            </a:r>
            <a:endParaRPr lang="en-US" altLang="zh-CN" sz="1600" dirty="0">
              <a:solidFill>
                <a:srgbClr val="000000"/>
              </a:solidFill>
              <a:latin typeface="Consolas" panose="020B0609020204030204" charset="0"/>
            </a:endParaRPr>
          </a:p>
          <a:p>
            <a:r>
              <a:rPr lang="en-US" altLang="zh-CN" sz="1600" dirty="0">
                <a:latin typeface="Consolas" panose="020B0609020204030204" charset="0"/>
              </a:rPr>
              <a:t>            </a:t>
            </a:r>
            <a:r>
              <a:rPr lang="en-US" altLang="zh-CN" sz="1600" dirty="0">
                <a:solidFill>
                  <a:srgbClr val="8F0055"/>
                </a:solidFill>
                <a:latin typeface="Consolas" panose="020B0609020204030204" charset="0"/>
              </a:rPr>
              <a:t>case </a:t>
            </a:r>
            <a:r>
              <a:rPr lang="en-US" altLang="zh-CN" sz="1600" dirty="0">
                <a:solidFill>
                  <a:srgbClr val="C00000"/>
                </a:solidFill>
                <a:latin typeface="Consolas" panose="020B0609020204030204" charset="0"/>
              </a:rPr>
              <a:t>"</a:t>
            </a:r>
            <a:r>
              <a:rPr lang="en-US" altLang="zh-CN" sz="1600" dirty="0" err="1">
                <a:solidFill>
                  <a:srgbClr val="C00000"/>
                </a:solidFill>
                <a:latin typeface="Consolas" panose="020B0609020204030204" charset="0"/>
              </a:rPr>
              <a:t>liejin</a:t>
            </a:r>
            <a:r>
              <a:rPr lang="en-US" altLang="zh-CN" sz="1600" dirty="0">
                <a:solidFill>
                  <a:srgbClr val="C00000"/>
                </a:solidFill>
                <a:latin typeface="Consolas" panose="020B0609020204030204" charset="0"/>
              </a:rPr>
              <a:t>"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charset="0"/>
              </a:rPr>
              <a:t>: </a:t>
            </a:r>
            <a:r>
              <a:rPr lang="en-US" altLang="zh-CN" sz="1600" dirty="0">
                <a:solidFill>
                  <a:srgbClr val="8F0055"/>
                </a:solidFill>
                <a:latin typeface="Consolas" panose="020B0609020204030204" charset="0"/>
              </a:rPr>
              <a:t>$support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charset="0"/>
              </a:rPr>
              <a:t>= </a:t>
            </a:r>
            <a:r>
              <a:rPr lang="en-US" altLang="zh-CN" sz="1600" dirty="0">
                <a:solidFill>
                  <a:srgbClr val="8F0055"/>
                </a:solidFill>
                <a:latin typeface="Consolas" panose="020B0609020204030204" charset="0"/>
              </a:rPr>
              <a:t>new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charset="0"/>
              </a:rPr>
              <a:t>LiejinSupport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charset="0"/>
              </a:rPr>
              <a:t>(); </a:t>
            </a:r>
            <a:r>
              <a:rPr lang="en-US" altLang="zh-CN" sz="1600" dirty="0">
                <a:solidFill>
                  <a:srgbClr val="8F0055"/>
                </a:solidFill>
                <a:latin typeface="Consolas" panose="020B0609020204030204" charset="0"/>
              </a:rPr>
              <a:t>$break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charset="0"/>
              </a:rPr>
              <a:t>;</a:t>
            </a:r>
            <a:endParaRPr lang="en-US" altLang="zh-CN" sz="1600" dirty="0">
              <a:solidFill>
                <a:srgbClr val="000000"/>
              </a:solidFill>
              <a:latin typeface="Consolas" panose="020B0609020204030204" charset="0"/>
            </a:endParaRPr>
          </a:p>
          <a:p>
            <a:r>
              <a:rPr lang="en-US" altLang="zh-CN" sz="1600" dirty="0">
                <a:latin typeface="Consolas" panose="020B0609020204030204" charset="0"/>
              </a:rPr>
              <a:t>            </a:t>
            </a:r>
            <a:r>
              <a:rPr lang="en-US" altLang="zh-CN" sz="1600" dirty="0">
                <a:solidFill>
                  <a:srgbClr val="8F0055"/>
                </a:solidFill>
                <a:latin typeface="Consolas" panose="020B0609020204030204" charset="0"/>
              </a:rPr>
              <a:t>case </a:t>
            </a:r>
            <a:r>
              <a:rPr lang="en-US" altLang="zh-CN" sz="1600" dirty="0">
                <a:solidFill>
                  <a:srgbClr val="C00000"/>
                </a:solidFill>
                <a:latin typeface="Consolas" panose="020B0609020204030204" charset="0"/>
              </a:rPr>
              <a:t>"</a:t>
            </a:r>
            <a:r>
              <a:rPr lang="en-US" altLang="zh-CN" sz="1600" dirty="0" err="1">
                <a:solidFill>
                  <a:srgbClr val="C00000"/>
                </a:solidFill>
                <a:latin typeface="Consolas" panose="020B0609020204030204" charset="0"/>
              </a:rPr>
              <a:t>kh</a:t>
            </a:r>
            <a:r>
              <a:rPr lang="en-US" altLang="zh-CN" sz="1600" dirty="0">
                <a:solidFill>
                  <a:srgbClr val="C00000"/>
                </a:solidFill>
                <a:latin typeface="Consolas" panose="020B0609020204030204" charset="0"/>
              </a:rPr>
              <a:t>"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charset="0"/>
              </a:rPr>
              <a:t>: </a:t>
            </a:r>
            <a:r>
              <a:rPr lang="en-US" altLang="zh-CN" sz="1600" dirty="0">
                <a:solidFill>
                  <a:srgbClr val="8F0055"/>
                </a:solidFill>
                <a:latin typeface="Consolas" panose="020B0609020204030204" charset="0"/>
              </a:rPr>
              <a:t>$support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charset="0"/>
              </a:rPr>
              <a:t>= </a:t>
            </a:r>
            <a:r>
              <a:rPr lang="en-US" altLang="zh-CN" sz="1600" dirty="0">
                <a:solidFill>
                  <a:srgbClr val="8F0055"/>
                </a:solidFill>
                <a:latin typeface="Consolas" panose="020B0609020204030204" charset="0"/>
              </a:rPr>
              <a:t>new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charset="0"/>
              </a:rPr>
              <a:t>KHSupport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charset="0"/>
              </a:rPr>
              <a:t>(); </a:t>
            </a:r>
            <a:r>
              <a:rPr lang="en-US" altLang="zh-CN" sz="1600" dirty="0">
                <a:solidFill>
                  <a:srgbClr val="8F0055"/>
                </a:solidFill>
                <a:latin typeface="Consolas" panose="020B0609020204030204" charset="0"/>
              </a:rPr>
              <a:t>$break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charset="0"/>
              </a:rPr>
              <a:t>;</a:t>
            </a:r>
            <a:endParaRPr lang="en-US" altLang="zh-CN" sz="1600" dirty="0">
              <a:solidFill>
                <a:srgbClr val="000000"/>
              </a:solidFill>
              <a:latin typeface="Consolas" panose="020B0609020204030204" charset="0"/>
            </a:endParaRPr>
          </a:p>
          <a:p>
            <a:r>
              <a:rPr lang="en-US" altLang="zh-CN" sz="1600" dirty="0">
                <a:latin typeface="Consolas" panose="020B0609020204030204" charset="0"/>
              </a:rPr>
              <a:t>            </a:t>
            </a:r>
            <a:r>
              <a:rPr lang="en-US" altLang="zh-CN" sz="1600" dirty="0">
                <a:solidFill>
                  <a:srgbClr val="8F0055"/>
                </a:solidFill>
                <a:latin typeface="Consolas" panose="020B0609020204030204" charset="0"/>
              </a:rPr>
              <a:t>case </a:t>
            </a:r>
            <a:r>
              <a:rPr lang="en-US" altLang="zh-CN" sz="1600" dirty="0">
                <a:solidFill>
                  <a:srgbClr val="C00000"/>
                </a:solidFill>
                <a:latin typeface="Consolas" panose="020B0609020204030204" charset="0"/>
              </a:rPr>
              <a:t>"future"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charset="0"/>
              </a:rPr>
              <a:t>: </a:t>
            </a:r>
            <a:r>
              <a:rPr lang="en-US" altLang="zh-CN" sz="1600" dirty="0">
                <a:solidFill>
                  <a:srgbClr val="8F0055"/>
                </a:solidFill>
                <a:latin typeface="Consolas" panose="020B0609020204030204" charset="0"/>
              </a:rPr>
              <a:t>$support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charset="0"/>
              </a:rPr>
              <a:t>= </a:t>
            </a:r>
            <a:r>
              <a:rPr lang="en-US" altLang="zh-CN" sz="1600" dirty="0">
                <a:solidFill>
                  <a:srgbClr val="8F0055"/>
                </a:solidFill>
                <a:latin typeface="Consolas" panose="020B0609020204030204" charset="0"/>
              </a:rPr>
              <a:t>new </a:t>
            </a:r>
            <a:r>
              <a:rPr lang="en-US" altLang="zh-CN" sz="1600" dirty="0">
                <a:solidFill>
                  <a:schemeClr val="tx1"/>
                </a:solidFill>
                <a:latin typeface="Consolas" panose="020B0609020204030204" charset="0"/>
              </a:rPr>
              <a:t>Future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charset="0"/>
              </a:rPr>
              <a:t>Support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charset="0"/>
              </a:rPr>
              <a:t>(); </a:t>
            </a:r>
            <a:r>
              <a:rPr lang="en-US" altLang="zh-CN" sz="1600" dirty="0">
                <a:solidFill>
                  <a:srgbClr val="8F0055"/>
                </a:solidFill>
                <a:latin typeface="Consolas" panose="020B0609020204030204" charset="0"/>
              </a:rPr>
              <a:t>$break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charset="0"/>
              </a:rPr>
              <a:t>;</a:t>
            </a:r>
            <a:endParaRPr lang="en-US" altLang="zh-CN" sz="1600" dirty="0">
              <a:solidFill>
                <a:srgbClr val="000000"/>
              </a:solidFill>
              <a:latin typeface="Consolas" panose="020B0609020204030204" charset="0"/>
            </a:endParaRPr>
          </a:p>
          <a:p>
            <a:r>
              <a:rPr lang="zh-CN" altLang="en-US" sz="1600" dirty="0">
                <a:latin typeface="Consolas" panose="020B0609020204030204" charset="0"/>
              </a:rPr>
              <a:t>       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charset="0"/>
              </a:rPr>
              <a:t>}</a:t>
            </a:r>
            <a:endParaRPr lang="en-US" altLang="zh-CN" sz="1600" dirty="0">
              <a:solidFill>
                <a:srgbClr val="000000"/>
              </a:solidFill>
              <a:latin typeface="Consolas" panose="020B0609020204030204" charset="0"/>
            </a:endParaRPr>
          </a:p>
          <a:p>
            <a:r>
              <a:rPr lang="en-US" altLang="zh-CN" sz="1600" dirty="0">
                <a:latin typeface="Consolas" panose="020B0609020204030204" charset="0"/>
              </a:rPr>
              <a:t>        </a:t>
            </a:r>
            <a:r>
              <a:rPr lang="en-US" altLang="zh-CN" sz="1600" dirty="0">
                <a:solidFill>
                  <a:srgbClr val="8F0055"/>
                </a:solidFill>
                <a:latin typeface="Consolas" panose="020B0609020204030204" charset="0"/>
              </a:rPr>
              <a:t>return $support</a:t>
            </a:r>
            <a:endParaRPr lang="en-US" altLang="zh-CN" sz="1600" dirty="0">
              <a:solidFill>
                <a:srgbClr val="8F0055"/>
              </a:solidFill>
              <a:latin typeface="Consolas" panose="020B0609020204030204" charset="0"/>
            </a:endParaRPr>
          </a:p>
          <a:p>
            <a:r>
              <a:rPr lang="zh-CN" altLang="en-US" sz="1600" dirty="0">
                <a:latin typeface="Consolas" panose="020B0609020204030204" charset="0"/>
              </a:rPr>
              <a:t>   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charset="0"/>
              </a:rPr>
              <a:t>}</a:t>
            </a:r>
            <a:endParaRPr lang="en-US" altLang="zh-CN" sz="1600" dirty="0">
              <a:solidFill>
                <a:srgbClr val="000000"/>
              </a:solidFill>
              <a:latin typeface="Consolas" panose="020B0609020204030204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charset="0"/>
              </a:rPr>
              <a:t>}</a:t>
            </a:r>
            <a:endParaRPr lang="en-US" altLang="zh-CN" sz="1600" dirty="0">
              <a:solidFill>
                <a:srgbClr val="000000"/>
              </a:solidFill>
              <a:latin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9">
        <p:fade/>
      </p:transition>
    </mc:Choice>
    <mc:Fallback>
      <p:transition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/>
          <p:cNvGrpSpPr/>
          <p:nvPr/>
        </p:nvGrpSpPr>
        <p:grpSpPr>
          <a:xfrm>
            <a:off x="886327" y="591989"/>
            <a:ext cx="11086097" cy="0"/>
            <a:chOff x="1028775" y="591989"/>
            <a:chExt cx="11086097" cy="0"/>
          </a:xfrm>
        </p:grpSpPr>
        <p:cxnSp>
          <p:nvCxnSpPr>
            <p:cNvPr id="33" name="直接连接符 32"/>
            <p:cNvCxnSpPr/>
            <p:nvPr/>
          </p:nvCxnSpPr>
          <p:spPr>
            <a:xfrm>
              <a:off x="10287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>
              <a:off x="86106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Box 8"/>
          <p:cNvSpPr txBox="1"/>
          <p:nvPr/>
        </p:nvSpPr>
        <p:spPr>
          <a:xfrm>
            <a:off x="4454798" y="233569"/>
            <a:ext cx="3949155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简单工厂模式</a:t>
            </a:r>
            <a:endParaRPr lang="zh-CN" altLang="en-US" sz="3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" name="TextBox 8"/>
          <p:cNvSpPr txBox="1"/>
          <p:nvPr/>
        </p:nvSpPr>
        <p:spPr>
          <a:xfrm>
            <a:off x="5025514" y="743526"/>
            <a:ext cx="2876303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SIMPLE FACTORY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PATTERN</a:t>
            </a:r>
            <a:endParaRPr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629175" y="31842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3739967" y="1599227"/>
            <a:ext cx="6429375" cy="317009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kern="0" dirty="0">
                <a:solidFill>
                  <a:srgbClr val="007F1C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// </a:t>
            </a:r>
            <a:r>
              <a:rPr lang="zh-CN" altLang="zh-CN" kern="0" dirty="0">
                <a:solidFill>
                  <a:srgbClr val="007F1C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赠送奖品</a:t>
            </a:r>
            <a:endParaRPr lang="zh-CN" altLang="zh-CN" sz="20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altLang="zh-CN" kern="0" dirty="0">
                <a:solidFill>
                  <a:srgbClr val="8F0055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$support</a:t>
            </a:r>
            <a:r>
              <a:rPr lang="en-US" altLang="zh-CN" kern="0" dirty="0">
                <a:solidFill>
                  <a:srgbClr val="0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 = </a:t>
            </a:r>
            <a:r>
              <a:rPr lang="en-US" altLang="zh-CN" kern="0" dirty="0" err="1">
                <a:solidFill>
                  <a:srgbClr val="0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SupportFactory</a:t>
            </a:r>
            <a:r>
              <a:rPr lang="en-US" altLang="zh-CN" kern="0" dirty="0">
                <a:solidFill>
                  <a:srgbClr val="0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::create(</a:t>
            </a:r>
            <a:r>
              <a:rPr lang="en-US" altLang="zh-CN" kern="0" dirty="0">
                <a:solidFill>
                  <a:srgbClr val="8F0055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$prize</a:t>
            </a:r>
            <a:r>
              <a:rPr lang="en-US" altLang="zh-CN" kern="0" dirty="0">
                <a:solidFill>
                  <a:srgbClr val="0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);</a:t>
            </a:r>
            <a:endParaRPr lang="zh-CN" altLang="zh-CN" sz="20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altLang="zh-CN" kern="0" dirty="0">
                <a:solidFill>
                  <a:srgbClr val="8F0055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if</a:t>
            </a:r>
            <a:r>
              <a:rPr lang="en-US" altLang="zh-CN" kern="0" dirty="0">
                <a:solidFill>
                  <a:srgbClr val="0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 (</a:t>
            </a:r>
            <a:r>
              <a:rPr lang="en-US" altLang="zh-CN" kern="0" dirty="0">
                <a:solidFill>
                  <a:srgbClr val="8F0055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$support-&gt;</a:t>
            </a:r>
            <a:r>
              <a:rPr lang="en-US" altLang="zh-CN" kern="0" dirty="0" err="1">
                <a:solidFill>
                  <a:srgbClr val="8F0055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checkQualifications</a:t>
            </a:r>
            <a:r>
              <a:rPr lang="en-US" altLang="zh-CN" kern="0" dirty="0">
                <a:solidFill>
                  <a:srgbClr val="0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(</a:t>
            </a:r>
            <a:r>
              <a:rPr lang="en-US" altLang="zh-CN" kern="0" dirty="0">
                <a:solidFill>
                  <a:srgbClr val="8F0055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$</a:t>
            </a:r>
            <a:r>
              <a:rPr lang="en-US" altLang="zh-CN" kern="0" dirty="0" err="1">
                <a:solidFill>
                  <a:srgbClr val="8F0055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userId</a:t>
            </a:r>
            <a:r>
              <a:rPr lang="en-US" altLang="zh-CN" kern="0" dirty="0">
                <a:solidFill>
                  <a:srgbClr val="0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)) {</a:t>
            </a:r>
            <a:endParaRPr lang="zh-CN" altLang="zh-CN" sz="20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altLang="zh-CN" kern="0" dirty="0">
                <a:solidFill>
                  <a:srgbClr val="0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    </a:t>
            </a:r>
            <a:r>
              <a:rPr lang="en-US" altLang="zh-CN" kern="0" dirty="0">
                <a:solidFill>
                  <a:srgbClr val="8F0055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$support-&gt;</a:t>
            </a:r>
            <a:r>
              <a:rPr lang="en-US" altLang="zh-CN" kern="0" dirty="0" err="1">
                <a:solidFill>
                  <a:srgbClr val="8F0055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giveOut</a:t>
            </a:r>
            <a:r>
              <a:rPr lang="en-US" altLang="zh-CN" kern="0" dirty="0">
                <a:solidFill>
                  <a:srgbClr val="0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(</a:t>
            </a:r>
            <a:r>
              <a:rPr lang="en-US" altLang="zh-CN" kern="0" dirty="0">
                <a:solidFill>
                  <a:srgbClr val="8F0055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$</a:t>
            </a:r>
            <a:r>
              <a:rPr lang="en-US" altLang="zh-CN" kern="0" dirty="0" err="1">
                <a:solidFill>
                  <a:srgbClr val="8F0055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userId</a:t>
            </a:r>
            <a:r>
              <a:rPr lang="en-US" altLang="zh-CN" kern="0" dirty="0">
                <a:solidFill>
                  <a:srgbClr val="0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);</a:t>
            </a:r>
            <a:endParaRPr lang="zh-CN" altLang="zh-CN" sz="20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altLang="zh-CN" kern="0" dirty="0">
                <a:solidFill>
                  <a:srgbClr val="0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}</a:t>
            </a:r>
            <a:endParaRPr lang="zh-CN" altLang="zh-CN" sz="20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altLang="zh-CN" kern="0" dirty="0"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 </a:t>
            </a:r>
            <a:endParaRPr lang="zh-CN" altLang="zh-CN" sz="20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altLang="zh-CN" kern="0" dirty="0">
                <a:solidFill>
                  <a:srgbClr val="007F1C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// </a:t>
            </a:r>
            <a:r>
              <a:rPr lang="zh-CN" altLang="zh-CN" kern="0" dirty="0">
                <a:solidFill>
                  <a:srgbClr val="007F1C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查询奖品状态</a:t>
            </a:r>
            <a:endParaRPr lang="zh-CN" altLang="zh-CN" sz="20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altLang="zh-CN" kern="0" dirty="0">
                <a:solidFill>
                  <a:srgbClr val="8F0055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$support</a:t>
            </a:r>
            <a:r>
              <a:rPr lang="en-US" altLang="zh-CN" kern="0" dirty="0">
                <a:solidFill>
                  <a:srgbClr val="0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 = </a:t>
            </a:r>
            <a:r>
              <a:rPr lang="en-US" altLang="zh-CN" kern="0" dirty="0" err="1">
                <a:solidFill>
                  <a:srgbClr val="0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SupportFactory</a:t>
            </a:r>
            <a:r>
              <a:rPr lang="en-US" altLang="zh-CN" kern="0" dirty="0">
                <a:solidFill>
                  <a:srgbClr val="0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::create(</a:t>
            </a:r>
            <a:r>
              <a:rPr lang="en-US" altLang="zh-CN" kern="0" dirty="0">
                <a:solidFill>
                  <a:srgbClr val="8F0055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$prize</a:t>
            </a:r>
            <a:r>
              <a:rPr lang="en-US" altLang="zh-CN" kern="0" dirty="0">
                <a:solidFill>
                  <a:srgbClr val="0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);</a:t>
            </a:r>
            <a:endParaRPr lang="zh-CN" altLang="zh-CN" sz="20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altLang="zh-CN" kern="0" dirty="0">
                <a:solidFill>
                  <a:srgbClr val="8F0055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return</a:t>
            </a:r>
            <a:r>
              <a:rPr lang="en-US" altLang="zh-CN" kern="0" dirty="0">
                <a:solidFill>
                  <a:srgbClr val="0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 </a:t>
            </a:r>
            <a:r>
              <a:rPr lang="en-US" altLang="zh-CN" kern="0" dirty="0">
                <a:solidFill>
                  <a:srgbClr val="8F0055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$support-&gt;</a:t>
            </a:r>
            <a:r>
              <a:rPr lang="en-US" altLang="zh-CN" kern="0" dirty="0" err="1">
                <a:solidFill>
                  <a:srgbClr val="8F0055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queryStatus</a:t>
            </a:r>
            <a:r>
              <a:rPr lang="en-US" altLang="zh-CN" kern="0" dirty="0">
                <a:solidFill>
                  <a:srgbClr val="0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(</a:t>
            </a:r>
            <a:r>
              <a:rPr lang="en-US" altLang="zh-CN" kern="0" dirty="0">
                <a:solidFill>
                  <a:srgbClr val="8F0055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$</a:t>
            </a:r>
            <a:r>
              <a:rPr lang="en-US" altLang="zh-CN" kern="0" dirty="0" err="1">
                <a:solidFill>
                  <a:srgbClr val="8F0055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userId</a:t>
            </a:r>
            <a:r>
              <a:rPr lang="en-US" altLang="zh-CN" kern="0" dirty="0">
                <a:solidFill>
                  <a:srgbClr val="000000"/>
                </a:solidFill>
                <a:latin typeface="Consolas" panose="020B0609020204030204" charset="0"/>
                <a:ea typeface="等线" panose="02010600030101010101" pitchFamily="2" charset="-122"/>
                <a:cs typeface="Consolas" panose="020B0609020204030204" charset="0"/>
              </a:rPr>
              <a:t>);</a:t>
            </a:r>
            <a:endParaRPr lang="zh-CN" altLang="zh-CN" sz="20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040550" y="4917733"/>
            <a:ext cx="7128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</a:rPr>
              <a:t>调用方不需要知道具体是哪个承接方，只需按照流程调用方法就可以了。</a:t>
            </a:r>
            <a:endParaRPr lang="zh-CN" altLang="en-US" sz="2400" dirty="0"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9">
        <p:fade/>
      </p:transition>
    </mc:Choice>
    <mc:Fallback>
      <p:transition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/>
          <p:cNvGrpSpPr/>
          <p:nvPr/>
        </p:nvGrpSpPr>
        <p:grpSpPr>
          <a:xfrm>
            <a:off x="886327" y="591989"/>
            <a:ext cx="11086097" cy="0"/>
            <a:chOff x="1028775" y="591989"/>
            <a:chExt cx="11086097" cy="0"/>
          </a:xfrm>
        </p:grpSpPr>
        <p:cxnSp>
          <p:nvCxnSpPr>
            <p:cNvPr id="33" name="直接连接符 32"/>
            <p:cNvCxnSpPr/>
            <p:nvPr/>
          </p:nvCxnSpPr>
          <p:spPr>
            <a:xfrm>
              <a:off x="10287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>
              <a:off x="86106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Box 8"/>
          <p:cNvSpPr txBox="1"/>
          <p:nvPr/>
        </p:nvSpPr>
        <p:spPr>
          <a:xfrm>
            <a:off x="4454798" y="233569"/>
            <a:ext cx="3949155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简单工厂模式</a:t>
            </a:r>
            <a:endParaRPr lang="zh-CN" altLang="en-US" sz="3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" name="TextBox 8"/>
          <p:cNvSpPr txBox="1"/>
          <p:nvPr/>
        </p:nvSpPr>
        <p:spPr>
          <a:xfrm>
            <a:off x="5025514" y="743526"/>
            <a:ext cx="2876303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SIMPLE FACTORY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PATTERN</a:t>
            </a:r>
            <a:endParaRPr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629175" y="31842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75" y="1748770"/>
            <a:ext cx="10369104" cy="32403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9">
        <p:fade/>
      </p:transition>
    </mc:Choice>
    <mc:Fallback>
      <p:transition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/>
          <p:cNvGrpSpPr/>
          <p:nvPr/>
        </p:nvGrpSpPr>
        <p:grpSpPr>
          <a:xfrm>
            <a:off x="886327" y="591989"/>
            <a:ext cx="11086097" cy="0"/>
            <a:chOff x="1028775" y="591989"/>
            <a:chExt cx="11086097" cy="0"/>
          </a:xfrm>
        </p:grpSpPr>
        <p:cxnSp>
          <p:nvCxnSpPr>
            <p:cNvPr id="33" name="直接连接符 32"/>
            <p:cNvCxnSpPr/>
            <p:nvPr/>
          </p:nvCxnSpPr>
          <p:spPr>
            <a:xfrm>
              <a:off x="10287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>
              <a:off x="86106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文本框 2"/>
          <p:cNvSpPr txBox="1"/>
          <p:nvPr/>
        </p:nvSpPr>
        <p:spPr>
          <a:xfrm>
            <a:off x="2589847" y="992025"/>
            <a:ext cx="7679055" cy="1798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800" dirty="0">
                <a:latin typeface="黑体" panose="02010609060101010101" charset="-122"/>
                <a:ea typeface="黑体" panose="02010609060101010101" charset="-122"/>
              </a:rPr>
              <a:t>优点：</a:t>
            </a:r>
            <a:endParaRPr lang="zh-CN" altLang="zh-CN" sz="2800" dirty="0"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en-US" altLang="zh-CN" sz="2800" dirty="0">
                <a:latin typeface="黑体" panose="02010609060101010101" charset="-122"/>
                <a:ea typeface="黑体" panose="02010609060101010101" charset="-122"/>
              </a:rPr>
              <a:t>1. Support</a:t>
            </a:r>
            <a:r>
              <a:rPr lang="zh-CN" altLang="zh-CN" sz="2800" dirty="0">
                <a:latin typeface="黑体" panose="02010609060101010101" charset="-122"/>
                <a:ea typeface="黑体" panose="02010609060101010101" charset="-122"/>
              </a:rPr>
              <a:t>功能单一</a:t>
            </a: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</a:rPr>
              <a:t>；</a:t>
            </a:r>
            <a:endParaRPr lang="zh-CN" altLang="en-US" sz="2800" dirty="0"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en-US" altLang="zh-CN" sz="2800" dirty="0">
                <a:latin typeface="黑体" panose="02010609060101010101" charset="-122"/>
                <a:ea typeface="黑体" panose="02010609060101010101" charset="-122"/>
              </a:rPr>
              <a:t>2. </a:t>
            </a: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</a:rPr>
              <a:t>松耦合，扩展方便；</a:t>
            </a:r>
            <a:endParaRPr lang="zh-CN" altLang="en-US" sz="2800" dirty="0"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en-US" altLang="zh-CN" sz="2800" dirty="0">
                <a:latin typeface="黑体" panose="02010609060101010101" charset="-122"/>
                <a:ea typeface="黑体" panose="02010609060101010101" charset="-122"/>
              </a:rPr>
              <a:t>3. </a:t>
            </a: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</a:rPr>
              <a:t>让调用方更注重于业务流程；</a:t>
            </a:r>
            <a:endParaRPr lang="zh-CN" altLang="en-US" sz="280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607705" y="3025593"/>
            <a:ext cx="767905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800" dirty="0">
                <a:latin typeface="黑体" panose="02010609060101010101" charset="-122"/>
                <a:ea typeface="黑体" panose="02010609060101010101" charset="-122"/>
              </a:rPr>
              <a:t>缺点：</a:t>
            </a:r>
            <a:endParaRPr lang="zh-CN" altLang="zh-CN" sz="2800" dirty="0">
              <a:latin typeface="黑体" panose="02010609060101010101" charset="-122"/>
              <a:ea typeface="黑体" panose="02010609060101010101" charset="-122"/>
            </a:endParaRPr>
          </a:p>
          <a:p>
            <a:pPr marL="514350" indent="-514350">
              <a:buAutoNum type="arabicPeriod"/>
            </a:pP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</a:rPr>
              <a:t>使用了静态工厂方法，无法形成继承；</a:t>
            </a:r>
            <a:endParaRPr lang="en-US" altLang="zh-CN" sz="2800" dirty="0">
              <a:latin typeface="黑体" panose="02010609060101010101" charset="-122"/>
              <a:ea typeface="黑体" panose="02010609060101010101" charset="-122"/>
            </a:endParaRPr>
          </a:p>
          <a:p>
            <a:pPr marL="514350" indent="-514350">
              <a:buAutoNum type="arabicPeriod"/>
            </a:pP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</a:rPr>
              <a:t>新增产品必须修改工厂逻辑，不适合处理太多的产品；</a:t>
            </a:r>
            <a:endParaRPr lang="en-US" altLang="zh-CN" sz="2800" dirty="0">
              <a:latin typeface="黑体" panose="02010609060101010101" charset="-122"/>
              <a:ea typeface="黑体" panose="02010609060101010101" charset="-122"/>
            </a:endParaRPr>
          </a:p>
          <a:p>
            <a:pPr marL="514350" indent="-514350">
              <a:buAutoNum type="arabicPeriod"/>
            </a:pP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</a:rPr>
              <a:t>代码中类的数量增多，增加了系统的复杂性；</a:t>
            </a:r>
            <a:endParaRPr lang="en-US" altLang="zh-CN" sz="2800" dirty="0">
              <a:latin typeface="黑体" panose="02010609060101010101" charset="-122"/>
              <a:ea typeface="黑体" panose="02010609060101010101" charset="-122"/>
            </a:endParaRPr>
          </a:p>
          <a:p>
            <a:pPr marL="514350" indent="-514350">
              <a:buAutoNum type="arabicPeriod"/>
            </a:pP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</a:rPr>
              <a:t>集中管理了产品的创建，一旦出现问题会波及整个系统；</a:t>
            </a:r>
            <a:endParaRPr lang="en-US" altLang="zh-CN" sz="280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454798" y="233569"/>
            <a:ext cx="3949155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简单工厂模式</a:t>
            </a:r>
            <a:endParaRPr lang="zh-CN" altLang="en-US" sz="3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" name="TextBox 8"/>
          <p:cNvSpPr txBox="1"/>
          <p:nvPr/>
        </p:nvSpPr>
        <p:spPr>
          <a:xfrm>
            <a:off x="5025514" y="743526"/>
            <a:ext cx="2876303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SIMPLE FACTORY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PATTERN</a:t>
            </a:r>
            <a:endParaRPr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9">
        <p:fade/>
      </p:transition>
    </mc:Choice>
    <mc:Fallback>
      <p:transition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/>
          <p:cNvGrpSpPr/>
          <p:nvPr/>
        </p:nvGrpSpPr>
        <p:grpSpPr>
          <a:xfrm>
            <a:off x="886327" y="591989"/>
            <a:ext cx="11086097" cy="0"/>
            <a:chOff x="1028775" y="591989"/>
            <a:chExt cx="11086097" cy="0"/>
          </a:xfrm>
        </p:grpSpPr>
        <p:cxnSp>
          <p:nvCxnSpPr>
            <p:cNvPr id="33" name="直接连接符 32"/>
            <p:cNvCxnSpPr/>
            <p:nvPr/>
          </p:nvCxnSpPr>
          <p:spPr>
            <a:xfrm>
              <a:off x="10287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>
              <a:off x="86106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文本框 2"/>
          <p:cNvSpPr txBox="1"/>
          <p:nvPr/>
        </p:nvSpPr>
        <p:spPr>
          <a:xfrm>
            <a:off x="2589530" y="1757680"/>
            <a:ext cx="767905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800" dirty="0">
                <a:latin typeface="黑体" panose="02010609060101010101" charset="-122"/>
                <a:ea typeface="黑体" panose="02010609060101010101" charset="-122"/>
              </a:rPr>
              <a:t>设计原则：</a:t>
            </a:r>
            <a:endParaRPr lang="zh-CN" altLang="zh-CN" sz="2800" dirty="0">
              <a:latin typeface="黑体" panose="02010609060101010101" charset="-122"/>
              <a:ea typeface="黑体" panose="02010609060101010101" charset="-122"/>
            </a:endParaRPr>
          </a:p>
          <a:p>
            <a:pPr marL="514350" indent="-514350">
              <a:buAutoNum type="arabicPeriod"/>
            </a:pPr>
            <a:r>
              <a:rPr lang="zh-CN" altLang="zh-CN" sz="2800" dirty="0">
                <a:latin typeface="黑体" panose="02010609060101010101" charset="-122"/>
                <a:ea typeface="黑体" panose="02010609060101010101" charset="-122"/>
              </a:rPr>
              <a:t>单一职责原则</a:t>
            </a: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</a:rPr>
              <a:t>；</a:t>
            </a:r>
            <a:endParaRPr lang="en-US" altLang="zh-CN" sz="2800" dirty="0">
              <a:latin typeface="黑体" panose="02010609060101010101" charset="-122"/>
              <a:ea typeface="黑体" panose="02010609060101010101" charset="-122"/>
            </a:endParaRPr>
          </a:p>
          <a:p>
            <a:pPr marL="514350" indent="-514350">
              <a:buAutoNum type="arabicPeriod"/>
            </a:pP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</a:rPr>
              <a:t>针对接口编程，不针对实现编程；</a:t>
            </a:r>
            <a:endParaRPr lang="zh-CN" altLang="en-US" sz="280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589530" y="3823970"/>
            <a:ext cx="7679055" cy="51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</a:rPr>
              <a:t>思考一下简单工厂模式中是否有体现策略模式？</a:t>
            </a:r>
            <a:endParaRPr lang="zh-CN" altLang="en-US" sz="280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0" name="TextBox 8"/>
          <p:cNvSpPr txBox="1"/>
          <p:nvPr/>
        </p:nvSpPr>
        <p:spPr>
          <a:xfrm>
            <a:off x="4454798" y="233569"/>
            <a:ext cx="3949155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简单工厂模式</a:t>
            </a:r>
            <a:endParaRPr lang="zh-CN" altLang="en-US" sz="3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TextBox 8"/>
          <p:cNvSpPr txBox="1"/>
          <p:nvPr/>
        </p:nvSpPr>
        <p:spPr>
          <a:xfrm>
            <a:off x="5025514" y="743526"/>
            <a:ext cx="2876303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SIMPLE FACTORY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PATTERN</a:t>
            </a:r>
            <a:endParaRPr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9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>
            <p:custDataLst>
              <p:tags r:id="rId1"/>
            </p:custDataLst>
          </p:nvPr>
        </p:nvCxnSpPr>
        <p:spPr>
          <a:xfrm>
            <a:off x="6152391" y="3848208"/>
            <a:ext cx="4143672" cy="0"/>
          </a:xfrm>
          <a:prstGeom prst="line">
            <a:avLst/>
          </a:prstGeom>
          <a:ln w="12700">
            <a:solidFill>
              <a:schemeClr val="tx1">
                <a:lumMod val="20000"/>
                <a:lumOff val="80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6267450" y="2995295"/>
            <a:ext cx="3913505" cy="7829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altLang="zh-CN" sz="4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总结</a:t>
            </a:r>
            <a:endParaRPr lang="zh-CN" altLang="zh-CN" sz="4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244799" y="1708340"/>
            <a:ext cx="3828393" cy="4080857"/>
            <a:chOff x="999059" y="1708340"/>
            <a:chExt cx="3828393" cy="4080857"/>
          </a:xfrm>
        </p:grpSpPr>
        <p:grpSp>
          <p:nvGrpSpPr>
            <p:cNvPr id="15" name="组合 14"/>
            <p:cNvGrpSpPr/>
            <p:nvPr/>
          </p:nvGrpSpPr>
          <p:grpSpPr>
            <a:xfrm>
              <a:off x="999059" y="1708340"/>
              <a:ext cx="3828393" cy="4080857"/>
              <a:chOff x="3835400" y="1789113"/>
              <a:chExt cx="1468438" cy="1565275"/>
            </a:xfrm>
          </p:grpSpPr>
          <p:sp>
            <p:nvSpPr>
              <p:cNvPr id="18" name="Freeform 5"/>
              <p:cNvSpPr/>
              <p:nvPr/>
            </p:nvSpPr>
            <p:spPr bwMode="auto">
              <a:xfrm>
                <a:off x="4005263" y="1789113"/>
                <a:ext cx="1298575" cy="1565275"/>
              </a:xfrm>
              <a:custGeom>
                <a:avLst/>
                <a:gdLst>
                  <a:gd name="T0" fmla="*/ 304 w 304"/>
                  <a:gd name="T1" fmla="*/ 322 h 366"/>
                  <a:gd name="T2" fmla="*/ 260 w 304"/>
                  <a:gd name="T3" fmla="*/ 366 h 366"/>
                  <a:gd name="T4" fmla="*/ 0 w 304"/>
                  <a:gd name="T5" fmla="*/ 366 h 366"/>
                  <a:gd name="T6" fmla="*/ 0 w 304"/>
                  <a:gd name="T7" fmla="*/ 0 h 366"/>
                  <a:gd name="T8" fmla="*/ 260 w 304"/>
                  <a:gd name="T9" fmla="*/ 0 h 366"/>
                  <a:gd name="T10" fmla="*/ 304 w 304"/>
                  <a:gd name="T11" fmla="*/ 44 h 366"/>
                  <a:gd name="T12" fmla="*/ 304 w 304"/>
                  <a:gd name="T13" fmla="*/ 322 h 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4" h="366">
                    <a:moveTo>
                      <a:pt x="304" y="322"/>
                    </a:moveTo>
                    <a:cubicBezTo>
                      <a:pt x="304" y="347"/>
                      <a:pt x="285" y="366"/>
                      <a:pt x="260" y="366"/>
                    </a:cubicBezTo>
                    <a:cubicBezTo>
                      <a:pt x="0" y="366"/>
                      <a:pt x="0" y="366"/>
                      <a:pt x="0" y="36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60" y="0"/>
                      <a:pt x="260" y="0"/>
                      <a:pt x="260" y="0"/>
                    </a:cubicBezTo>
                    <a:cubicBezTo>
                      <a:pt x="285" y="0"/>
                      <a:pt x="304" y="20"/>
                      <a:pt x="304" y="44"/>
                    </a:cubicBezTo>
                    <a:lnTo>
                      <a:pt x="304" y="322"/>
                    </a:lnTo>
                    <a:close/>
                  </a:path>
                </a:pathLst>
              </a:cu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8580" tIns="64290" rIns="128580" bIns="64290" numCol="1" anchor="t" anchorCtr="0" compatLnSpc="1"/>
              <a:lstStyle/>
              <a:p>
                <a:endParaRPr lang="zh-CN" altLang="en-US" dirty="0">
                  <a:latin typeface="微软雅黑" panose="020B0503020204020204" pitchFamily="34" charset="-122"/>
                </a:endParaRPr>
              </a:p>
            </p:txBody>
          </p:sp>
          <p:sp>
            <p:nvSpPr>
              <p:cNvPr id="19" name="Freeform 6"/>
              <p:cNvSpPr/>
              <p:nvPr/>
            </p:nvSpPr>
            <p:spPr bwMode="auto">
              <a:xfrm>
                <a:off x="3967163" y="1789113"/>
                <a:ext cx="1298575" cy="1565275"/>
              </a:xfrm>
              <a:custGeom>
                <a:avLst/>
                <a:gdLst>
                  <a:gd name="T0" fmla="*/ 304 w 304"/>
                  <a:gd name="T1" fmla="*/ 322 h 366"/>
                  <a:gd name="T2" fmla="*/ 260 w 304"/>
                  <a:gd name="T3" fmla="*/ 366 h 366"/>
                  <a:gd name="T4" fmla="*/ 0 w 304"/>
                  <a:gd name="T5" fmla="*/ 366 h 366"/>
                  <a:gd name="T6" fmla="*/ 0 w 304"/>
                  <a:gd name="T7" fmla="*/ 0 h 366"/>
                  <a:gd name="T8" fmla="*/ 260 w 304"/>
                  <a:gd name="T9" fmla="*/ 0 h 366"/>
                  <a:gd name="T10" fmla="*/ 304 w 304"/>
                  <a:gd name="T11" fmla="*/ 44 h 366"/>
                  <a:gd name="T12" fmla="*/ 304 w 304"/>
                  <a:gd name="T13" fmla="*/ 322 h 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4" h="366">
                    <a:moveTo>
                      <a:pt x="304" y="322"/>
                    </a:moveTo>
                    <a:cubicBezTo>
                      <a:pt x="304" y="347"/>
                      <a:pt x="284" y="366"/>
                      <a:pt x="260" y="366"/>
                    </a:cubicBezTo>
                    <a:cubicBezTo>
                      <a:pt x="0" y="366"/>
                      <a:pt x="0" y="366"/>
                      <a:pt x="0" y="36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60" y="0"/>
                      <a:pt x="260" y="0"/>
                      <a:pt x="260" y="0"/>
                    </a:cubicBezTo>
                    <a:cubicBezTo>
                      <a:pt x="284" y="0"/>
                      <a:pt x="304" y="20"/>
                      <a:pt x="304" y="44"/>
                    </a:cubicBezTo>
                    <a:lnTo>
                      <a:pt x="304" y="32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8580" tIns="64290" rIns="128580" bIns="64290" numCol="1" anchor="t" anchorCtr="0" compatLnSpc="1"/>
              <a:lstStyle/>
              <a:p>
                <a:endParaRPr lang="zh-CN" altLang="en-US" dirty="0">
                  <a:latin typeface="微软雅黑" panose="020B0503020204020204" pitchFamily="34" charset="-122"/>
                </a:endParaRPr>
              </a:p>
            </p:txBody>
          </p:sp>
          <p:sp>
            <p:nvSpPr>
              <p:cNvPr id="20" name="Rectangle 8"/>
              <p:cNvSpPr>
                <a:spLocks noChangeArrowheads="1"/>
              </p:cNvSpPr>
              <p:nvPr/>
            </p:nvSpPr>
            <p:spPr bwMode="auto">
              <a:xfrm>
                <a:off x="4318000" y="2117726"/>
                <a:ext cx="674688" cy="342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128580" tIns="64290" rIns="128580" bIns="64290" numCol="1" anchor="t" anchorCtr="0" compatLnSpc="1"/>
              <a:lstStyle/>
              <a:p>
                <a:endParaRPr lang="zh-CN" altLang="en-US" dirty="0">
                  <a:latin typeface="微软雅黑" panose="020B0503020204020204" pitchFamily="34" charset="-122"/>
                </a:endParaRPr>
              </a:p>
            </p:txBody>
          </p:sp>
          <p:sp>
            <p:nvSpPr>
              <p:cNvPr id="21" name="Freeform 9"/>
              <p:cNvSpPr/>
              <p:nvPr/>
            </p:nvSpPr>
            <p:spPr bwMode="auto">
              <a:xfrm>
                <a:off x="3835400" y="1839913"/>
                <a:ext cx="234950" cy="73025"/>
              </a:xfrm>
              <a:custGeom>
                <a:avLst/>
                <a:gdLst>
                  <a:gd name="T0" fmla="*/ 55 w 55"/>
                  <a:gd name="T1" fmla="*/ 8 h 17"/>
                  <a:gd name="T2" fmla="*/ 46 w 55"/>
                  <a:gd name="T3" fmla="*/ 17 h 17"/>
                  <a:gd name="T4" fmla="*/ 8 w 55"/>
                  <a:gd name="T5" fmla="*/ 17 h 17"/>
                  <a:gd name="T6" fmla="*/ 0 w 55"/>
                  <a:gd name="T7" fmla="*/ 8 h 17"/>
                  <a:gd name="T8" fmla="*/ 0 w 55"/>
                  <a:gd name="T9" fmla="*/ 8 h 17"/>
                  <a:gd name="T10" fmla="*/ 8 w 55"/>
                  <a:gd name="T11" fmla="*/ 0 h 17"/>
                  <a:gd name="T12" fmla="*/ 46 w 55"/>
                  <a:gd name="T13" fmla="*/ 0 h 17"/>
                  <a:gd name="T14" fmla="*/ 55 w 55"/>
                  <a:gd name="T15" fmla="*/ 8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" h="17">
                    <a:moveTo>
                      <a:pt x="55" y="8"/>
                    </a:moveTo>
                    <a:cubicBezTo>
                      <a:pt x="55" y="13"/>
                      <a:pt x="51" y="17"/>
                      <a:pt x="46" y="17"/>
                    </a:cubicBezTo>
                    <a:cubicBezTo>
                      <a:pt x="8" y="17"/>
                      <a:pt x="8" y="17"/>
                      <a:pt x="8" y="17"/>
                    </a:cubicBezTo>
                    <a:cubicBezTo>
                      <a:pt x="3" y="17"/>
                      <a:pt x="0" y="13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3"/>
                      <a:pt x="3" y="0"/>
                      <a:pt x="8" y="0"/>
                    </a:cubicBezTo>
                    <a:cubicBezTo>
                      <a:pt x="46" y="0"/>
                      <a:pt x="46" y="0"/>
                      <a:pt x="46" y="0"/>
                    </a:cubicBezTo>
                    <a:cubicBezTo>
                      <a:pt x="51" y="0"/>
                      <a:pt x="55" y="3"/>
                      <a:pt x="55" y="8"/>
                    </a:cubicBez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8580" tIns="64290" rIns="128580" bIns="64290" numCol="1" anchor="t" anchorCtr="0" compatLnSpc="1"/>
              <a:lstStyle/>
              <a:p>
                <a:endParaRPr lang="zh-CN" altLang="en-US" dirty="0">
                  <a:latin typeface="微软雅黑" panose="020B0503020204020204" pitchFamily="34" charset="-122"/>
                </a:endParaRPr>
              </a:p>
            </p:txBody>
          </p:sp>
          <p:sp>
            <p:nvSpPr>
              <p:cNvPr id="22" name="Freeform 10"/>
              <p:cNvSpPr/>
              <p:nvPr/>
            </p:nvSpPr>
            <p:spPr bwMode="auto">
              <a:xfrm>
                <a:off x="3835400" y="1976438"/>
                <a:ext cx="234950" cy="73025"/>
              </a:xfrm>
              <a:custGeom>
                <a:avLst/>
                <a:gdLst>
                  <a:gd name="T0" fmla="*/ 55 w 55"/>
                  <a:gd name="T1" fmla="*/ 9 h 17"/>
                  <a:gd name="T2" fmla="*/ 46 w 55"/>
                  <a:gd name="T3" fmla="*/ 17 h 17"/>
                  <a:gd name="T4" fmla="*/ 8 w 55"/>
                  <a:gd name="T5" fmla="*/ 17 h 17"/>
                  <a:gd name="T6" fmla="*/ 0 w 55"/>
                  <a:gd name="T7" fmla="*/ 9 h 17"/>
                  <a:gd name="T8" fmla="*/ 0 w 55"/>
                  <a:gd name="T9" fmla="*/ 9 h 17"/>
                  <a:gd name="T10" fmla="*/ 8 w 55"/>
                  <a:gd name="T11" fmla="*/ 0 h 17"/>
                  <a:gd name="T12" fmla="*/ 46 w 55"/>
                  <a:gd name="T13" fmla="*/ 0 h 17"/>
                  <a:gd name="T14" fmla="*/ 55 w 55"/>
                  <a:gd name="T15" fmla="*/ 9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" h="17">
                    <a:moveTo>
                      <a:pt x="55" y="9"/>
                    </a:moveTo>
                    <a:cubicBezTo>
                      <a:pt x="55" y="13"/>
                      <a:pt x="51" y="17"/>
                      <a:pt x="46" y="17"/>
                    </a:cubicBezTo>
                    <a:cubicBezTo>
                      <a:pt x="8" y="17"/>
                      <a:pt x="8" y="17"/>
                      <a:pt x="8" y="17"/>
                    </a:cubicBezTo>
                    <a:cubicBezTo>
                      <a:pt x="3" y="17"/>
                      <a:pt x="0" y="13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4"/>
                      <a:pt x="3" y="0"/>
                      <a:pt x="8" y="0"/>
                    </a:cubicBezTo>
                    <a:cubicBezTo>
                      <a:pt x="46" y="0"/>
                      <a:pt x="46" y="0"/>
                      <a:pt x="46" y="0"/>
                    </a:cubicBezTo>
                    <a:cubicBezTo>
                      <a:pt x="51" y="0"/>
                      <a:pt x="55" y="4"/>
                      <a:pt x="55" y="9"/>
                    </a:cubicBez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8580" tIns="64290" rIns="128580" bIns="64290" numCol="1" anchor="t" anchorCtr="0" compatLnSpc="1"/>
              <a:lstStyle/>
              <a:p>
                <a:endParaRPr lang="zh-CN" altLang="en-US" dirty="0">
                  <a:latin typeface="微软雅黑" panose="020B0503020204020204" pitchFamily="34" charset="-122"/>
                </a:endParaRPr>
              </a:p>
            </p:txBody>
          </p:sp>
          <p:sp>
            <p:nvSpPr>
              <p:cNvPr id="23" name="Freeform 11"/>
              <p:cNvSpPr/>
              <p:nvPr/>
            </p:nvSpPr>
            <p:spPr bwMode="auto">
              <a:xfrm>
                <a:off x="3835400" y="2117726"/>
                <a:ext cx="234950" cy="73025"/>
              </a:xfrm>
              <a:custGeom>
                <a:avLst/>
                <a:gdLst>
                  <a:gd name="T0" fmla="*/ 55 w 55"/>
                  <a:gd name="T1" fmla="*/ 8 h 17"/>
                  <a:gd name="T2" fmla="*/ 46 w 55"/>
                  <a:gd name="T3" fmla="*/ 17 h 17"/>
                  <a:gd name="T4" fmla="*/ 8 w 55"/>
                  <a:gd name="T5" fmla="*/ 17 h 17"/>
                  <a:gd name="T6" fmla="*/ 0 w 55"/>
                  <a:gd name="T7" fmla="*/ 8 h 17"/>
                  <a:gd name="T8" fmla="*/ 0 w 55"/>
                  <a:gd name="T9" fmla="*/ 8 h 17"/>
                  <a:gd name="T10" fmla="*/ 8 w 55"/>
                  <a:gd name="T11" fmla="*/ 0 h 17"/>
                  <a:gd name="T12" fmla="*/ 46 w 55"/>
                  <a:gd name="T13" fmla="*/ 0 h 17"/>
                  <a:gd name="T14" fmla="*/ 55 w 55"/>
                  <a:gd name="T15" fmla="*/ 8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" h="17">
                    <a:moveTo>
                      <a:pt x="55" y="8"/>
                    </a:moveTo>
                    <a:cubicBezTo>
                      <a:pt x="55" y="13"/>
                      <a:pt x="51" y="17"/>
                      <a:pt x="46" y="17"/>
                    </a:cubicBezTo>
                    <a:cubicBezTo>
                      <a:pt x="8" y="17"/>
                      <a:pt x="8" y="17"/>
                      <a:pt x="8" y="17"/>
                    </a:cubicBezTo>
                    <a:cubicBezTo>
                      <a:pt x="3" y="17"/>
                      <a:pt x="0" y="13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4"/>
                      <a:pt x="3" y="0"/>
                      <a:pt x="8" y="0"/>
                    </a:cubicBezTo>
                    <a:cubicBezTo>
                      <a:pt x="46" y="0"/>
                      <a:pt x="46" y="0"/>
                      <a:pt x="46" y="0"/>
                    </a:cubicBezTo>
                    <a:cubicBezTo>
                      <a:pt x="51" y="0"/>
                      <a:pt x="55" y="4"/>
                      <a:pt x="55" y="8"/>
                    </a:cubicBez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8580" tIns="64290" rIns="128580" bIns="64290" numCol="1" anchor="t" anchorCtr="0" compatLnSpc="1"/>
              <a:lstStyle/>
              <a:p>
                <a:endParaRPr lang="zh-CN" altLang="en-US" dirty="0">
                  <a:latin typeface="微软雅黑" panose="020B0503020204020204" pitchFamily="34" charset="-122"/>
                </a:endParaRPr>
              </a:p>
            </p:txBody>
          </p:sp>
          <p:sp>
            <p:nvSpPr>
              <p:cNvPr id="24" name="Freeform 12"/>
              <p:cNvSpPr/>
              <p:nvPr/>
            </p:nvSpPr>
            <p:spPr bwMode="auto">
              <a:xfrm>
                <a:off x="3835400" y="2259013"/>
                <a:ext cx="234950" cy="73025"/>
              </a:xfrm>
              <a:custGeom>
                <a:avLst/>
                <a:gdLst>
                  <a:gd name="T0" fmla="*/ 55 w 55"/>
                  <a:gd name="T1" fmla="*/ 8 h 17"/>
                  <a:gd name="T2" fmla="*/ 46 w 55"/>
                  <a:gd name="T3" fmla="*/ 17 h 17"/>
                  <a:gd name="T4" fmla="*/ 8 w 55"/>
                  <a:gd name="T5" fmla="*/ 17 h 17"/>
                  <a:gd name="T6" fmla="*/ 0 w 55"/>
                  <a:gd name="T7" fmla="*/ 8 h 17"/>
                  <a:gd name="T8" fmla="*/ 0 w 55"/>
                  <a:gd name="T9" fmla="*/ 8 h 17"/>
                  <a:gd name="T10" fmla="*/ 8 w 55"/>
                  <a:gd name="T11" fmla="*/ 0 h 17"/>
                  <a:gd name="T12" fmla="*/ 46 w 55"/>
                  <a:gd name="T13" fmla="*/ 0 h 17"/>
                  <a:gd name="T14" fmla="*/ 55 w 55"/>
                  <a:gd name="T15" fmla="*/ 8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" h="17">
                    <a:moveTo>
                      <a:pt x="55" y="8"/>
                    </a:moveTo>
                    <a:cubicBezTo>
                      <a:pt x="55" y="13"/>
                      <a:pt x="51" y="17"/>
                      <a:pt x="46" y="17"/>
                    </a:cubicBezTo>
                    <a:cubicBezTo>
                      <a:pt x="8" y="17"/>
                      <a:pt x="8" y="17"/>
                      <a:pt x="8" y="17"/>
                    </a:cubicBezTo>
                    <a:cubicBezTo>
                      <a:pt x="3" y="17"/>
                      <a:pt x="0" y="13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3"/>
                      <a:pt x="3" y="0"/>
                      <a:pt x="8" y="0"/>
                    </a:cubicBezTo>
                    <a:cubicBezTo>
                      <a:pt x="46" y="0"/>
                      <a:pt x="46" y="0"/>
                      <a:pt x="46" y="0"/>
                    </a:cubicBezTo>
                    <a:cubicBezTo>
                      <a:pt x="51" y="0"/>
                      <a:pt x="55" y="3"/>
                      <a:pt x="55" y="8"/>
                    </a:cubicBez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8580" tIns="64290" rIns="128580" bIns="64290" numCol="1" anchor="t" anchorCtr="0" compatLnSpc="1"/>
              <a:lstStyle/>
              <a:p>
                <a:endParaRPr lang="zh-CN" altLang="en-US" dirty="0">
                  <a:latin typeface="微软雅黑" panose="020B0503020204020204" pitchFamily="34" charset="-122"/>
                </a:endParaRPr>
              </a:p>
            </p:txBody>
          </p:sp>
          <p:sp>
            <p:nvSpPr>
              <p:cNvPr id="25" name="Freeform 13"/>
              <p:cNvSpPr/>
              <p:nvPr/>
            </p:nvSpPr>
            <p:spPr bwMode="auto">
              <a:xfrm>
                <a:off x="3835400" y="2397126"/>
                <a:ext cx="234950" cy="71438"/>
              </a:xfrm>
              <a:custGeom>
                <a:avLst/>
                <a:gdLst>
                  <a:gd name="T0" fmla="*/ 55 w 55"/>
                  <a:gd name="T1" fmla="*/ 9 h 17"/>
                  <a:gd name="T2" fmla="*/ 46 w 55"/>
                  <a:gd name="T3" fmla="*/ 17 h 17"/>
                  <a:gd name="T4" fmla="*/ 8 w 55"/>
                  <a:gd name="T5" fmla="*/ 17 h 17"/>
                  <a:gd name="T6" fmla="*/ 0 w 55"/>
                  <a:gd name="T7" fmla="*/ 9 h 17"/>
                  <a:gd name="T8" fmla="*/ 0 w 55"/>
                  <a:gd name="T9" fmla="*/ 9 h 17"/>
                  <a:gd name="T10" fmla="*/ 8 w 55"/>
                  <a:gd name="T11" fmla="*/ 0 h 17"/>
                  <a:gd name="T12" fmla="*/ 46 w 55"/>
                  <a:gd name="T13" fmla="*/ 0 h 17"/>
                  <a:gd name="T14" fmla="*/ 55 w 55"/>
                  <a:gd name="T15" fmla="*/ 9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" h="17">
                    <a:moveTo>
                      <a:pt x="55" y="9"/>
                    </a:moveTo>
                    <a:cubicBezTo>
                      <a:pt x="55" y="13"/>
                      <a:pt x="51" y="17"/>
                      <a:pt x="46" y="17"/>
                    </a:cubicBezTo>
                    <a:cubicBezTo>
                      <a:pt x="8" y="17"/>
                      <a:pt x="8" y="17"/>
                      <a:pt x="8" y="17"/>
                    </a:cubicBezTo>
                    <a:cubicBezTo>
                      <a:pt x="3" y="17"/>
                      <a:pt x="0" y="13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4"/>
                      <a:pt x="3" y="0"/>
                      <a:pt x="8" y="0"/>
                    </a:cubicBezTo>
                    <a:cubicBezTo>
                      <a:pt x="46" y="0"/>
                      <a:pt x="46" y="0"/>
                      <a:pt x="46" y="0"/>
                    </a:cubicBezTo>
                    <a:cubicBezTo>
                      <a:pt x="51" y="0"/>
                      <a:pt x="55" y="4"/>
                      <a:pt x="55" y="9"/>
                    </a:cubicBez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8580" tIns="64290" rIns="128580" bIns="64290" numCol="1" anchor="t" anchorCtr="0" compatLnSpc="1"/>
              <a:lstStyle/>
              <a:p>
                <a:endParaRPr lang="zh-CN" altLang="en-US" dirty="0">
                  <a:latin typeface="微软雅黑" panose="020B0503020204020204" pitchFamily="34" charset="-122"/>
                </a:endParaRPr>
              </a:p>
            </p:txBody>
          </p:sp>
          <p:sp>
            <p:nvSpPr>
              <p:cNvPr id="26" name="Freeform 14"/>
              <p:cNvSpPr/>
              <p:nvPr/>
            </p:nvSpPr>
            <p:spPr bwMode="auto">
              <a:xfrm>
                <a:off x="3835400" y="2536826"/>
                <a:ext cx="234950" cy="73025"/>
              </a:xfrm>
              <a:custGeom>
                <a:avLst/>
                <a:gdLst>
                  <a:gd name="T0" fmla="*/ 55 w 55"/>
                  <a:gd name="T1" fmla="*/ 8 h 17"/>
                  <a:gd name="T2" fmla="*/ 46 w 55"/>
                  <a:gd name="T3" fmla="*/ 17 h 17"/>
                  <a:gd name="T4" fmla="*/ 8 w 55"/>
                  <a:gd name="T5" fmla="*/ 17 h 17"/>
                  <a:gd name="T6" fmla="*/ 0 w 55"/>
                  <a:gd name="T7" fmla="*/ 8 h 17"/>
                  <a:gd name="T8" fmla="*/ 0 w 55"/>
                  <a:gd name="T9" fmla="*/ 8 h 17"/>
                  <a:gd name="T10" fmla="*/ 8 w 55"/>
                  <a:gd name="T11" fmla="*/ 0 h 17"/>
                  <a:gd name="T12" fmla="*/ 46 w 55"/>
                  <a:gd name="T13" fmla="*/ 0 h 17"/>
                  <a:gd name="T14" fmla="*/ 55 w 55"/>
                  <a:gd name="T15" fmla="*/ 8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" h="17">
                    <a:moveTo>
                      <a:pt x="55" y="8"/>
                    </a:moveTo>
                    <a:cubicBezTo>
                      <a:pt x="55" y="13"/>
                      <a:pt x="51" y="17"/>
                      <a:pt x="46" y="17"/>
                    </a:cubicBezTo>
                    <a:cubicBezTo>
                      <a:pt x="8" y="17"/>
                      <a:pt x="8" y="17"/>
                      <a:pt x="8" y="17"/>
                    </a:cubicBezTo>
                    <a:cubicBezTo>
                      <a:pt x="3" y="17"/>
                      <a:pt x="0" y="13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4"/>
                      <a:pt x="3" y="0"/>
                      <a:pt x="8" y="0"/>
                    </a:cubicBezTo>
                    <a:cubicBezTo>
                      <a:pt x="46" y="0"/>
                      <a:pt x="46" y="0"/>
                      <a:pt x="46" y="0"/>
                    </a:cubicBezTo>
                    <a:cubicBezTo>
                      <a:pt x="51" y="0"/>
                      <a:pt x="55" y="4"/>
                      <a:pt x="55" y="8"/>
                    </a:cubicBez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8580" tIns="64290" rIns="128580" bIns="64290" numCol="1" anchor="t" anchorCtr="0" compatLnSpc="1"/>
              <a:lstStyle/>
              <a:p>
                <a:endParaRPr lang="zh-CN" altLang="en-US" dirty="0">
                  <a:latin typeface="微软雅黑" panose="020B0503020204020204" pitchFamily="34" charset="-122"/>
                </a:endParaRPr>
              </a:p>
            </p:txBody>
          </p:sp>
          <p:sp>
            <p:nvSpPr>
              <p:cNvPr id="27" name="Freeform 15"/>
              <p:cNvSpPr/>
              <p:nvPr/>
            </p:nvSpPr>
            <p:spPr bwMode="auto">
              <a:xfrm>
                <a:off x="3835400" y="2678113"/>
                <a:ext cx="234950" cy="73025"/>
              </a:xfrm>
              <a:custGeom>
                <a:avLst/>
                <a:gdLst>
                  <a:gd name="T0" fmla="*/ 55 w 55"/>
                  <a:gd name="T1" fmla="*/ 8 h 17"/>
                  <a:gd name="T2" fmla="*/ 46 w 55"/>
                  <a:gd name="T3" fmla="*/ 17 h 17"/>
                  <a:gd name="T4" fmla="*/ 8 w 55"/>
                  <a:gd name="T5" fmla="*/ 17 h 17"/>
                  <a:gd name="T6" fmla="*/ 0 w 55"/>
                  <a:gd name="T7" fmla="*/ 8 h 17"/>
                  <a:gd name="T8" fmla="*/ 0 w 55"/>
                  <a:gd name="T9" fmla="*/ 8 h 17"/>
                  <a:gd name="T10" fmla="*/ 8 w 55"/>
                  <a:gd name="T11" fmla="*/ 0 h 17"/>
                  <a:gd name="T12" fmla="*/ 46 w 55"/>
                  <a:gd name="T13" fmla="*/ 0 h 17"/>
                  <a:gd name="T14" fmla="*/ 55 w 55"/>
                  <a:gd name="T15" fmla="*/ 8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" h="17">
                    <a:moveTo>
                      <a:pt x="55" y="8"/>
                    </a:moveTo>
                    <a:cubicBezTo>
                      <a:pt x="55" y="13"/>
                      <a:pt x="51" y="17"/>
                      <a:pt x="46" y="17"/>
                    </a:cubicBezTo>
                    <a:cubicBezTo>
                      <a:pt x="8" y="17"/>
                      <a:pt x="8" y="17"/>
                      <a:pt x="8" y="17"/>
                    </a:cubicBezTo>
                    <a:cubicBezTo>
                      <a:pt x="3" y="17"/>
                      <a:pt x="0" y="13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3"/>
                      <a:pt x="3" y="0"/>
                      <a:pt x="8" y="0"/>
                    </a:cubicBezTo>
                    <a:cubicBezTo>
                      <a:pt x="46" y="0"/>
                      <a:pt x="46" y="0"/>
                      <a:pt x="46" y="0"/>
                    </a:cubicBezTo>
                    <a:cubicBezTo>
                      <a:pt x="51" y="0"/>
                      <a:pt x="55" y="3"/>
                      <a:pt x="55" y="8"/>
                    </a:cubicBez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8580" tIns="64290" rIns="128580" bIns="64290" numCol="1" anchor="t" anchorCtr="0" compatLnSpc="1"/>
              <a:lstStyle/>
              <a:p>
                <a:endParaRPr lang="zh-CN" altLang="en-US" dirty="0">
                  <a:latin typeface="微软雅黑" panose="020B0503020204020204" pitchFamily="34" charset="-122"/>
                </a:endParaRPr>
              </a:p>
            </p:txBody>
          </p:sp>
          <p:sp>
            <p:nvSpPr>
              <p:cNvPr id="28" name="Freeform 16"/>
              <p:cNvSpPr/>
              <p:nvPr/>
            </p:nvSpPr>
            <p:spPr bwMode="auto">
              <a:xfrm>
                <a:off x="3835400" y="2816226"/>
                <a:ext cx="234950" cy="71438"/>
              </a:xfrm>
              <a:custGeom>
                <a:avLst/>
                <a:gdLst>
                  <a:gd name="T0" fmla="*/ 55 w 55"/>
                  <a:gd name="T1" fmla="*/ 9 h 17"/>
                  <a:gd name="T2" fmla="*/ 46 w 55"/>
                  <a:gd name="T3" fmla="*/ 17 h 17"/>
                  <a:gd name="T4" fmla="*/ 8 w 55"/>
                  <a:gd name="T5" fmla="*/ 17 h 17"/>
                  <a:gd name="T6" fmla="*/ 0 w 55"/>
                  <a:gd name="T7" fmla="*/ 9 h 17"/>
                  <a:gd name="T8" fmla="*/ 0 w 55"/>
                  <a:gd name="T9" fmla="*/ 9 h 17"/>
                  <a:gd name="T10" fmla="*/ 8 w 55"/>
                  <a:gd name="T11" fmla="*/ 0 h 17"/>
                  <a:gd name="T12" fmla="*/ 46 w 55"/>
                  <a:gd name="T13" fmla="*/ 0 h 17"/>
                  <a:gd name="T14" fmla="*/ 55 w 55"/>
                  <a:gd name="T15" fmla="*/ 9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" h="17">
                    <a:moveTo>
                      <a:pt x="55" y="9"/>
                    </a:moveTo>
                    <a:cubicBezTo>
                      <a:pt x="55" y="13"/>
                      <a:pt x="51" y="17"/>
                      <a:pt x="46" y="17"/>
                    </a:cubicBezTo>
                    <a:cubicBezTo>
                      <a:pt x="8" y="17"/>
                      <a:pt x="8" y="17"/>
                      <a:pt x="8" y="17"/>
                    </a:cubicBezTo>
                    <a:cubicBezTo>
                      <a:pt x="3" y="17"/>
                      <a:pt x="0" y="13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4"/>
                      <a:pt x="3" y="0"/>
                      <a:pt x="8" y="0"/>
                    </a:cubicBezTo>
                    <a:cubicBezTo>
                      <a:pt x="46" y="0"/>
                      <a:pt x="46" y="0"/>
                      <a:pt x="46" y="0"/>
                    </a:cubicBezTo>
                    <a:cubicBezTo>
                      <a:pt x="51" y="0"/>
                      <a:pt x="55" y="4"/>
                      <a:pt x="55" y="9"/>
                    </a:cubicBez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8580" tIns="64290" rIns="128580" bIns="64290" numCol="1" anchor="t" anchorCtr="0" compatLnSpc="1"/>
              <a:lstStyle/>
              <a:p>
                <a:endParaRPr lang="zh-CN" altLang="en-US" dirty="0">
                  <a:latin typeface="微软雅黑" panose="020B0503020204020204" pitchFamily="34" charset="-122"/>
                </a:endParaRPr>
              </a:p>
            </p:txBody>
          </p:sp>
          <p:sp>
            <p:nvSpPr>
              <p:cNvPr id="29" name="Freeform 17"/>
              <p:cNvSpPr/>
              <p:nvPr/>
            </p:nvSpPr>
            <p:spPr bwMode="auto">
              <a:xfrm>
                <a:off x="3835400" y="2955926"/>
                <a:ext cx="234950" cy="73025"/>
              </a:xfrm>
              <a:custGeom>
                <a:avLst/>
                <a:gdLst>
                  <a:gd name="T0" fmla="*/ 55 w 55"/>
                  <a:gd name="T1" fmla="*/ 8 h 17"/>
                  <a:gd name="T2" fmla="*/ 46 w 55"/>
                  <a:gd name="T3" fmla="*/ 17 h 17"/>
                  <a:gd name="T4" fmla="*/ 8 w 55"/>
                  <a:gd name="T5" fmla="*/ 17 h 17"/>
                  <a:gd name="T6" fmla="*/ 0 w 55"/>
                  <a:gd name="T7" fmla="*/ 8 h 17"/>
                  <a:gd name="T8" fmla="*/ 0 w 55"/>
                  <a:gd name="T9" fmla="*/ 8 h 17"/>
                  <a:gd name="T10" fmla="*/ 8 w 55"/>
                  <a:gd name="T11" fmla="*/ 0 h 17"/>
                  <a:gd name="T12" fmla="*/ 46 w 55"/>
                  <a:gd name="T13" fmla="*/ 0 h 17"/>
                  <a:gd name="T14" fmla="*/ 55 w 55"/>
                  <a:gd name="T15" fmla="*/ 8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" h="17">
                    <a:moveTo>
                      <a:pt x="55" y="8"/>
                    </a:moveTo>
                    <a:cubicBezTo>
                      <a:pt x="55" y="13"/>
                      <a:pt x="51" y="17"/>
                      <a:pt x="46" y="17"/>
                    </a:cubicBezTo>
                    <a:cubicBezTo>
                      <a:pt x="8" y="17"/>
                      <a:pt x="8" y="17"/>
                      <a:pt x="8" y="17"/>
                    </a:cubicBezTo>
                    <a:cubicBezTo>
                      <a:pt x="3" y="17"/>
                      <a:pt x="0" y="13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4"/>
                      <a:pt x="3" y="0"/>
                      <a:pt x="8" y="0"/>
                    </a:cubicBezTo>
                    <a:cubicBezTo>
                      <a:pt x="46" y="0"/>
                      <a:pt x="46" y="0"/>
                      <a:pt x="46" y="0"/>
                    </a:cubicBezTo>
                    <a:cubicBezTo>
                      <a:pt x="51" y="0"/>
                      <a:pt x="55" y="4"/>
                      <a:pt x="55" y="8"/>
                    </a:cubicBez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8580" tIns="64290" rIns="128580" bIns="64290" numCol="1" anchor="t" anchorCtr="0" compatLnSpc="1"/>
              <a:lstStyle/>
              <a:p>
                <a:endParaRPr lang="zh-CN" altLang="en-US" dirty="0">
                  <a:latin typeface="微软雅黑" panose="020B0503020204020204" pitchFamily="34" charset="-122"/>
                </a:endParaRPr>
              </a:p>
            </p:txBody>
          </p:sp>
          <p:sp>
            <p:nvSpPr>
              <p:cNvPr id="30" name="Freeform 18"/>
              <p:cNvSpPr/>
              <p:nvPr/>
            </p:nvSpPr>
            <p:spPr bwMode="auto">
              <a:xfrm>
                <a:off x="3835400" y="3097213"/>
                <a:ext cx="234950" cy="73025"/>
              </a:xfrm>
              <a:custGeom>
                <a:avLst/>
                <a:gdLst>
                  <a:gd name="T0" fmla="*/ 55 w 55"/>
                  <a:gd name="T1" fmla="*/ 8 h 17"/>
                  <a:gd name="T2" fmla="*/ 46 w 55"/>
                  <a:gd name="T3" fmla="*/ 17 h 17"/>
                  <a:gd name="T4" fmla="*/ 8 w 55"/>
                  <a:gd name="T5" fmla="*/ 17 h 17"/>
                  <a:gd name="T6" fmla="*/ 0 w 55"/>
                  <a:gd name="T7" fmla="*/ 8 h 17"/>
                  <a:gd name="T8" fmla="*/ 0 w 55"/>
                  <a:gd name="T9" fmla="*/ 8 h 17"/>
                  <a:gd name="T10" fmla="*/ 8 w 55"/>
                  <a:gd name="T11" fmla="*/ 0 h 17"/>
                  <a:gd name="T12" fmla="*/ 46 w 55"/>
                  <a:gd name="T13" fmla="*/ 0 h 17"/>
                  <a:gd name="T14" fmla="*/ 55 w 55"/>
                  <a:gd name="T15" fmla="*/ 8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" h="17">
                    <a:moveTo>
                      <a:pt x="55" y="8"/>
                    </a:moveTo>
                    <a:cubicBezTo>
                      <a:pt x="55" y="13"/>
                      <a:pt x="51" y="17"/>
                      <a:pt x="46" y="17"/>
                    </a:cubicBezTo>
                    <a:cubicBezTo>
                      <a:pt x="8" y="17"/>
                      <a:pt x="8" y="17"/>
                      <a:pt x="8" y="17"/>
                    </a:cubicBezTo>
                    <a:cubicBezTo>
                      <a:pt x="3" y="17"/>
                      <a:pt x="0" y="13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3"/>
                      <a:pt x="3" y="0"/>
                      <a:pt x="8" y="0"/>
                    </a:cubicBezTo>
                    <a:cubicBezTo>
                      <a:pt x="46" y="0"/>
                      <a:pt x="46" y="0"/>
                      <a:pt x="46" y="0"/>
                    </a:cubicBezTo>
                    <a:cubicBezTo>
                      <a:pt x="51" y="0"/>
                      <a:pt x="55" y="3"/>
                      <a:pt x="55" y="8"/>
                    </a:cubicBez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8580" tIns="64290" rIns="128580" bIns="64290" numCol="1" anchor="t" anchorCtr="0" compatLnSpc="1"/>
              <a:lstStyle/>
              <a:p>
                <a:endParaRPr lang="zh-CN" altLang="en-US" dirty="0">
                  <a:latin typeface="微软雅黑" panose="020B0503020204020204" pitchFamily="34" charset="-122"/>
                </a:endParaRPr>
              </a:p>
            </p:txBody>
          </p:sp>
          <p:sp>
            <p:nvSpPr>
              <p:cNvPr id="31" name="Freeform 19"/>
              <p:cNvSpPr/>
              <p:nvPr/>
            </p:nvSpPr>
            <p:spPr bwMode="auto">
              <a:xfrm>
                <a:off x="3835400" y="3235326"/>
                <a:ext cx="234950" cy="71438"/>
              </a:xfrm>
              <a:custGeom>
                <a:avLst/>
                <a:gdLst>
                  <a:gd name="T0" fmla="*/ 55 w 55"/>
                  <a:gd name="T1" fmla="*/ 9 h 17"/>
                  <a:gd name="T2" fmla="*/ 46 w 55"/>
                  <a:gd name="T3" fmla="*/ 17 h 17"/>
                  <a:gd name="T4" fmla="*/ 8 w 55"/>
                  <a:gd name="T5" fmla="*/ 17 h 17"/>
                  <a:gd name="T6" fmla="*/ 0 w 55"/>
                  <a:gd name="T7" fmla="*/ 9 h 17"/>
                  <a:gd name="T8" fmla="*/ 0 w 55"/>
                  <a:gd name="T9" fmla="*/ 9 h 17"/>
                  <a:gd name="T10" fmla="*/ 8 w 55"/>
                  <a:gd name="T11" fmla="*/ 0 h 17"/>
                  <a:gd name="T12" fmla="*/ 46 w 55"/>
                  <a:gd name="T13" fmla="*/ 0 h 17"/>
                  <a:gd name="T14" fmla="*/ 55 w 55"/>
                  <a:gd name="T15" fmla="*/ 9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" h="17">
                    <a:moveTo>
                      <a:pt x="55" y="9"/>
                    </a:moveTo>
                    <a:cubicBezTo>
                      <a:pt x="55" y="13"/>
                      <a:pt x="51" y="17"/>
                      <a:pt x="46" y="17"/>
                    </a:cubicBezTo>
                    <a:cubicBezTo>
                      <a:pt x="8" y="17"/>
                      <a:pt x="8" y="17"/>
                      <a:pt x="8" y="17"/>
                    </a:cubicBezTo>
                    <a:cubicBezTo>
                      <a:pt x="3" y="17"/>
                      <a:pt x="0" y="13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4"/>
                      <a:pt x="3" y="0"/>
                      <a:pt x="8" y="0"/>
                    </a:cubicBezTo>
                    <a:cubicBezTo>
                      <a:pt x="46" y="0"/>
                      <a:pt x="46" y="0"/>
                      <a:pt x="46" y="0"/>
                    </a:cubicBezTo>
                    <a:cubicBezTo>
                      <a:pt x="51" y="0"/>
                      <a:pt x="55" y="4"/>
                      <a:pt x="55" y="9"/>
                    </a:cubicBez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8580" tIns="64290" rIns="128580" bIns="64290" numCol="1" anchor="t" anchorCtr="0" compatLnSpc="1"/>
              <a:lstStyle/>
              <a:p>
                <a:endParaRPr lang="zh-CN" altLang="en-US" dirty="0">
                  <a:latin typeface="微软雅黑" panose="020B0503020204020204" pitchFamily="34" charset="-122"/>
                </a:endParaRPr>
              </a:p>
            </p:txBody>
          </p:sp>
        </p:grpSp>
        <p:sp>
          <p:nvSpPr>
            <p:cNvPr id="16" name="矩形 259"/>
            <p:cNvSpPr>
              <a:spLocks noChangeArrowheads="1"/>
            </p:cNvSpPr>
            <p:nvPr/>
          </p:nvSpPr>
          <p:spPr bwMode="auto">
            <a:xfrm>
              <a:off x="2306379" y="2775471"/>
              <a:ext cx="1656605" cy="587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9pPr>
            </a:lstStyle>
            <a:p>
              <a:pPr algn="ctr">
                <a:buNone/>
              </a:pPr>
              <a:r>
                <a:rPr lang="en-US" altLang="zh-CN" sz="3600" dirty="0">
                  <a:solidFill>
                    <a:srgbClr val="4D4D4D"/>
                  </a:solidFill>
                  <a:cs typeface="Arial" panose="020B0604020202020204" pitchFamily="34" charset="0"/>
                </a:rPr>
                <a:t>03</a:t>
              </a:r>
              <a:endParaRPr lang="zh-CN" altLang="en-US" sz="1800" dirty="0">
                <a:solidFill>
                  <a:srgbClr val="4D4D4D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7" name="矩形 259"/>
            <p:cNvSpPr>
              <a:spLocks noChangeArrowheads="1"/>
            </p:cNvSpPr>
            <p:nvPr/>
          </p:nvSpPr>
          <p:spPr bwMode="auto">
            <a:xfrm>
              <a:off x="2438403" y="3696145"/>
              <a:ext cx="1392558" cy="10218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9pPr>
            </a:lstStyle>
            <a:p>
              <a:pPr algn="ctr">
                <a:buNone/>
              </a:pPr>
              <a:r>
                <a:rPr lang="zh-CN" altLang="en-US" sz="2800" dirty="0">
                  <a:solidFill>
                    <a:schemeClr val="bg1"/>
                  </a:solidFill>
                  <a:cs typeface="Arial" panose="020B0604020202020204" pitchFamily="34" charset="0"/>
                </a:rPr>
                <a:t>章节</a:t>
              </a:r>
              <a:endParaRPr lang="en-US" altLang="zh-CN" sz="1400" dirty="0">
                <a:solidFill>
                  <a:schemeClr val="bg1"/>
                </a:solidFill>
                <a:cs typeface="Arial" panose="020B0604020202020204" pitchFamily="34" charset="0"/>
              </a:endParaRPr>
            </a:p>
            <a:p>
              <a:pPr algn="ctr">
                <a:buNone/>
              </a:pPr>
              <a:r>
                <a:rPr lang="en-US" altLang="zh-CN" dirty="0">
                  <a:solidFill>
                    <a:schemeClr val="bg1"/>
                  </a:solidFill>
                  <a:cs typeface="Arial" panose="020B0604020202020204" pitchFamily="34" charset="0"/>
                </a:rPr>
                <a:t>PART</a:t>
              </a:r>
              <a:endParaRPr lang="en-US" altLang="zh-CN" sz="5400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</p:grp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9">
        <p:fade/>
      </p:transition>
    </mc:Choice>
    <mc:Fallback>
      <p:transition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8"/>
          <p:cNvSpPr txBox="1"/>
          <p:nvPr/>
        </p:nvSpPr>
        <p:spPr>
          <a:xfrm>
            <a:off x="4454798" y="218805"/>
            <a:ext cx="3949155" cy="52197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总结</a:t>
            </a:r>
            <a:endParaRPr lang="zh-CN" altLang="en-US" sz="3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1" name="TextBox 8"/>
          <p:cNvSpPr txBox="1"/>
          <p:nvPr/>
        </p:nvSpPr>
        <p:spPr>
          <a:xfrm>
            <a:off x="5025514" y="737266"/>
            <a:ext cx="2876303" cy="22796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SUMMARY</a:t>
            </a:r>
            <a:endParaRPr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886327" y="591989"/>
            <a:ext cx="11086097" cy="0"/>
            <a:chOff x="1028775" y="591989"/>
            <a:chExt cx="11086097" cy="0"/>
          </a:xfrm>
        </p:grpSpPr>
        <p:cxnSp>
          <p:nvCxnSpPr>
            <p:cNvPr id="33" name="直接连接符 32"/>
            <p:cNvCxnSpPr/>
            <p:nvPr/>
          </p:nvCxnSpPr>
          <p:spPr>
            <a:xfrm>
              <a:off x="10287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>
              <a:off x="86106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文本框 2"/>
          <p:cNvSpPr txBox="1"/>
          <p:nvPr/>
        </p:nvSpPr>
        <p:spPr>
          <a:xfrm>
            <a:off x="1252220" y="1179195"/>
            <a:ext cx="10400665" cy="4358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latin typeface="黑体" panose="02010609060101010101" charset="-122"/>
                <a:ea typeface="黑体" panose="02010609060101010101" charset="-122"/>
              </a:rPr>
              <a:t>设计无处不在，当想到需要封装代码块的时候，设计就产生了；</a:t>
            </a:r>
            <a:endParaRPr lang="zh-CN" altLang="en-US" sz="2800">
              <a:latin typeface="黑体" panose="02010609060101010101" charset="-122"/>
              <a:ea typeface="黑体" panose="02010609060101010101" charset="-122"/>
            </a:endParaRPr>
          </a:p>
          <a:p>
            <a:endParaRPr lang="zh-CN" altLang="en-US" sz="2800"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zh-CN" altLang="en-US" sz="2800">
                <a:latin typeface="黑体" panose="02010609060101010101" charset="-122"/>
                <a:ea typeface="黑体" panose="02010609060101010101" charset="-122"/>
              </a:rPr>
              <a:t>真正的面向对象：抽象，充分利用面向对象的多态特性；</a:t>
            </a:r>
            <a:endParaRPr lang="zh-CN" altLang="en-US" sz="2800">
              <a:latin typeface="黑体" panose="02010609060101010101" charset="-122"/>
              <a:ea typeface="黑体" panose="02010609060101010101" charset="-122"/>
            </a:endParaRPr>
          </a:p>
          <a:p>
            <a:endParaRPr lang="en-US" altLang="zh-CN" sz="2800"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zh-CN" altLang="zh-CN" sz="2800">
                <a:latin typeface="黑体" panose="02010609060101010101" charset="-122"/>
                <a:ea typeface="黑体" panose="02010609060101010101" charset="-122"/>
              </a:rPr>
              <a:t>设计原则：</a:t>
            </a:r>
            <a:endParaRPr lang="zh-CN" altLang="zh-CN" sz="2800">
              <a:latin typeface="黑体" panose="02010609060101010101" charset="-122"/>
              <a:ea typeface="黑体" panose="02010609060101010101" charset="-122"/>
            </a:endParaRPr>
          </a:p>
          <a:p>
            <a:endParaRPr lang="zh-CN" altLang="zh-CN" sz="2800"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en-US" altLang="zh-CN" sz="2800">
                <a:latin typeface="黑体" panose="02010609060101010101" charset="-122"/>
                <a:ea typeface="黑体" panose="02010609060101010101" charset="-122"/>
              </a:rPr>
              <a:t>1.</a:t>
            </a:r>
            <a:r>
              <a:rPr lang="zh-CN" altLang="en-US" sz="2800">
                <a:latin typeface="黑体" panose="02010609060101010101" charset="-122"/>
                <a:ea typeface="黑体" panose="02010609060101010101" charset="-122"/>
              </a:rPr>
              <a:t>单一职责原则；</a:t>
            </a:r>
            <a:endParaRPr lang="zh-CN" altLang="en-US" sz="2800"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en-US" altLang="zh-CN" sz="2800">
                <a:latin typeface="黑体" panose="02010609060101010101" charset="-122"/>
                <a:ea typeface="黑体" panose="02010609060101010101" charset="-122"/>
              </a:rPr>
              <a:t>2.</a:t>
            </a:r>
            <a:r>
              <a:rPr lang="zh-CN" altLang="en-US" sz="2800">
                <a:latin typeface="黑体" panose="02010609060101010101" charset="-122"/>
                <a:ea typeface="黑体" panose="02010609060101010101" charset="-122"/>
              </a:rPr>
              <a:t>针对接口编程，不针对实现编程，让客户只认识接口；</a:t>
            </a:r>
            <a:endParaRPr lang="zh-CN" altLang="en-US" sz="2800"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en-US" altLang="zh-CN" sz="2800">
                <a:latin typeface="黑体" panose="02010609060101010101" charset="-122"/>
                <a:ea typeface="黑体" panose="02010609060101010101" charset="-122"/>
              </a:rPr>
              <a:t>3.</a:t>
            </a:r>
            <a:r>
              <a:rPr lang="zh-CN" altLang="en-US" sz="2800">
                <a:latin typeface="黑体" panose="02010609060101010101" charset="-122"/>
                <a:ea typeface="黑体" panose="02010609060101010101" charset="-122"/>
              </a:rPr>
              <a:t>少用继承，多用组合；</a:t>
            </a:r>
            <a:endParaRPr lang="zh-CN" altLang="en-US" sz="2800">
              <a:latin typeface="黑体" panose="02010609060101010101" charset="-122"/>
              <a:ea typeface="黑体" panose="02010609060101010101" charset="-122"/>
            </a:endParaRPr>
          </a:p>
          <a:p>
            <a:endParaRPr lang="en-US" altLang="zh-CN" sz="2800"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9">
        <p:fade/>
      </p:transition>
    </mc:Choice>
    <mc:Fallback>
      <p:transition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8"/>
          <p:cNvSpPr txBox="1"/>
          <p:nvPr/>
        </p:nvSpPr>
        <p:spPr>
          <a:xfrm>
            <a:off x="4454798" y="218805"/>
            <a:ext cx="3949155" cy="52197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总结</a:t>
            </a:r>
            <a:endParaRPr lang="zh-CN" altLang="en-US" sz="3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1" name="TextBox 8"/>
          <p:cNvSpPr txBox="1"/>
          <p:nvPr/>
        </p:nvSpPr>
        <p:spPr>
          <a:xfrm>
            <a:off x="5025514" y="737266"/>
            <a:ext cx="2876303" cy="22796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SUMMARY</a:t>
            </a:r>
            <a:endParaRPr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886327" y="591989"/>
            <a:ext cx="11086097" cy="0"/>
            <a:chOff x="1028775" y="591989"/>
            <a:chExt cx="11086097" cy="0"/>
          </a:xfrm>
        </p:grpSpPr>
        <p:cxnSp>
          <p:nvCxnSpPr>
            <p:cNvPr id="33" name="直接连接符 32"/>
            <p:cNvCxnSpPr/>
            <p:nvPr/>
          </p:nvCxnSpPr>
          <p:spPr>
            <a:xfrm>
              <a:off x="10287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>
              <a:off x="86106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文本框 2"/>
          <p:cNvSpPr txBox="1"/>
          <p:nvPr/>
        </p:nvSpPr>
        <p:spPr>
          <a:xfrm>
            <a:off x="1252220" y="1179195"/>
            <a:ext cx="10400665" cy="2225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800">
                <a:latin typeface="黑体" panose="02010609060101010101" charset="-122"/>
                <a:ea typeface="黑体" panose="02010609060101010101" charset="-122"/>
              </a:rPr>
              <a:t>策略模式：</a:t>
            </a:r>
            <a:endParaRPr lang="zh-CN" altLang="zh-CN" sz="2800"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en-US" altLang="zh-CN" sz="2800">
                <a:latin typeface="黑体" panose="02010609060101010101" charset="-122"/>
                <a:ea typeface="黑体" panose="02010609060101010101" charset="-122"/>
              </a:rPr>
              <a:t>1. </a:t>
            </a:r>
            <a:r>
              <a:rPr lang="zh-CN" altLang="en-US" sz="2800">
                <a:latin typeface="黑体" panose="02010609060101010101" charset="-122"/>
                <a:ea typeface="黑体" panose="02010609060101010101" charset="-122"/>
              </a:rPr>
              <a:t>最基础、最重要的设计模式；</a:t>
            </a:r>
            <a:endParaRPr lang="zh-CN" altLang="en-US" sz="2800"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en-US" altLang="zh-CN" sz="2800">
                <a:latin typeface="黑体" panose="02010609060101010101" charset="-122"/>
                <a:ea typeface="黑体" panose="02010609060101010101" charset="-122"/>
              </a:rPr>
              <a:t>2. </a:t>
            </a:r>
            <a:r>
              <a:rPr lang="zh-CN" altLang="zh-CN" sz="2800">
                <a:latin typeface="黑体" panose="02010609060101010101" charset="-122"/>
                <a:ea typeface="黑体" panose="02010609060101010101" charset="-122"/>
              </a:rPr>
              <a:t>子类按照业务分别实现算法族，调用方不必关心算法的具体实现；</a:t>
            </a:r>
            <a:endParaRPr lang="zh-CN" altLang="zh-CN" sz="2800"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en-US" altLang="zh-CN" sz="2800">
                <a:latin typeface="黑体" panose="02010609060101010101" charset="-122"/>
                <a:ea typeface="黑体" panose="02010609060101010101" charset="-122"/>
              </a:rPr>
              <a:t>3. </a:t>
            </a:r>
            <a:r>
              <a:rPr lang="zh-CN" altLang="en-US" sz="2800">
                <a:latin typeface="黑体" panose="02010609060101010101" charset="-122"/>
                <a:ea typeface="黑体" panose="02010609060101010101" charset="-122"/>
              </a:rPr>
              <a:t>少用</a:t>
            </a:r>
            <a:r>
              <a:rPr lang="zh-CN" altLang="en-US" sz="2800">
                <a:latin typeface="黑体" panose="02010609060101010101" charset="-122"/>
                <a:ea typeface="黑体" panose="02010609060101010101" charset="-122"/>
                <a:sym typeface="+mn-ea"/>
              </a:rPr>
              <a:t>继承，</a:t>
            </a:r>
            <a:r>
              <a:rPr lang="zh-CN" altLang="en-US" sz="2800">
                <a:latin typeface="黑体" panose="02010609060101010101" charset="-122"/>
                <a:ea typeface="黑体" panose="02010609060101010101" charset="-122"/>
              </a:rPr>
              <a:t>多用组合；</a:t>
            </a:r>
            <a:endParaRPr lang="zh-CN" altLang="en-US" sz="28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357630" y="4038600"/>
            <a:ext cx="10400665" cy="2651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800">
                <a:latin typeface="黑体" panose="02010609060101010101" charset="-122"/>
                <a:ea typeface="黑体" panose="02010609060101010101" charset="-122"/>
              </a:rPr>
              <a:t>单例模式：</a:t>
            </a:r>
            <a:endParaRPr lang="zh-CN" altLang="zh-CN" sz="2800"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en-US" altLang="zh-CN" sz="2800">
                <a:latin typeface="黑体" panose="02010609060101010101" charset="-122"/>
                <a:ea typeface="黑体" panose="02010609060101010101" charset="-122"/>
              </a:rPr>
              <a:t>1. </a:t>
            </a:r>
            <a:r>
              <a:rPr lang="zh-CN" altLang="en-US" sz="2800">
                <a:latin typeface="黑体" panose="02010609060101010101" charset="-122"/>
                <a:ea typeface="黑体" panose="02010609060101010101" charset="-122"/>
              </a:rPr>
              <a:t>虽然违反单一职责原则，但是可以接受</a:t>
            </a:r>
            <a:r>
              <a:rPr lang="zh-CN" altLang="zh-CN" sz="2800">
                <a:latin typeface="黑体" panose="02010609060101010101" charset="-122"/>
                <a:ea typeface="黑体" panose="02010609060101010101" charset="-122"/>
              </a:rPr>
              <a:t>；</a:t>
            </a:r>
            <a:endParaRPr lang="zh-CN" altLang="zh-CN" sz="2800"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en-US" altLang="zh-CN" sz="2800">
                <a:latin typeface="黑体" panose="02010609060101010101" charset="-122"/>
                <a:ea typeface="黑体" panose="02010609060101010101" charset="-122"/>
              </a:rPr>
              <a:t>2. </a:t>
            </a:r>
            <a:r>
              <a:rPr lang="zh-CN" altLang="en-US" sz="2800">
                <a:latin typeface="黑体" panose="02010609060101010101" charset="-122"/>
                <a:ea typeface="黑体" panose="02010609060101010101" charset="-122"/>
              </a:rPr>
              <a:t>三种类型的单例模式实现；</a:t>
            </a:r>
            <a:endParaRPr lang="zh-CN" altLang="en-US" sz="2800"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en-US" altLang="zh-CN" sz="2800">
                <a:latin typeface="黑体" panose="02010609060101010101" charset="-122"/>
                <a:ea typeface="黑体" panose="02010609060101010101" charset="-122"/>
              </a:rPr>
              <a:t>3. </a:t>
            </a:r>
            <a:r>
              <a:rPr lang="zh-CN" altLang="en-US" sz="2800">
                <a:latin typeface="黑体" panose="02010609060101010101" charset="-122"/>
                <a:ea typeface="黑体" panose="02010609060101010101" charset="-122"/>
              </a:rPr>
              <a:t>适用于维护数据库连接、</a:t>
            </a:r>
            <a:r>
              <a:rPr lang="en-US" altLang="zh-CN" sz="2800">
                <a:latin typeface="黑体" panose="02010609060101010101" charset="-122"/>
                <a:ea typeface="黑体" panose="02010609060101010101" charset="-122"/>
              </a:rPr>
              <a:t>CURL</a:t>
            </a:r>
            <a:r>
              <a:rPr lang="zh-CN" altLang="en-US" sz="2800">
                <a:latin typeface="黑体" panose="02010609060101010101" charset="-122"/>
                <a:ea typeface="黑体" panose="02010609060101010101" charset="-122"/>
              </a:rPr>
              <a:t>句柄；</a:t>
            </a:r>
            <a:endParaRPr lang="zh-CN" altLang="en-US" sz="2800"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en-US" altLang="zh-CN" sz="2800">
                <a:latin typeface="黑体" panose="02010609060101010101" charset="-122"/>
                <a:ea typeface="黑体" panose="02010609060101010101" charset="-122"/>
              </a:rPr>
              <a:t>4. </a:t>
            </a:r>
            <a:r>
              <a:rPr lang="en-US" altLang="zh-CN" sz="2800">
                <a:latin typeface="黑体" panose="02010609060101010101" charset="-122"/>
                <a:ea typeface="黑体" panose="02010609060101010101" charset="-122"/>
                <a:sym typeface="+mn-ea"/>
              </a:rPr>
              <a:t>PHP</a:t>
            </a:r>
            <a:r>
              <a:rPr lang="zh-CN" altLang="en-US" sz="2800">
                <a:latin typeface="黑体" panose="02010609060101010101" charset="-122"/>
                <a:ea typeface="黑体" panose="02010609060101010101" charset="-122"/>
                <a:sym typeface="+mn-ea"/>
              </a:rPr>
              <a:t>的</a:t>
            </a:r>
            <a:r>
              <a:rPr lang="en-US" altLang="zh-CN" sz="2800">
                <a:latin typeface="黑体" panose="02010609060101010101" charset="-122"/>
                <a:ea typeface="黑体" panose="02010609060101010101" charset="-122"/>
                <a:sym typeface="+mn-ea"/>
              </a:rPr>
              <a:t>trait</a:t>
            </a:r>
            <a:r>
              <a:rPr lang="zh-CN" altLang="en-US" sz="2800">
                <a:latin typeface="黑体" panose="02010609060101010101" charset="-122"/>
                <a:ea typeface="黑体" panose="02010609060101010101" charset="-122"/>
                <a:sym typeface="+mn-ea"/>
              </a:rPr>
              <a:t>可以实现单例的抽象，但是类和类之间不能有继承关系；</a:t>
            </a:r>
            <a:endParaRPr lang="en-US" altLang="zh-CN" sz="2800"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9">
        <p:fade/>
      </p:transition>
    </mc:Choice>
    <mc:Fallback>
      <p:transition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8"/>
          <p:cNvSpPr txBox="1"/>
          <p:nvPr/>
        </p:nvSpPr>
        <p:spPr>
          <a:xfrm>
            <a:off x="4454798" y="218805"/>
            <a:ext cx="3949155" cy="52197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总结</a:t>
            </a:r>
            <a:endParaRPr lang="zh-CN" altLang="en-US" sz="3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1" name="TextBox 8"/>
          <p:cNvSpPr txBox="1"/>
          <p:nvPr/>
        </p:nvSpPr>
        <p:spPr>
          <a:xfrm>
            <a:off x="5025514" y="737266"/>
            <a:ext cx="2876303" cy="22796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SUMMARY</a:t>
            </a:r>
            <a:endParaRPr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886327" y="591989"/>
            <a:ext cx="11086097" cy="0"/>
            <a:chOff x="1028775" y="591989"/>
            <a:chExt cx="11086097" cy="0"/>
          </a:xfrm>
        </p:grpSpPr>
        <p:cxnSp>
          <p:nvCxnSpPr>
            <p:cNvPr id="33" name="直接连接符 32"/>
            <p:cNvCxnSpPr/>
            <p:nvPr/>
          </p:nvCxnSpPr>
          <p:spPr>
            <a:xfrm>
              <a:off x="10287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>
              <a:off x="86106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文本框 2"/>
          <p:cNvSpPr txBox="1"/>
          <p:nvPr/>
        </p:nvSpPr>
        <p:spPr>
          <a:xfrm>
            <a:off x="1252220" y="1179195"/>
            <a:ext cx="1040066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</a:rPr>
              <a:t>简单工厂</a:t>
            </a:r>
            <a:r>
              <a:rPr lang="zh-CN" altLang="zh-CN" sz="2800" dirty="0">
                <a:latin typeface="黑体" panose="02010609060101010101" charset="-122"/>
                <a:ea typeface="黑体" panose="02010609060101010101" charset="-122"/>
              </a:rPr>
              <a:t>模式：</a:t>
            </a:r>
            <a:endParaRPr lang="zh-CN" altLang="zh-CN" sz="2800" dirty="0"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en-US" altLang="zh-CN" sz="2800" dirty="0">
                <a:latin typeface="黑体" panose="02010609060101010101" charset="-122"/>
                <a:ea typeface="黑体" panose="02010609060101010101" charset="-122"/>
              </a:rPr>
              <a:t>1. </a:t>
            </a:r>
            <a:r>
              <a:rPr lang="zh-CN" altLang="zh-CN" sz="2800" dirty="0">
                <a:latin typeface="黑体" panose="02010609060101010101" charset="-122"/>
                <a:ea typeface="黑体" panose="02010609060101010101" charset="-122"/>
              </a:rPr>
              <a:t>体现最基础的策略模式</a:t>
            </a: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</a:rPr>
              <a:t>；</a:t>
            </a:r>
            <a:endParaRPr lang="zh-CN" altLang="en-US" sz="2800" dirty="0"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en-US" altLang="zh-CN" sz="2800" dirty="0">
                <a:latin typeface="黑体" panose="02010609060101010101" charset="-122"/>
                <a:ea typeface="黑体" panose="02010609060101010101" charset="-122"/>
              </a:rPr>
              <a:t>2. </a:t>
            </a:r>
            <a:r>
              <a:rPr lang="zh-CN" altLang="zh-CN" sz="2800" dirty="0">
                <a:latin typeface="黑体" panose="02010609060101010101" charset="-122"/>
                <a:ea typeface="黑体" panose="02010609060101010101" charset="-122"/>
              </a:rPr>
              <a:t>针对接口编程，</a:t>
            </a: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</a:rPr>
              <a:t>调用</a:t>
            </a:r>
            <a:r>
              <a:rPr lang="zh-CN" altLang="zh-CN" sz="2800" dirty="0">
                <a:latin typeface="黑体" panose="02010609060101010101" charset="-122"/>
                <a:ea typeface="黑体" panose="02010609060101010101" charset="-122"/>
              </a:rPr>
              <a:t>方不关心业务方算法具体实现；</a:t>
            </a:r>
            <a:endParaRPr lang="zh-CN" altLang="zh-CN" sz="2800" dirty="0"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en-US" altLang="zh-CN" sz="2800" dirty="0">
                <a:latin typeface="黑体" panose="02010609060101010101" charset="-122"/>
                <a:ea typeface="黑体" panose="02010609060101010101" charset="-122"/>
              </a:rPr>
              <a:t>3. </a:t>
            </a: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</a:rPr>
              <a:t>适用于产品比较少的场景；</a:t>
            </a:r>
            <a:endParaRPr lang="zh-CN" altLang="en-US" sz="2800" dirty="0"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9">
        <p:fade/>
      </p:transition>
    </mc:Choice>
    <mc:Fallback>
      <p:transition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259"/>
          <p:cNvSpPr>
            <a:spLocks noChangeArrowheads="1"/>
          </p:cNvSpPr>
          <p:nvPr/>
        </p:nvSpPr>
        <p:spPr bwMode="auto">
          <a:xfrm>
            <a:off x="1028775" y="2728987"/>
            <a:ext cx="6552728" cy="123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en-US" altLang="zh-CN" sz="8000" b="1" dirty="0">
                <a:solidFill>
                  <a:schemeClr val="accent1"/>
                </a:solidFill>
                <a:cs typeface="Arial" panose="020B0604020202020204" pitchFamily="34" charset="0"/>
              </a:rPr>
              <a:t>THANK YOU</a:t>
            </a:r>
            <a:endParaRPr lang="en-US" altLang="zh-CN" sz="8000" b="1" dirty="0">
              <a:solidFill>
                <a:schemeClr val="accent6"/>
              </a:solidFill>
              <a:cs typeface="Arial" panose="020B0604020202020204" pitchFamily="34" charset="0"/>
            </a:endParaRPr>
          </a:p>
        </p:txBody>
      </p:sp>
      <p:sp>
        <p:nvSpPr>
          <p:cNvPr id="12" name="矩形 259"/>
          <p:cNvSpPr>
            <a:spLocks noChangeArrowheads="1"/>
          </p:cNvSpPr>
          <p:nvPr/>
        </p:nvSpPr>
        <p:spPr bwMode="auto">
          <a:xfrm>
            <a:off x="1028700" y="4157980"/>
            <a:ext cx="5080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dirty="0">
                <a:solidFill>
                  <a:schemeClr val="accent1"/>
                </a:solidFill>
                <a:cs typeface="Arial" panose="020B0604020202020204" pitchFamily="34" charset="0"/>
              </a:rPr>
              <a:t>感谢聆听，欢迎批评指导</a:t>
            </a:r>
            <a:endParaRPr lang="zh-CN" altLang="en-US" dirty="0">
              <a:solidFill>
                <a:schemeClr val="accent1"/>
              </a:solidFill>
              <a:cs typeface="Arial" panose="020B0604020202020204" pitchFamily="34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40" t="20132"/>
          <a:stretch>
            <a:fillRect/>
          </a:stretch>
        </p:blipFill>
        <p:spPr>
          <a:xfrm>
            <a:off x="6253909" y="1672109"/>
            <a:ext cx="6604488" cy="55605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9">
        <p:fade/>
      </p:transition>
    </mc:Choice>
    <mc:Fallback>
      <p:transition>
        <p:fade/>
      </p:transition>
    </mc:Fallback>
  </mc:AlternateContent>
</p:sld>
</file>

<file path=ppt/tags/tag1.xml><?xml version="1.0" encoding="utf-8"?>
<p:tagLst xmlns:p="http://schemas.openxmlformats.org/presentationml/2006/main">
  <p:tag name="MH" val="20161022203400"/>
  <p:tag name="MH_LIBRARY" val="GRAPHIC"/>
  <p:tag name="MH_TYPE" val="SubTitle"/>
  <p:tag name="MH_ORDER" val="1"/>
</p:tagLst>
</file>

<file path=ppt/tags/tag2.xml><?xml version="1.0" encoding="utf-8"?>
<p:tagLst xmlns:p="http://schemas.openxmlformats.org/presentationml/2006/main">
  <p:tag name="MH" val="20161022203400"/>
  <p:tag name="MH_LIBRARY" val="GRAPHIC"/>
  <p:tag name="MH_TYPE" val="Other"/>
  <p:tag name="MH_ORDER" val="1"/>
</p:tagLst>
</file>

<file path=ppt/tags/tag3.xml><?xml version="1.0" encoding="utf-8"?>
<p:tagLst xmlns:p="http://schemas.openxmlformats.org/presentationml/2006/main">
  <p:tag name="MH" val="20161022203400"/>
  <p:tag name="MH_LIBRARY" val="GRAPHIC"/>
  <p:tag name="MH_TYPE" val="SubTitle"/>
  <p:tag name="MH_ORDER" val="2"/>
</p:tagLst>
</file>

<file path=ppt/tags/tag4.xml><?xml version="1.0" encoding="utf-8"?>
<p:tagLst xmlns:p="http://schemas.openxmlformats.org/presentationml/2006/main">
  <p:tag name="MH" val="20161022203400"/>
  <p:tag name="MH_LIBRARY" val="GRAPHIC"/>
  <p:tag name="MH_TYPE" val="Other"/>
  <p:tag name="MH_ORDER" val="2"/>
</p:tagLst>
</file>

<file path=ppt/tags/tag5.xml><?xml version="1.0" encoding="utf-8"?>
<p:tagLst xmlns:p="http://schemas.openxmlformats.org/presentationml/2006/main">
  <p:tag name="MH" val="20161022203400"/>
  <p:tag name="MH_LIBRARY" val="GRAPHIC"/>
  <p:tag name="MH_TYPE" val="SubTitle"/>
  <p:tag name="MH_ORDER" val="3"/>
</p:tagLst>
</file>

<file path=ppt/tags/tag6.xml><?xml version="1.0" encoding="utf-8"?>
<p:tagLst xmlns:p="http://schemas.openxmlformats.org/presentationml/2006/main">
  <p:tag name="MH" val="20161022203400"/>
  <p:tag name="MH_LIBRARY" val="GRAPHIC"/>
  <p:tag name="MH_TYPE" val="Other"/>
  <p:tag name="MH_ORDER" val="3"/>
</p:tagLst>
</file>

<file path=ppt/tags/tag7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8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9.xml><?xml version="1.0" encoding="utf-8"?>
<p:tagLst xmlns:p="http://schemas.openxmlformats.org/presentationml/2006/main">
  <p:tag name="MH_TYPE" val="#NeiR#"/>
  <p:tag name="MH_NUMBER" val="4"/>
  <p:tag name="MH_CATEGORY" val="#BingLLB#"/>
  <p:tag name="MH_LAYOUT" val="SubTitle"/>
  <p:tag name="MH" val="20161022203400"/>
  <p:tag name="MH_LIBRARY" val="GRAPHIC"/>
</p:tagLst>
</file>

<file path=ppt/tags/tag10.xml><?xml version="1.0" encoding="utf-8"?>
<p:tagLst xmlns:p="http://schemas.openxmlformats.org/presentationml/2006/main">
  <p:tag name="MH" val="20161022204031"/>
  <p:tag name="MH_LIBRARY" val="GRAPHIC"/>
  <p:tag name="MH_ORDER" val="Straight Connector 6"/>
</p:tagLst>
</file>

<file path=ppt/tags/tag11.xml><?xml version="1.0" encoding="utf-8"?>
<p:tagLst xmlns:p="http://schemas.openxmlformats.org/presentationml/2006/main">
  <p:tag name="MH" val="20161022204031"/>
  <p:tag name="MH_LIBRARY" val="GRAPHIC"/>
</p:tagLst>
</file>

<file path=ppt/tags/tag12.xml><?xml version="1.0" encoding="utf-8"?>
<p:tagLst xmlns:p="http://schemas.openxmlformats.org/presentationml/2006/main">
  <p:tag name="MH" val="20161022204031"/>
  <p:tag name="MH_LIBRARY" val="GRAPHIC"/>
  <p:tag name="MH_ORDER" val="Straight Connector 6"/>
</p:tagLst>
</file>

<file path=ppt/tags/tag13.xml><?xml version="1.0" encoding="utf-8"?>
<p:tagLst xmlns:p="http://schemas.openxmlformats.org/presentationml/2006/main">
  <p:tag name="MH" val="20161022204031"/>
  <p:tag name="MH_LIBRARY" val="GRAPHIC"/>
</p:tagLst>
</file>

<file path=ppt/tags/tag14.xml><?xml version="1.0" encoding="utf-8"?>
<p:tagLst xmlns:p="http://schemas.openxmlformats.org/presentationml/2006/main">
  <p:tag name="MH" val="20161022204031"/>
  <p:tag name="MH_LIBRARY" val="GRAPHIC"/>
  <p:tag name="MH_ORDER" val="Straight Connector 6"/>
</p:tagLst>
</file>

<file path=ppt/tags/tag15.xml><?xml version="1.0" encoding="utf-8"?>
<p:tagLst xmlns:p="http://schemas.openxmlformats.org/presentationml/2006/main">
  <p:tag name="MH" val="20161022204031"/>
  <p:tag name="MH_LIBRARY" val="GRAPHIC"/>
</p:tagLst>
</file>

<file path=ppt/theme/theme1.xml><?xml version="1.0" encoding="utf-8"?>
<a:theme xmlns:a="http://schemas.openxmlformats.org/drawingml/2006/main" name="自定义设计方案">
  <a:themeElements>
    <a:clrScheme name="自定义 30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94754"/>
      </a:accent1>
      <a:accent2>
        <a:srgbClr val="00939F"/>
      </a:accent2>
      <a:accent3>
        <a:srgbClr val="F6AA26"/>
      </a:accent3>
      <a:accent4>
        <a:srgbClr val="EA552B"/>
      </a:accent4>
      <a:accent5>
        <a:srgbClr val="956134"/>
      </a:accent5>
      <a:accent6>
        <a:srgbClr val="394754"/>
      </a:accent6>
      <a:hlink>
        <a:srgbClr val="00939F"/>
      </a:hlink>
      <a:folHlink>
        <a:srgbClr val="F6AA26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12646</Words>
  <Application>WPS 演示</Application>
  <PresentationFormat>自定义</PresentationFormat>
  <Paragraphs>837</Paragraphs>
  <Slides>51</Slides>
  <Notes>50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51</vt:i4>
      </vt:variant>
    </vt:vector>
  </HeadingPairs>
  <TitlesOfParts>
    <vt:vector size="62" baseType="lpstr">
      <vt:lpstr>Arial</vt:lpstr>
      <vt:lpstr>宋体</vt:lpstr>
      <vt:lpstr>Wingdings</vt:lpstr>
      <vt:lpstr>Calibri</vt:lpstr>
      <vt:lpstr>微软雅黑</vt:lpstr>
      <vt:lpstr>Arial Narrow</vt:lpstr>
      <vt:lpstr>Consolas</vt:lpstr>
      <vt:lpstr>黑体</vt:lpstr>
      <vt:lpstr>等线</vt:lpstr>
      <vt:lpstr>Times New Roman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bt208</dc:title>
  <dc:creator/>
  <cp:lastModifiedBy>viruser</cp:lastModifiedBy>
  <cp:revision>166</cp:revision>
  <dcterms:created xsi:type="dcterms:W3CDTF">2016-11-28T19:55:00Z</dcterms:created>
  <dcterms:modified xsi:type="dcterms:W3CDTF">2019-11-11T12:55:57Z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2052-10.1.0.6445</vt:lpwstr>
  </property>
</Properties>
</file>